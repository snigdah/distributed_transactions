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93" r:id="rId44"/>
    <p:sldId id="294" r:id="rId45"/>
    <p:sldId id="295" r:id="rId46"/>
    <p:sldId id="296" r:id="rId47"/>
    <p:sldId id="297" r:id="rId48"/>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963d284c-2925-c4d0-53ff-b13183a585e7}">
          <p14:sldIdLst>
            <p14:sldId id="256"/>
            <p14:sldId id="257"/>
          </p14:sldIdLst>
        </p14:section>
        <p14:section name="Foundations" id="{3453b93b-7167-a193-6f50-e737c4bdfc4c}">
          <p14:sldIdLst>
            <p14:sldId id="258"/>
            <p14:sldId id="259"/>
            <p14:sldId id="260"/>
          </p14:sldIdLst>
        </p14:section>
        <p14:section name="Two-phase commit and Seata" id="{1431ef2a-990a-c93f-6ede-52c6fe0c7bac}">
          <p14:sldIdLst>
            <p14:sldId id="261"/>
            <p14:sldId id="262"/>
            <p14:sldId id="263"/>
            <p14:sldId id="264"/>
          </p14:sldIdLst>
        </p14:section>
        <p14:section name="Inside Seata" id="{306a244d-8a8d-8a7c-5168-092407d6d310}">
          <p14:sldIdLst>
            <p14:sldId id="265"/>
            <p14:sldId id="266"/>
            <p14:sldId id="267"/>
          </p14:sldIdLst>
        </p14:section>
        <p14:section name="Two requirements" id="{20d441d7-23d3-95dc-3aae-14b8ce092c3b}">
          <p14:sldIdLst>
            <p14:sldId id="268"/>
            <p14:sldId id="269"/>
            <p14:sldId id="270"/>
            <p14:sldId id="271"/>
            <p14:sldId id="272"/>
          </p14:sldIdLst>
        </p14:section>
        <p14:section name="Seata modes" id="{56418b2c-82ff-dba0-5425-28b4dd4d539a}">
          <p14:sldIdLst>
            <p14:sldId id="273"/>
            <p14:sldId id="274"/>
            <p14:sldId id="275"/>
            <p14:sldId id="276"/>
            <p14:sldId id="277"/>
            <p14:sldId id="278"/>
            <p14:sldId id="279"/>
            <p14:sldId id="280"/>
            <p14:sldId id="281"/>
            <p14:sldId id="282"/>
            <p14:sldId id="283"/>
            <p14:sldId id="284"/>
            <p14:sldId id="285"/>
            <p14:sldId id="286"/>
            <p14:sldId id="287"/>
            <p14:sldId id="288"/>
            <p14:sldId id="289"/>
          </p14:sldIdLst>
        </p14:section>
        <p14:section name="Wrap-up" id="{7c377ffd-972e-b3cd-a2ee-6d0a502043e3}">
          <p14:sldIdLst>
            <p14:sldId id="290"/>
            <p14:sldId id="291"/>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of this session: understand why one database transaction is not enough in microservices, how Seata coordinates a global transaction, and which Seata mode gives strong consistency.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parts. We use the same examples throughout: Karim sends 1,000 Tk to Rahim, and an order that reserves stock then takes payment.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monolith the database protects us. In microservices each service has its own database, so one business action spans several independent commits.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Spring wraps your bean in a proxy. The proxy opens the transaction, runs your method, then commits or rolls back. Everything happens on one connection to one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without a crash, between the two updates (say 200 ms) someone could read a total of 6,000. Strong consistency means that window must not be visible 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gives strong consistency: during phase 1 rows are locked, so nobody can read or change half-done data. The total is never seen as 6,000.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knows what: TM knows the business decision. RM knows only its own database. TC knows the status of every part, but not your business logic. A service can be both TM and RM if it starts the transaction and also updates its own 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separate rm-service container. Payment and Inventory each run the Seata client, which plays the RM role for their own database. Only the Seata server is an extra container.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XID does not reach a downstream service, that service runs a normal local transaction and will NOT be rolled back. This is the most common setup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Rollback means the RM reads undo_log and writes the before-image back (9 to 10). The undo log is persisted in the participant DB, so rollback works even after the request finished. The global lock stops two global transactions from changing the same row at the same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steps 1 to 7. In AT mode, between step 2 and step 7 other readers can see stock = 9. That is why AT is not strong consistency.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@Transactional inside a participant still manages its local transaction. Only the initiator's @GlobalTransactional starts the global one. Exceptions must not be swallowed, or rollback never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these two in mind for the next four slides. All modes try to avoid a permanent half-done transfer. Only some stop others from seeing the in-between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Atomicity looks at the final result. Either the whole transfer happened, or the half-done part is undone.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transfers run at the same time on the same account. Without isolation, the second one decides using a balance that is no longer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 databases and modes use different techniques. The goal is always the same: the second transfer must decide on the correct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banking you need both: money must end up correct (atomic), and parallel transfers must make correct decisions with that money (isolation).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each in one line: AT undo log; TCC reserve then confirm or cancel; Saga commit then compensate; XA prepare then commit or rollback.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is the easiest to adopt, which is why many teams start with it. For money movement, step 2 is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classic two-phase commit done by the databases themselves. For Oracle, check the XA recovery grants.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TCC stops two transfers from spending the same 1,000, because it is held during TRY. The cost is more code and careful failure handling.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Saga fits long flows and external systems, like a real card charge, where a database rollback is impossible.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mode alone makes every read and every external side effect strongly consistent. Database isolation level, transaction boundaries and business design all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comparison for banking. Final result is the same; what other users see during the transfer is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Saga is not wrong, it is a different tool. It fits processes that last minutes or days, where you cannot hold database 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can protect the balance rule. XA does it for you in the database. TCC needs careful code: idempotency, empty rollback, hanging.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AT you write almost no rollback code. In TCC you write Try, Confirm and Cancel yourself, but you get business-level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reversal is a real new transaction. Auditors see both entries. AT's undo leaves the row as it was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need business code. The difference is timing: TCC protects resources up front, Saga cleans up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summary after the six comparison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pick AT just because it is easier. For money between separate databases with strict isolation, evaluate XA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 XA does not solve every consistency problem. A payment gateway, a message broker and a database together need their own transaction and recovery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Trade-off of XA: locks are held longer. Use XA for money-critical flows, and keep those transactions short. Avoid long remote calls inside an XA global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configure automatic and manual data-source proxying at the same time. In banking and production, pin the Seata server image to an exact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team first, then reveal. If presenting live, you can hide the green highlight by covering it until people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One-page summary of roles, architecture and the payment-failure rollback. Good as a handout.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for questions. Suggested next session: run the Seata server and a 3-service demo in XA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mode. The service where the business action starts is the initiator: it gets @GlobalTransactional, and only it. Every service it calls is a participant: plain @Transactional for its own database. The two small XID classes are the plumbing: FeignXidConfig in any service that calls another, SeataXidConfig in any service that is called. In AT mode every database that is changed, including the initiator's own order_db, needs an undo_log table.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mode, the POC as it is today. order-service is the initiator and calls inventory-service and payment-service directly through Feign. FeignXidConfig adds the XID header (TX_XID); SeataXidConfig in each participant binds it. P-100 costs 1,000 Tk and succeeds. P-200 costs 10,000 Tk, payment fails, and Seata undoes the stock change and deletes the PENDING order. The wallet never changed, so it needs no undo.</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mode, chain variant. The annotations do not move: Order still starts the global transaction, Inventory and Payment still only join. The new thing is the middle service: Inventory receives the XID and must also send it on, so it needs both SeataXidConfig and FeignXidConfig. If it does not forward the XID, Payment runs a normal local transaction and will not be rolled back. Keep the Payment call outside Inventory's @Transactional so the local DB connection and row lock are not held while waiting on the network, and never catch and hide the error.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mode, P-200 example. In AT mode the initiator is also a resource manager: Order's saves go through the Seata DataSource proxy, so its INSERT is a branch with its own undo_log row (before image: nothing). On rollback Seata undoes every branch: inventory writes back 10, and order_db deletes order 51. Payment changed nothing, so there is nothing to undo there.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mode rules. One @GlobalTransactional per business action. @Transactional only groups a service's SQL into one branch; joining comes from the XID plus the Seata DataSource proxy. Exceptions must leave the global method. Calls must go through the Spring proxy, so call the service from another bean.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lstStyle>
            <a:lvl1pPr algn="l" indent="0" marL="0">
              <a:buNone/>
              <a:defRPr lang="en-US" sz="2400" b="1" dirty="0">
                <a:solidFill>
                  <a:schemeClr val="tx1"/>
                </a:solidFill>
              </a:defRPr>
            </a:lvl1pPr>
          </a:lstStyle>
          <a:p>
            <a:pPr algn="l" indent="0" marL="0">
              <a:buNone/>
            </a:pPr>
            <a:endParaRPr lang="en-US" sz="2400" dirty="0"/>
          </a:p>
        </p:txBody>
      </p:sp>
      <p:sp>
        <p:nvSpPr>
          <p:cNvPr id="3" name="Text 0"/>
          <p:cNvSpPr/>
          <p:nvPr/>
        </p:nvSpPr>
        <p:spPr>
          <a:xfrm>
            <a:off x="457200" y="4773168"/>
            <a:ext cx="5486400" cy="256032"/>
          </a:xfrm>
          <a:prstGeom prst="rect">
            <a:avLst/>
          </a:prstGeom>
          <a:noFill/>
          <a:ln/>
        </p:spPr>
        <p:txBody>
          <a:bodyPr wrap="square" lIns="0" tIns="0" rIns="0" bIns="0" rtlCol="0" anchor="ctr"/>
          <a:lstStyle/>
          <a:p>
            <a:pPr indent="0" marL="0">
              <a:buNone/>
            </a:pPr>
            <a:r>
              <a:rPr lang="en-US" sz="900" dirty="0">
                <a:solidFill>
                  <a:schemeClr val="accent6"/>
                </a:solidFill>
              </a:rPr>
              <a:t>Apache Seata  |  Distributed transactions</a:t>
            </a:r>
            <a:endParaRPr lang="en-US" sz="9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43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18872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914400"/>
            <a:ext cx="4572000" cy="320040"/>
          </a:xfrm>
          <a:prstGeom prst="rect">
            <a:avLst/>
          </a:prstGeom>
          <a:noFill/>
          <a:ln/>
        </p:spPr>
        <p:txBody>
          <a:bodyPr wrap="square" lIns="0" tIns="0" rIns="0" bIns="0" rtlCol="0" anchor="t"/>
          <a:lstStyle/>
          <a:p>
            <a:pPr indent="0" marL="0">
              <a:buNone/>
            </a:pPr>
            <a:r>
              <a:rPr lang="en-US" sz="1200" b="1" spc="200" kern="0" dirty="0">
                <a:solidFill>
                  <a:srgbClr val="7FD3CF"/>
                </a:solidFill>
              </a:rPr>
              <a:t>DEVELOPER SESSION</a:t>
            </a:r>
            <a:endParaRPr lang="en-US" sz="1200" dirty="0"/>
          </a:p>
        </p:txBody>
      </p:sp>
      <p:sp>
        <p:nvSpPr>
          <p:cNvPr id="3" name="Text 0"/>
          <p:cNvSpPr/>
          <p:nvPr>
            <p:ph idx="100" type="title" hasCustomPrompt="1"/>
          </p:nvPr>
        </p:nvSpPr>
        <p:spPr>
          <a:xfrm>
            <a:off x="548640" y="1371600"/>
            <a:ext cx="8046720" cy="1188720"/>
          </a:xfrm>
          <a:prstGeom prst="rect">
            <a:avLst/>
          </a:prstGeom>
          <a:noFill/>
          <a:ln/>
        </p:spPr>
        <p:txBody>
          <a:bodyPr wrap="square" lIns="0" tIns="0" rIns="0" bIns="0" rtlCol="0" anchor="t"/>
          <a:lstStyle/>
          <a:p>
            <a:pPr algn="l" indent="0" marL="0">
              <a:buNone/>
            </a:pPr>
            <a:r>
              <a:rPr lang="en-US" sz="3800" b="1" dirty="0">
                <a:solidFill>
                  <a:schemeClr val="bg1"/>
                </a:solidFill>
              </a:rPr>
              <a:t>Distributed transactions with Apache Seata</a:t>
            </a:r>
            <a:endParaRPr lang="en-US" sz="3800" dirty="0"/>
          </a:p>
        </p:txBody>
      </p:sp>
      <p:sp>
        <p:nvSpPr>
          <p:cNvPr id="4" name="Text 2"/>
          <p:cNvSpPr txBox="1"/>
          <p:nvPr/>
        </p:nvSpPr>
        <p:spPr>
          <a:xfrm>
            <a:off x="548640" y="2651760"/>
            <a:ext cx="5486400" cy="365760"/>
          </a:xfrm>
          <a:prstGeom prst="rect">
            <a:avLst/>
          </a:prstGeom>
          <a:noFill/>
          <a:ln/>
        </p:spPr>
        <p:txBody>
          <a:bodyPr wrap="square" lIns="0" tIns="0" rIns="0" bIns="0" rtlCol="0" anchor="t"/>
          <a:lstStyle/>
          <a:p>
            <a:pPr indent="0" marL="0">
              <a:buNone/>
            </a:pPr>
            <a:r>
              <a:rPr lang="en-US" sz="1800" dirty="0">
                <a:solidFill>
                  <a:srgbClr val="C9D3DE"/>
                </a:solidFill>
              </a:rPr>
              <a:t>Strong consistency for Spring Boot microservices</a:t>
            </a:r>
            <a:endParaRPr lang="en-US" sz="1800" dirty="0"/>
          </a:p>
        </p:txBody>
      </p:sp>
      <p:sp>
        <p:nvSpPr>
          <p:cNvPr id="5" name="Text 3"/>
          <p:cNvSpPr/>
          <p:nvPr/>
        </p:nvSpPr>
        <p:spPr>
          <a:xfrm>
            <a:off x="6172200" y="3383280"/>
            <a:ext cx="731520" cy="731520"/>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600" b="1" dirty="0">
                <a:solidFill>
                  <a:schemeClr val="bg1"/>
                </a:solidFill>
              </a:rPr>
              <a:t>TM</a:t>
            </a:r>
            <a:endParaRPr lang="en-US" sz="1600" dirty="0"/>
          </a:p>
        </p:txBody>
      </p:sp>
      <p:sp>
        <p:nvSpPr>
          <p:cNvPr id="6" name="Text 4"/>
          <p:cNvSpPr/>
          <p:nvPr/>
        </p:nvSpPr>
        <p:spPr>
          <a:xfrm>
            <a:off x="7086600" y="3383280"/>
            <a:ext cx="731520" cy="731520"/>
          </a:xfrm>
          <a:prstGeom prst="ellipse">
            <a:avLst/>
          </a:prstGeom>
          <a:solidFill>
            <a:schemeClr val="accent5"/>
          </a:solidFill>
          <a:ln w="6350">
            <a:solidFill>
              <a:schemeClr val="accent5"/>
            </a:solidFill>
          </a:ln>
        </p:spPr>
        <p:txBody>
          <a:bodyPr wrap="square" lIns="0" tIns="0" rIns="0" bIns="0" rtlCol="0" anchor="ctr"/>
          <a:lstStyle/>
          <a:p>
            <a:pPr algn="ctr" indent="0" marL="0">
              <a:buNone/>
            </a:pPr>
            <a:r>
              <a:rPr lang="en-US" sz="1600" b="1" dirty="0">
                <a:solidFill>
                  <a:schemeClr val="bg1"/>
                </a:solidFill>
              </a:rPr>
              <a:t>TC</a:t>
            </a:r>
            <a:endParaRPr lang="en-US" sz="1600" dirty="0"/>
          </a:p>
        </p:txBody>
      </p:sp>
      <p:sp>
        <p:nvSpPr>
          <p:cNvPr id="7" name="Text 5"/>
          <p:cNvSpPr/>
          <p:nvPr/>
        </p:nvSpPr>
        <p:spPr>
          <a:xfrm>
            <a:off x="8001000" y="3383280"/>
            <a:ext cx="731520" cy="731520"/>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600" b="1" dirty="0">
                <a:solidFill>
                  <a:schemeClr val="bg1"/>
                </a:solidFill>
              </a:rPr>
              <a:t>RM</a:t>
            </a:r>
            <a:endParaRPr lang="en-US" sz="1600" dirty="0"/>
          </a:p>
        </p:txBody>
      </p:sp>
      <p:sp>
        <p:nvSpPr>
          <p:cNvPr id="8" name="Text 6"/>
          <p:cNvSpPr txBox="1"/>
          <p:nvPr/>
        </p:nvSpPr>
        <p:spPr>
          <a:xfrm>
            <a:off x="548640" y="3566160"/>
            <a:ext cx="5303520" cy="365760"/>
          </a:xfrm>
          <a:prstGeom prst="rect">
            <a:avLst/>
          </a:prstGeom>
          <a:noFill/>
          <a:ln/>
        </p:spPr>
        <p:txBody>
          <a:bodyPr wrap="square" lIns="0" tIns="0" rIns="0" bIns="0" rtlCol="0" anchor="t"/>
          <a:lstStyle/>
          <a:p>
            <a:pPr indent="0" marL="0">
              <a:buNone/>
            </a:pPr>
            <a:r>
              <a:rPr lang="en-US" sz="1300" dirty="0">
                <a:solidFill>
                  <a:srgbClr val="9FB0C2"/>
                </a:solidFill>
              </a:rPr>
              <a:t>From @Transactional to a global transaction across services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What we will cover</a:t>
            </a:r>
            <a:endParaRPr lang="en-US" sz="2400" dirty="0"/>
          </a:p>
        </p:txBody>
      </p:sp>
      <p:sp>
        <p:nvSpPr>
          <p:cNvPr id="3" name="Shape 1"/>
          <p:cNvSpPr/>
          <p:nvPr/>
        </p:nvSpPr>
        <p:spPr>
          <a:xfrm>
            <a:off x="457200" y="1188720"/>
            <a:ext cx="2606040" cy="1508760"/>
          </a:xfrm>
          <a:prstGeom prst="roundRect">
            <a:avLst>
              <a:gd name="adj" fmla="val 6061"/>
            </a:avLst>
          </a:prstGeom>
          <a:solidFill>
            <a:schemeClr val="bg2"/>
          </a:solidFill>
          <a:ln w="9525">
            <a:solidFill>
              <a:srgbClr val="E1E6EB"/>
            </a:solidFill>
            <a:prstDash val="solid"/>
          </a:ln>
        </p:spPr>
      </p:sp>
      <p:sp>
        <p:nvSpPr>
          <p:cNvPr id="4" name="Text 2"/>
          <p:cNvSpPr/>
          <p:nvPr/>
        </p:nvSpPr>
        <p:spPr>
          <a:xfrm>
            <a:off x="685800" y="1417320"/>
            <a:ext cx="411480" cy="411480"/>
          </a:xfrm>
          <a:prstGeom prst="ellipse">
            <a:avLst/>
          </a:prstGeom>
          <a:solidFill>
            <a:schemeClr val="accent2"/>
          </a:solidFill>
          <a:ln w="6350">
            <a:solidFill>
              <a:schemeClr val="accent2"/>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 3"/>
          <p:cNvSpPr txBox="1"/>
          <p:nvPr/>
        </p:nvSpPr>
        <p:spPr>
          <a:xfrm>
            <a:off x="685800" y="1938528"/>
            <a:ext cx="2194560" cy="292608"/>
          </a:xfrm>
          <a:prstGeom prst="rect">
            <a:avLst/>
          </a:prstGeom>
          <a:noFill/>
          <a:ln/>
        </p:spPr>
        <p:txBody>
          <a:bodyPr wrap="square" lIns="0" tIns="0" rIns="0" bIns="0" rtlCol="0" anchor="t"/>
          <a:lstStyle/>
          <a:p>
            <a:pPr indent="0" marL="0">
              <a:buNone/>
            </a:pPr>
            <a:r>
              <a:rPr lang="en-US" sz="1400" b="1" dirty="0">
                <a:solidFill>
                  <a:schemeClr val="tx1"/>
                </a:solidFill>
              </a:rPr>
              <a:t>Consistency in microservices</a:t>
            </a:r>
            <a:endParaRPr lang="en-US" sz="1400" dirty="0"/>
          </a:p>
        </p:txBody>
      </p:sp>
      <p:sp>
        <p:nvSpPr>
          <p:cNvPr id="6" name="Text 4"/>
          <p:cNvSpPr txBox="1"/>
          <p:nvPr/>
        </p:nvSpPr>
        <p:spPr>
          <a:xfrm>
            <a:off x="685800" y="2231136"/>
            <a:ext cx="2240280" cy="365760"/>
          </a:xfrm>
          <a:prstGeom prst="rect">
            <a:avLst/>
          </a:prstGeom>
          <a:noFill/>
          <a:ln/>
        </p:spPr>
        <p:txBody>
          <a:bodyPr wrap="square" lIns="0" tIns="0" rIns="0" bIns="0" rtlCol="0" anchor="t"/>
          <a:lstStyle/>
          <a:p>
            <a:pPr indent="0" marL="0">
              <a:buNone/>
            </a:pPr>
            <a:r>
              <a:rPr lang="en-US" sz="1150" dirty="0">
                <a:solidFill>
                  <a:schemeClr val="tx2"/>
                </a:solidFill>
              </a:rPr>
              <a:t>Why one COMMIT is no longer enough</a:t>
            </a:r>
            <a:endParaRPr lang="en-US" sz="1150" dirty="0"/>
          </a:p>
        </p:txBody>
      </p:sp>
      <p:sp>
        <p:nvSpPr>
          <p:cNvPr id="7" name="Shape 5"/>
          <p:cNvSpPr/>
          <p:nvPr/>
        </p:nvSpPr>
        <p:spPr>
          <a:xfrm>
            <a:off x="3268980" y="1188720"/>
            <a:ext cx="2606040" cy="1508760"/>
          </a:xfrm>
          <a:prstGeom prst="roundRect">
            <a:avLst>
              <a:gd name="adj" fmla="val 6061"/>
            </a:avLst>
          </a:prstGeom>
          <a:solidFill>
            <a:schemeClr val="bg2"/>
          </a:solidFill>
          <a:ln w="9525">
            <a:solidFill>
              <a:srgbClr val="E1E6EB"/>
            </a:solidFill>
            <a:prstDash val="solid"/>
          </a:ln>
        </p:spPr>
      </p:sp>
      <p:sp>
        <p:nvSpPr>
          <p:cNvPr id="8" name="Text 6"/>
          <p:cNvSpPr/>
          <p:nvPr/>
        </p:nvSpPr>
        <p:spPr>
          <a:xfrm>
            <a:off x="3497580" y="1417320"/>
            <a:ext cx="411480" cy="411480"/>
          </a:xfrm>
          <a:prstGeom prst="ellipse">
            <a:avLst/>
          </a:prstGeom>
          <a:solidFill>
            <a:schemeClr val="accent2"/>
          </a:solidFill>
          <a:ln w="6350">
            <a:solidFill>
              <a:schemeClr val="accent2"/>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7"/>
          <p:cNvSpPr txBox="1"/>
          <p:nvPr/>
        </p:nvSpPr>
        <p:spPr>
          <a:xfrm>
            <a:off x="3497580" y="1938528"/>
            <a:ext cx="2194560" cy="292608"/>
          </a:xfrm>
          <a:prstGeom prst="rect">
            <a:avLst/>
          </a:prstGeom>
          <a:noFill/>
          <a:ln/>
        </p:spPr>
        <p:txBody>
          <a:bodyPr wrap="square" lIns="0" tIns="0" rIns="0" bIns="0" rtlCol="0" anchor="t"/>
          <a:lstStyle/>
          <a:p>
            <a:pPr indent="0" marL="0">
              <a:buNone/>
            </a:pPr>
            <a:r>
              <a:rPr lang="en-US" sz="1400" b="1" dirty="0">
                <a:solidFill>
                  <a:schemeClr val="tx1"/>
                </a:solidFill>
              </a:rPr>
              <a:t>@Transactional and its limit</a:t>
            </a:r>
            <a:endParaRPr lang="en-US" sz="1400" dirty="0"/>
          </a:p>
        </p:txBody>
      </p:sp>
      <p:sp>
        <p:nvSpPr>
          <p:cNvPr id="10" name="Text 8"/>
          <p:cNvSpPr txBox="1"/>
          <p:nvPr/>
        </p:nvSpPr>
        <p:spPr>
          <a:xfrm>
            <a:off x="3497580" y="2231136"/>
            <a:ext cx="2240280" cy="365760"/>
          </a:xfrm>
          <a:prstGeom prst="rect">
            <a:avLst/>
          </a:prstGeom>
          <a:noFill/>
          <a:ln/>
        </p:spPr>
        <p:txBody>
          <a:bodyPr wrap="square" lIns="0" tIns="0" rIns="0" bIns="0" rtlCol="0" anchor="t"/>
          <a:lstStyle/>
          <a:p>
            <a:pPr indent="0" marL="0">
              <a:buNone/>
            </a:pPr>
            <a:r>
              <a:rPr lang="en-US" sz="1150" dirty="0">
                <a:solidFill>
                  <a:schemeClr val="tx2"/>
                </a:solidFill>
              </a:rPr>
              <a:t>What Spring does, and where it stops</a:t>
            </a:r>
            <a:endParaRPr lang="en-US" sz="1150" dirty="0"/>
          </a:p>
        </p:txBody>
      </p:sp>
      <p:sp>
        <p:nvSpPr>
          <p:cNvPr id="11" name="Shape 9"/>
          <p:cNvSpPr/>
          <p:nvPr/>
        </p:nvSpPr>
        <p:spPr>
          <a:xfrm>
            <a:off x="6080760" y="1188720"/>
            <a:ext cx="2606040" cy="1508760"/>
          </a:xfrm>
          <a:prstGeom prst="roundRect">
            <a:avLst>
              <a:gd name="adj" fmla="val 6061"/>
            </a:avLst>
          </a:prstGeom>
          <a:solidFill>
            <a:schemeClr val="bg2"/>
          </a:solidFill>
          <a:ln w="9525">
            <a:solidFill>
              <a:srgbClr val="E1E6EB"/>
            </a:solidFill>
            <a:prstDash val="solid"/>
          </a:ln>
        </p:spPr>
      </p:sp>
      <p:sp>
        <p:nvSpPr>
          <p:cNvPr id="12" name="Text 10"/>
          <p:cNvSpPr/>
          <p:nvPr/>
        </p:nvSpPr>
        <p:spPr>
          <a:xfrm>
            <a:off x="6309360" y="1417320"/>
            <a:ext cx="411480" cy="411480"/>
          </a:xfrm>
          <a:prstGeom prst="ellipse">
            <a:avLst/>
          </a:prstGeom>
          <a:solidFill>
            <a:schemeClr val="accent5"/>
          </a:solidFill>
          <a:ln w="6350">
            <a:solidFill>
              <a:schemeClr val="accent5"/>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 11"/>
          <p:cNvSpPr txBox="1"/>
          <p:nvPr/>
        </p:nvSpPr>
        <p:spPr>
          <a:xfrm>
            <a:off x="6309360" y="1938528"/>
            <a:ext cx="2194560" cy="292608"/>
          </a:xfrm>
          <a:prstGeom prst="rect">
            <a:avLst/>
          </a:prstGeom>
          <a:noFill/>
          <a:ln/>
        </p:spPr>
        <p:txBody>
          <a:bodyPr wrap="square" lIns="0" tIns="0" rIns="0" bIns="0" rtlCol="0" anchor="t"/>
          <a:lstStyle/>
          <a:p>
            <a:pPr indent="0" marL="0">
              <a:buNone/>
            </a:pPr>
            <a:r>
              <a:rPr lang="en-US" sz="1400" b="1" dirty="0">
                <a:solidFill>
                  <a:schemeClr val="tx1"/>
                </a:solidFill>
              </a:rPr>
              <a:t>Two-phase commit</a:t>
            </a:r>
            <a:endParaRPr lang="en-US" sz="1400" dirty="0"/>
          </a:p>
        </p:txBody>
      </p:sp>
      <p:sp>
        <p:nvSpPr>
          <p:cNvPr id="14" name="Text 12"/>
          <p:cNvSpPr txBox="1"/>
          <p:nvPr/>
        </p:nvSpPr>
        <p:spPr>
          <a:xfrm>
            <a:off x="6309360" y="2231136"/>
            <a:ext cx="2240280" cy="365760"/>
          </a:xfrm>
          <a:prstGeom prst="rect">
            <a:avLst/>
          </a:prstGeom>
          <a:noFill/>
          <a:ln/>
        </p:spPr>
        <p:txBody>
          <a:bodyPr wrap="square" lIns="0" tIns="0" rIns="0" bIns="0" rtlCol="0" anchor="t"/>
          <a:lstStyle/>
          <a:p>
            <a:pPr indent="0" marL="0">
              <a:buNone/>
            </a:pPr>
            <a:r>
              <a:rPr lang="en-US" sz="1150" dirty="0">
                <a:solidFill>
                  <a:schemeClr val="tx2"/>
                </a:solidFill>
              </a:rPr>
              <a:t>Prepare first, then commit together</a:t>
            </a:r>
            <a:endParaRPr lang="en-US" sz="1150" dirty="0"/>
          </a:p>
        </p:txBody>
      </p:sp>
      <p:sp>
        <p:nvSpPr>
          <p:cNvPr id="15" name="Shape 13"/>
          <p:cNvSpPr/>
          <p:nvPr/>
        </p:nvSpPr>
        <p:spPr>
          <a:xfrm>
            <a:off x="457200" y="2926080"/>
            <a:ext cx="2606040" cy="1508760"/>
          </a:xfrm>
          <a:prstGeom prst="roundRect">
            <a:avLst>
              <a:gd name="adj" fmla="val 6061"/>
            </a:avLst>
          </a:prstGeom>
          <a:solidFill>
            <a:schemeClr val="bg2"/>
          </a:solidFill>
          <a:ln w="9525">
            <a:solidFill>
              <a:srgbClr val="E1E6EB"/>
            </a:solidFill>
            <a:prstDash val="solid"/>
          </a:ln>
        </p:spPr>
      </p:sp>
      <p:sp>
        <p:nvSpPr>
          <p:cNvPr id="16" name="Text 14"/>
          <p:cNvSpPr/>
          <p:nvPr/>
        </p:nvSpPr>
        <p:spPr>
          <a:xfrm>
            <a:off x="685800" y="3154680"/>
            <a:ext cx="411480" cy="411480"/>
          </a:xfrm>
          <a:prstGeom prst="ellipse">
            <a:avLst/>
          </a:prstGeom>
          <a:solidFill>
            <a:schemeClr val="accent5"/>
          </a:solidFill>
          <a:ln w="6350">
            <a:solidFill>
              <a:schemeClr val="accent5"/>
            </a:solid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7" name="Text 15"/>
          <p:cNvSpPr txBox="1"/>
          <p:nvPr/>
        </p:nvSpPr>
        <p:spPr>
          <a:xfrm>
            <a:off x="685800" y="3675888"/>
            <a:ext cx="2194560" cy="292608"/>
          </a:xfrm>
          <a:prstGeom prst="rect">
            <a:avLst/>
          </a:prstGeom>
          <a:noFill/>
          <a:ln/>
        </p:spPr>
        <p:txBody>
          <a:bodyPr wrap="square" lIns="0" tIns="0" rIns="0" bIns="0" rtlCol="0" anchor="t"/>
          <a:lstStyle/>
          <a:p>
            <a:pPr indent="0" marL="0">
              <a:buNone/>
            </a:pPr>
            <a:r>
              <a:rPr lang="en-US" sz="1400" b="1" dirty="0">
                <a:solidFill>
                  <a:schemeClr val="tx1"/>
                </a:solidFill>
              </a:rPr>
              <a:t>Seata roles and XID</a:t>
            </a:r>
            <a:endParaRPr lang="en-US" sz="1400" dirty="0"/>
          </a:p>
        </p:txBody>
      </p:sp>
      <p:sp>
        <p:nvSpPr>
          <p:cNvPr id="18" name="Text 16"/>
          <p:cNvSpPr txBox="1"/>
          <p:nvPr/>
        </p:nvSpPr>
        <p:spPr>
          <a:xfrm>
            <a:off x="685800" y="3968496"/>
            <a:ext cx="2240280" cy="365760"/>
          </a:xfrm>
          <a:prstGeom prst="rect">
            <a:avLst/>
          </a:prstGeom>
          <a:noFill/>
          <a:ln/>
        </p:spPr>
        <p:txBody>
          <a:bodyPr wrap="square" lIns="0" tIns="0" rIns="0" bIns="0" rtlCol="0" anchor="t"/>
          <a:lstStyle/>
          <a:p>
            <a:pPr indent="0" marL="0">
              <a:buNone/>
            </a:pPr>
            <a:r>
              <a:rPr lang="en-US" sz="1150" dirty="0">
                <a:solidFill>
                  <a:schemeClr val="tx2"/>
                </a:solidFill>
              </a:rPr>
              <a:t>TM, TC, RM and the global ID</a:t>
            </a:r>
            <a:endParaRPr lang="en-US" sz="1150" dirty="0"/>
          </a:p>
        </p:txBody>
      </p:sp>
      <p:sp>
        <p:nvSpPr>
          <p:cNvPr id="19" name="Shape 17"/>
          <p:cNvSpPr/>
          <p:nvPr/>
        </p:nvSpPr>
        <p:spPr>
          <a:xfrm>
            <a:off x="3268980" y="2926080"/>
            <a:ext cx="2606040" cy="1508760"/>
          </a:xfrm>
          <a:prstGeom prst="roundRect">
            <a:avLst>
              <a:gd name="adj" fmla="val 6061"/>
            </a:avLst>
          </a:prstGeom>
          <a:solidFill>
            <a:schemeClr val="bg2"/>
          </a:solidFill>
          <a:ln w="9525">
            <a:solidFill>
              <a:srgbClr val="E1E6EB"/>
            </a:solidFill>
            <a:prstDash val="solid"/>
          </a:ln>
        </p:spPr>
      </p:sp>
      <p:sp>
        <p:nvSpPr>
          <p:cNvPr id="20" name="Text 18"/>
          <p:cNvSpPr/>
          <p:nvPr/>
        </p:nvSpPr>
        <p:spPr>
          <a:xfrm>
            <a:off x="3497580" y="3154680"/>
            <a:ext cx="411480" cy="411480"/>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1" name="Text 19"/>
          <p:cNvSpPr txBox="1"/>
          <p:nvPr/>
        </p:nvSpPr>
        <p:spPr>
          <a:xfrm>
            <a:off x="3497580" y="3675888"/>
            <a:ext cx="2194560" cy="292608"/>
          </a:xfrm>
          <a:prstGeom prst="rect">
            <a:avLst/>
          </a:prstGeom>
          <a:noFill/>
          <a:ln/>
        </p:spPr>
        <p:txBody>
          <a:bodyPr wrap="square" lIns="0" tIns="0" rIns="0" bIns="0" rtlCol="0" anchor="t"/>
          <a:lstStyle/>
          <a:p>
            <a:pPr indent="0" marL="0">
              <a:buNone/>
            </a:pPr>
            <a:r>
              <a:rPr lang="en-US" sz="1400" b="1" dirty="0">
                <a:solidFill>
                  <a:schemeClr val="tx1"/>
                </a:solidFill>
              </a:rPr>
              <a:t>Inside the RM</a:t>
            </a:r>
            <a:endParaRPr lang="en-US" sz="1400" dirty="0"/>
          </a:p>
        </p:txBody>
      </p:sp>
      <p:sp>
        <p:nvSpPr>
          <p:cNvPr id="22" name="Text 20"/>
          <p:cNvSpPr txBox="1"/>
          <p:nvPr/>
        </p:nvSpPr>
        <p:spPr>
          <a:xfrm>
            <a:off x="3497580" y="3968496"/>
            <a:ext cx="2240280" cy="365760"/>
          </a:xfrm>
          <a:prstGeom prst="rect">
            <a:avLst/>
          </a:prstGeom>
          <a:noFill/>
          <a:ln/>
        </p:spPr>
        <p:txBody>
          <a:bodyPr wrap="square" lIns="0" tIns="0" rIns="0" bIns="0" rtlCol="0" anchor="t"/>
          <a:lstStyle/>
          <a:p>
            <a:pPr indent="0" marL="0">
              <a:buNone/>
            </a:pPr>
            <a:r>
              <a:rPr lang="en-US" sz="1150" dirty="0">
                <a:solidFill>
                  <a:schemeClr val="tx2"/>
                </a:solidFill>
              </a:rPr>
              <a:t>DataSource proxy, undo log, global lock</a:t>
            </a:r>
            <a:endParaRPr lang="en-US" sz="1150" dirty="0"/>
          </a:p>
        </p:txBody>
      </p:sp>
      <p:sp>
        <p:nvSpPr>
          <p:cNvPr id="23" name="Shape 21"/>
          <p:cNvSpPr/>
          <p:nvPr/>
        </p:nvSpPr>
        <p:spPr>
          <a:xfrm>
            <a:off x="6080760" y="2926080"/>
            <a:ext cx="2606040" cy="1508760"/>
          </a:xfrm>
          <a:prstGeom prst="roundRect">
            <a:avLst>
              <a:gd name="adj" fmla="val 6061"/>
            </a:avLst>
          </a:prstGeom>
          <a:solidFill>
            <a:schemeClr val="bg2"/>
          </a:solidFill>
          <a:ln w="9525">
            <a:solidFill>
              <a:srgbClr val="E1E6EB"/>
            </a:solidFill>
            <a:prstDash val="solid"/>
          </a:ln>
        </p:spPr>
      </p:sp>
      <p:sp>
        <p:nvSpPr>
          <p:cNvPr id="24" name="Text 22"/>
          <p:cNvSpPr/>
          <p:nvPr/>
        </p:nvSpPr>
        <p:spPr>
          <a:xfrm>
            <a:off x="6309360" y="3154680"/>
            <a:ext cx="411480" cy="411480"/>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5" name="Text 23"/>
          <p:cNvSpPr txBox="1"/>
          <p:nvPr/>
        </p:nvSpPr>
        <p:spPr>
          <a:xfrm>
            <a:off x="6309360" y="3675888"/>
            <a:ext cx="2194560" cy="292608"/>
          </a:xfrm>
          <a:prstGeom prst="rect">
            <a:avLst/>
          </a:prstGeom>
          <a:noFill/>
          <a:ln/>
        </p:spPr>
        <p:txBody>
          <a:bodyPr wrap="square" lIns="0" tIns="0" rIns="0" bIns="0" rtlCol="0" anchor="t"/>
          <a:lstStyle/>
          <a:p>
            <a:pPr indent="0" marL="0">
              <a:buNone/>
            </a:pPr>
            <a:r>
              <a:rPr lang="en-US" sz="1400" b="1" dirty="0">
                <a:solidFill>
                  <a:schemeClr val="tx1"/>
                </a:solidFill>
              </a:rPr>
              <a:t>Requirements and modes</a:t>
            </a:r>
            <a:endParaRPr lang="en-US" sz="1400" dirty="0"/>
          </a:p>
        </p:txBody>
      </p:sp>
      <p:sp>
        <p:nvSpPr>
          <p:cNvPr id="26" name="Text 24"/>
          <p:cNvSpPr txBox="1"/>
          <p:nvPr/>
        </p:nvSpPr>
        <p:spPr>
          <a:xfrm>
            <a:off x="6309360" y="3968496"/>
            <a:ext cx="2240280" cy="365760"/>
          </a:xfrm>
          <a:prstGeom prst="rect">
            <a:avLst/>
          </a:prstGeom>
          <a:noFill/>
          <a:ln/>
        </p:spPr>
        <p:txBody>
          <a:bodyPr wrap="square" lIns="0" tIns="0" rIns="0" bIns="0" rtlCol="0" anchor="t"/>
          <a:lstStyle/>
          <a:p>
            <a:pPr indent="0" marL="0">
              <a:buNone/>
            </a:pPr>
            <a:r>
              <a:rPr lang="en-US" sz="1150" dirty="0">
                <a:solidFill>
                  <a:schemeClr val="tx2"/>
                </a:solidFill>
              </a:rPr>
              <a:t>Atomicity vs isolation, then AT, XA, TCC, Saga</a:t>
            </a:r>
            <a:endParaRPr lang="en-US" sz="115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Strong consistency: no one sees a half-done state</a:t>
            </a:r>
            <a:endParaRPr lang="en-US" sz="2400" dirty="0"/>
          </a:p>
        </p:txBody>
      </p:sp>
      <p:sp>
        <p:nvSpPr>
          <p:cNvPr id="3" name="Shape 1"/>
          <p:cNvSpPr/>
          <p:nvPr/>
        </p:nvSpPr>
        <p:spPr>
          <a:xfrm>
            <a:off x="457200" y="1097280"/>
            <a:ext cx="3977640" cy="2514600"/>
          </a:xfrm>
          <a:prstGeom prst="roundRect">
            <a:avLst>
              <a:gd name="adj" fmla="val 3636"/>
            </a:avLst>
          </a:prstGeom>
          <a:solidFill>
            <a:srgbClr val="E6F4EC"/>
          </a:solidFill>
          <a:ln w="6350">
            <a:solidFill>
              <a:srgbClr val="E6F4EC"/>
            </a:solidFill>
            <a:prstDash val="solid"/>
          </a:ln>
        </p:spPr>
      </p:sp>
      <p:sp>
        <p:nvSpPr>
          <p:cNvPr id="4" name="Text 2"/>
          <p:cNvSpPr txBox="1"/>
          <p:nvPr/>
        </p:nvSpPr>
        <p:spPr>
          <a:xfrm>
            <a:off x="685800" y="1234440"/>
            <a:ext cx="2743200" cy="320040"/>
          </a:xfrm>
          <a:prstGeom prst="rect">
            <a:avLst/>
          </a:prstGeom>
          <a:noFill/>
          <a:ln/>
        </p:spPr>
        <p:txBody>
          <a:bodyPr wrap="square" lIns="0" tIns="0" rIns="0" bIns="0" rtlCol="0" anchor="t"/>
          <a:lstStyle/>
          <a:p>
            <a:pPr indent="0" marL="0">
              <a:buNone/>
            </a:pPr>
            <a:r>
              <a:rPr lang="en-US" sz="1600" b="1" dirty="0">
                <a:solidFill>
                  <a:schemeClr val="accent3"/>
                </a:solidFill>
              </a:rPr>
              <a:t>Monolith</a:t>
            </a:r>
            <a:endParaRPr lang="en-US" sz="1600" dirty="0"/>
          </a:p>
        </p:txBody>
      </p:sp>
      <p:sp>
        <p:nvSpPr>
          <p:cNvPr id="5" name="Text 3"/>
          <p:cNvSpPr/>
          <p:nvPr/>
        </p:nvSpPr>
        <p:spPr>
          <a:xfrm>
            <a:off x="1600200" y="1691640"/>
            <a:ext cx="1691640" cy="457200"/>
          </a:xfrm>
          <a:prstGeom prst="roundRect">
            <a:avLst>
              <a:gd name="adj" fmla="val 16000"/>
            </a:avLst>
          </a:prstGeom>
          <a:solidFill>
            <a:schemeClr val="bg1"/>
          </a:solidFill>
          <a:ln w="9525">
            <a:solidFill>
              <a:srgbClr val="D5DCE3"/>
            </a:solidFill>
          </a:ln>
        </p:spPr>
        <p:txBody>
          <a:bodyPr wrap="square" lIns="63500" tIns="63500" rIns="63500" bIns="63500" rtlCol="0" anchor="ctr"/>
          <a:lstStyle/>
          <a:p>
            <a:pPr algn="ctr" indent="0" marL="0">
              <a:buNone/>
            </a:pPr>
            <a:r>
              <a:rPr lang="en-US" sz="1300" dirty="0">
                <a:solidFill>
                  <a:schemeClr val="tx1"/>
                </a:solidFill>
              </a:rPr>
              <a:t>Banking app</a:t>
            </a:r>
            <a:endParaRPr lang="en-US" sz="1300" dirty="0"/>
          </a:p>
        </p:txBody>
      </p:sp>
      <p:sp>
        <p:nvSpPr>
          <p:cNvPr id="6" name="Shape 4"/>
          <p:cNvSpPr/>
          <p:nvPr/>
        </p:nvSpPr>
        <p:spPr>
          <a:xfrm>
            <a:off x="2446020" y="2148840"/>
            <a:ext cx="0" cy="320040"/>
          </a:xfrm>
          <a:prstGeom prst="line">
            <a:avLst/>
          </a:prstGeom>
          <a:noFill/>
          <a:ln w="15875">
            <a:solidFill>
              <a:schemeClr val="accent6"/>
            </a:solidFill>
            <a:prstDash val="solid"/>
            <a:tailEnd type="triangle"/>
          </a:ln>
        </p:spPr>
      </p:sp>
      <p:sp>
        <p:nvSpPr>
          <p:cNvPr id="7" name="Text 5"/>
          <p:cNvSpPr/>
          <p:nvPr/>
        </p:nvSpPr>
        <p:spPr>
          <a:xfrm>
            <a:off x="1600200" y="2514600"/>
            <a:ext cx="1691640" cy="457200"/>
          </a:xfrm>
          <a:prstGeom prst="roundRect">
            <a:avLst>
              <a:gd name="adj" fmla="val 16000"/>
            </a:avLst>
          </a:prstGeom>
          <a:solidFill>
            <a:schemeClr val="bg1"/>
          </a:solidFill>
          <a:ln w="9525">
            <a:solidFill>
              <a:srgbClr val="D5DCE3"/>
            </a:solidFill>
          </a:ln>
        </p:spPr>
        <p:txBody>
          <a:bodyPr wrap="square" lIns="63500" tIns="63500" rIns="63500" bIns="63500" rtlCol="0" anchor="ctr"/>
          <a:lstStyle/>
          <a:p>
            <a:pPr algn="ctr" indent="0" marL="0">
              <a:buNone/>
            </a:pPr>
            <a:r>
              <a:rPr lang="en-US" sz="1300" dirty="0">
                <a:solidFill>
                  <a:schemeClr val="tx1"/>
                </a:solidFill>
              </a:rPr>
              <a:t>One database</a:t>
            </a:r>
            <a:endParaRPr lang="en-US" sz="1300" dirty="0"/>
          </a:p>
        </p:txBody>
      </p:sp>
      <p:sp>
        <p:nvSpPr>
          <p:cNvPr id="8" name="Text 6"/>
          <p:cNvSpPr txBox="1"/>
          <p:nvPr/>
        </p:nvSpPr>
        <p:spPr>
          <a:xfrm>
            <a:off x="685800" y="3063240"/>
            <a:ext cx="3566160" cy="457200"/>
          </a:xfrm>
          <a:prstGeom prst="rect">
            <a:avLst/>
          </a:prstGeom>
          <a:noFill/>
          <a:ln/>
        </p:spPr>
        <p:txBody>
          <a:bodyPr wrap="square" lIns="0" tIns="0" rIns="0" bIns="0" rtlCol="0" anchor="t"/>
          <a:lstStyle/>
          <a:p>
            <a:pPr indent="0" marL="0">
              <a:buNone/>
            </a:pPr>
            <a:r>
              <a:rPr lang="en-US" sz="1250" dirty="0">
                <a:solidFill>
                  <a:schemeClr val="tx2"/>
                </a:solidFill>
              </a:rPr>
              <a:t>One transaction, one COMMIT. The DB guarantees all or nothing (ACID).</a:t>
            </a:r>
            <a:endParaRPr lang="en-US" sz="1250" dirty="0"/>
          </a:p>
        </p:txBody>
      </p:sp>
      <p:sp>
        <p:nvSpPr>
          <p:cNvPr id="9" name="Shape 7"/>
          <p:cNvSpPr/>
          <p:nvPr/>
        </p:nvSpPr>
        <p:spPr>
          <a:xfrm>
            <a:off x="4709160" y="1097280"/>
            <a:ext cx="3977640" cy="2514600"/>
          </a:xfrm>
          <a:prstGeom prst="roundRect">
            <a:avLst>
              <a:gd name="adj" fmla="val 3636"/>
            </a:avLst>
          </a:prstGeom>
          <a:solidFill>
            <a:srgbClr val="FBE9EC"/>
          </a:solidFill>
          <a:ln w="6350">
            <a:solidFill>
              <a:srgbClr val="FBE9EC"/>
            </a:solidFill>
            <a:prstDash val="solid"/>
          </a:ln>
        </p:spPr>
      </p:sp>
      <p:sp>
        <p:nvSpPr>
          <p:cNvPr id="10" name="Text 8"/>
          <p:cNvSpPr txBox="1"/>
          <p:nvPr/>
        </p:nvSpPr>
        <p:spPr>
          <a:xfrm>
            <a:off x="4937760" y="1234440"/>
            <a:ext cx="2743200" cy="320040"/>
          </a:xfrm>
          <a:prstGeom prst="rect">
            <a:avLst/>
          </a:prstGeom>
          <a:noFill/>
          <a:ln/>
        </p:spPr>
        <p:txBody>
          <a:bodyPr wrap="square" lIns="0" tIns="0" rIns="0" bIns="0" rtlCol="0" anchor="t"/>
          <a:lstStyle/>
          <a:p>
            <a:pPr indent="0" marL="0">
              <a:buNone/>
            </a:pPr>
            <a:r>
              <a:rPr lang="en-US" sz="1600" b="1" dirty="0">
                <a:solidFill>
                  <a:schemeClr val="accent2"/>
                </a:solidFill>
              </a:rPr>
              <a:t>Microservices</a:t>
            </a:r>
            <a:endParaRPr lang="en-US" sz="1600" dirty="0"/>
          </a:p>
        </p:txBody>
      </p:sp>
      <p:sp>
        <p:nvSpPr>
          <p:cNvPr id="11" name="Text 9"/>
          <p:cNvSpPr/>
          <p:nvPr/>
        </p:nvSpPr>
        <p:spPr>
          <a:xfrm>
            <a:off x="4937760" y="1691640"/>
            <a:ext cx="1691640" cy="457200"/>
          </a:xfrm>
          <a:prstGeom prst="roundRect">
            <a:avLst>
              <a:gd name="adj" fmla="val 16000"/>
            </a:avLst>
          </a:prstGeom>
          <a:solidFill>
            <a:schemeClr val="bg1"/>
          </a:solidFill>
          <a:ln w="9525">
            <a:solidFill>
              <a:srgbClr val="D5DCE3"/>
            </a:solidFill>
          </a:ln>
        </p:spPr>
        <p:txBody>
          <a:bodyPr wrap="square" lIns="63500" tIns="63500" rIns="63500" bIns="63500" rtlCol="0" anchor="ctr"/>
          <a:lstStyle/>
          <a:p>
            <a:pPr algn="ctr" indent="0" marL="0">
              <a:buNone/>
            </a:pPr>
            <a:r>
              <a:rPr lang="en-US" sz="1300" dirty="0">
                <a:solidFill>
                  <a:schemeClr val="tx1"/>
                </a:solidFill>
              </a:rPr>
              <a:t>Account service</a:t>
            </a:r>
            <a:endParaRPr lang="en-US" sz="1300" dirty="0"/>
          </a:p>
        </p:txBody>
      </p:sp>
      <p:sp>
        <p:nvSpPr>
          <p:cNvPr id="12" name="Text 10"/>
          <p:cNvSpPr/>
          <p:nvPr/>
        </p:nvSpPr>
        <p:spPr>
          <a:xfrm>
            <a:off x="6766560" y="1691640"/>
            <a:ext cx="1691640" cy="457200"/>
          </a:xfrm>
          <a:prstGeom prst="roundRect">
            <a:avLst>
              <a:gd name="adj" fmla="val 16000"/>
            </a:avLst>
          </a:prstGeom>
          <a:solidFill>
            <a:schemeClr val="bg1"/>
          </a:solidFill>
          <a:ln w="9525">
            <a:solidFill>
              <a:srgbClr val="D5DCE3"/>
            </a:solidFill>
          </a:ln>
        </p:spPr>
        <p:txBody>
          <a:bodyPr wrap="square" lIns="63500" tIns="63500" rIns="63500" bIns="63500" rtlCol="0" anchor="ctr"/>
          <a:lstStyle/>
          <a:p>
            <a:pPr algn="ctr" indent="0" marL="0">
              <a:buNone/>
            </a:pPr>
            <a:r>
              <a:rPr lang="en-US" sz="1300" dirty="0">
                <a:solidFill>
                  <a:schemeClr val="tx1"/>
                </a:solidFill>
              </a:rPr>
              <a:t>Wallet service</a:t>
            </a:r>
            <a:endParaRPr lang="en-US" sz="1300" dirty="0"/>
          </a:p>
        </p:txBody>
      </p:sp>
      <p:sp>
        <p:nvSpPr>
          <p:cNvPr id="13" name="Shape 11"/>
          <p:cNvSpPr/>
          <p:nvPr/>
        </p:nvSpPr>
        <p:spPr>
          <a:xfrm>
            <a:off x="5783580" y="2148840"/>
            <a:ext cx="0" cy="320040"/>
          </a:xfrm>
          <a:prstGeom prst="line">
            <a:avLst/>
          </a:prstGeom>
          <a:noFill/>
          <a:ln w="15875">
            <a:solidFill>
              <a:schemeClr val="accent6"/>
            </a:solidFill>
            <a:prstDash val="solid"/>
            <a:tailEnd type="triangle"/>
          </a:ln>
        </p:spPr>
      </p:sp>
      <p:sp>
        <p:nvSpPr>
          <p:cNvPr id="14" name="Shape 12"/>
          <p:cNvSpPr/>
          <p:nvPr/>
        </p:nvSpPr>
        <p:spPr>
          <a:xfrm>
            <a:off x="7612380" y="2148840"/>
            <a:ext cx="0" cy="320040"/>
          </a:xfrm>
          <a:prstGeom prst="line">
            <a:avLst/>
          </a:prstGeom>
          <a:noFill/>
          <a:ln w="15875">
            <a:solidFill>
              <a:schemeClr val="accent6"/>
            </a:solidFill>
            <a:prstDash val="solid"/>
            <a:tailEnd type="triangle"/>
          </a:ln>
        </p:spPr>
      </p:sp>
      <p:sp>
        <p:nvSpPr>
          <p:cNvPr id="15" name="Text 13"/>
          <p:cNvSpPr/>
          <p:nvPr/>
        </p:nvSpPr>
        <p:spPr>
          <a:xfrm>
            <a:off x="4937760" y="2514600"/>
            <a:ext cx="1691640" cy="457200"/>
          </a:xfrm>
          <a:prstGeom prst="roundRect">
            <a:avLst>
              <a:gd name="adj" fmla="val 16000"/>
            </a:avLst>
          </a:prstGeom>
          <a:solidFill>
            <a:schemeClr val="bg1"/>
          </a:solidFill>
          <a:ln w="9525">
            <a:solidFill>
              <a:srgbClr val="D5DCE3"/>
            </a:solidFill>
          </a:ln>
        </p:spPr>
        <p:txBody>
          <a:bodyPr wrap="square" lIns="63500" tIns="63500" rIns="63500" bIns="63500" rtlCol="0" anchor="ctr"/>
          <a:lstStyle/>
          <a:p>
            <a:pPr algn="ctr" indent="0" marL="0">
              <a:buNone/>
            </a:pPr>
            <a:r>
              <a:rPr lang="en-US" sz="1300" dirty="0">
                <a:solidFill>
                  <a:schemeClr val="tx1"/>
                </a:solidFill>
              </a:rPr>
              <a:t>DB-1</a:t>
            </a:r>
            <a:endParaRPr lang="en-US" sz="1300" dirty="0"/>
          </a:p>
        </p:txBody>
      </p:sp>
      <p:sp>
        <p:nvSpPr>
          <p:cNvPr id="16" name="Text 14"/>
          <p:cNvSpPr/>
          <p:nvPr/>
        </p:nvSpPr>
        <p:spPr>
          <a:xfrm>
            <a:off x="6766560" y="2514600"/>
            <a:ext cx="1691640" cy="457200"/>
          </a:xfrm>
          <a:prstGeom prst="roundRect">
            <a:avLst>
              <a:gd name="adj" fmla="val 16000"/>
            </a:avLst>
          </a:prstGeom>
          <a:solidFill>
            <a:schemeClr val="bg1"/>
          </a:solidFill>
          <a:ln w="9525">
            <a:solidFill>
              <a:srgbClr val="D5DCE3"/>
            </a:solidFill>
          </a:ln>
        </p:spPr>
        <p:txBody>
          <a:bodyPr wrap="square" lIns="63500" tIns="63500" rIns="63500" bIns="63500" rtlCol="0" anchor="ctr"/>
          <a:lstStyle/>
          <a:p>
            <a:pPr algn="ctr" indent="0" marL="0">
              <a:buNone/>
            </a:pPr>
            <a:r>
              <a:rPr lang="en-US" sz="1300" dirty="0">
                <a:solidFill>
                  <a:schemeClr val="tx1"/>
                </a:solidFill>
              </a:rPr>
              <a:t>DB-2</a:t>
            </a:r>
            <a:endParaRPr lang="en-US" sz="1300" dirty="0"/>
          </a:p>
        </p:txBody>
      </p:sp>
      <p:sp>
        <p:nvSpPr>
          <p:cNvPr id="17" name="Text 15"/>
          <p:cNvSpPr txBox="1"/>
          <p:nvPr/>
        </p:nvSpPr>
        <p:spPr>
          <a:xfrm>
            <a:off x="4937760" y="3063240"/>
            <a:ext cx="3566160" cy="457200"/>
          </a:xfrm>
          <a:prstGeom prst="rect">
            <a:avLst/>
          </a:prstGeom>
          <a:noFill/>
          <a:ln/>
        </p:spPr>
        <p:txBody>
          <a:bodyPr wrap="square" lIns="0" tIns="0" rIns="0" bIns="0" rtlCol="0" anchor="t"/>
          <a:lstStyle/>
          <a:p>
            <a:pPr indent="0" marL="0">
              <a:buNone/>
            </a:pPr>
            <a:r>
              <a:rPr lang="en-US" sz="1250" dirty="0">
                <a:solidFill>
                  <a:schemeClr val="tx2"/>
                </a:solidFill>
              </a:rPr>
              <a:t>Each service commits alone. No single COMMIT covers both.</a:t>
            </a:r>
            <a:endParaRPr lang="en-US" sz="1250" dirty="0"/>
          </a:p>
        </p:txBody>
      </p:sp>
      <p:sp>
        <p:nvSpPr>
          <p:cNvPr id="18" name="Shape 16"/>
          <p:cNvSpPr/>
          <p:nvPr/>
        </p:nvSpPr>
        <p:spPr>
          <a:xfrm>
            <a:off x="457200" y="3840480"/>
            <a:ext cx="8229600" cy="731520"/>
          </a:xfrm>
          <a:prstGeom prst="roundRect">
            <a:avLst>
              <a:gd name="adj" fmla="val 12500"/>
            </a:avLst>
          </a:prstGeom>
          <a:solidFill>
            <a:schemeClr val="bg2"/>
          </a:solidFill>
          <a:ln w="6350">
            <a:solidFill>
              <a:srgbClr val="E1E6EB"/>
            </a:solidFill>
            <a:prstDash val="solid"/>
          </a:ln>
        </p:spPr>
      </p:sp>
      <p:sp>
        <p:nvSpPr>
          <p:cNvPr id="19" name="Text 17"/>
          <p:cNvSpPr txBox="1"/>
          <p:nvPr/>
        </p:nvSpPr>
        <p:spPr>
          <a:xfrm>
            <a:off x="685800" y="3950208"/>
            <a:ext cx="7772400" cy="548640"/>
          </a:xfrm>
          <a:prstGeom prst="rect">
            <a:avLst/>
          </a:prstGeom>
          <a:noFill/>
          <a:ln/>
        </p:spPr>
        <p:txBody>
          <a:bodyPr wrap="square" lIns="0" tIns="0" rIns="0" bIns="0" rtlCol="0" anchor="ctr"/>
          <a:lstStyle/>
          <a:p>
            <a:pPr indent="0" marL="0">
              <a:buNone/>
            </a:pPr>
            <a:r>
              <a:rPr lang="en-US" sz="1350" b="1" dirty="0">
                <a:solidFill>
                  <a:schemeClr val="accent1"/>
                </a:solidFill>
              </a:rPr>
              <a:t>Strong consistency: </a:t>
            </a:r>
            <a:pPr indent="0" marL="0">
              <a:buNone/>
            </a:pPr>
            <a:r>
              <a:rPr lang="en-US" sz="1350" dirty="0">
                <a:solidFill>
                  <a:schemeClr val="tx1"/>
                </a:solidFill>
              </a:rPr>
              <a:t>the moment a change is done, everyone sees the new correct value. Nobody ever sees a half-finished or wrong state.</a:t>
            </a:r>
            <a:endParaRPr lang="en-US" sz="135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@Transactional: Spring writes BEGIN/COMMIT for you</a:t>
            </a:r>
            <a:endParaRPr lang="en-US" sz="2400" dirty="0"/>
          </a:p>
        </p:txBody>
      </p:sp>
      <p:sp>
        <p:nvSpPr>
          <p:cNvPr id="3" name="Text 1"/>
          <p:cNvSpPr/>
          <p:nvPr/>
        </p:nvSpPr>
        <p:spPr>
          <a:xfrm>
            <a:off x="457200" y="1097280"/>
            <a:ext cx="1280160" cy="685800"/>
          </a:xfrm>
          <a:prstGeom prst="roundRect">
            <a:avLst>
              <a:gd name="adj" fmla="val 10667"/>
            </a:avLst>
          </a:prstGeom>
          <a:solidFill>
            <a:schemeClr val="bg2"/>
          </a:solidFill>
          <a:ln w="9525">
            <a:solidFill>
              <a:srgbClr val="D5DCE3"/>
            </a:solidFill>
          </a:ln>
        </p:spPr>
        <p:txBody>
          <a:bodyPr wrap="square" lIns="63500" tIns="63500" rIns="63500" bIns="63500" rtlCol="0" anchor="ctr"/>
          <a:lstStyle/>
          <a:p>
            <a:pPr algn="ctr" indent="0" marL="0">
              <a:buNone/>
            </a:pPr>
            <a:r>
              <a:rPr lang="en-US" sz="1300" dirty="0">
                <a:solidFill>
                  <a:schemeClr val="tx1"/>
                </a:solidFill>
              </a:rPr>
              <a:t>Caller</a:t>
            </a:r>
            <a:endParaRPr lang="en-US" sz="1300" dirty="0"/>
          </a:p>
        </p:txBody>
      </p:sp>
      <p:sp>
        <p:nvSpPr>
          <p:cNvPr id="4" name="Text 2"/>
          <p:cNvSpPr/>
          <p:nvPr/>
        </p:nvSpPr>
        <p:spPr>
          <a:xfrm>
            <a:off x="2011680" y="1097280"/>
            <a:ext cx="1645920" cy="685800"/>
          </a:xfrm>
          <a:prstGeom prst="roundRect">
            <a:avLst>
              <a:gd name="adj" fmla="val 10667"/>
            </a:avLst>
          </a:prstGeom>
          <a:solidFill>
            <a:srgbClr val="E3F2F1"/>
          </a:solidFill>
          <a:ln w="9525">
            <a:solidFill>
              <a:schemeClr val="accent1"/>
            </a:solidFill>
          </a:ln>
        </p:spPr>
        <p:txBody>
          <a:bodyPr wrap="square" lIns="63500" tIns="63500" rIns="63500" bIns="63500" rtlCol="0" anchor="ctr"/>
          <a:lstStyle/>
          <a:p>
            <a:pPr algn="ctr" indent="0" marL="0">
              <a:buNone/>
            </a:pPr>
            <a:r>
              <a:rPr lang="en-US" sz="1300" b="1" dirty="0">
                <a:solidFill>
                  <a:schemeClr val="tx1"/>
                </a:solidFill>
              </a:rPr>
              <a:t>Spring proxy</a:t>
            </a:r>
            <a:endParaRPr lang="en-US" sz="1300" dirty="0"/>
          </a:p>
          <a:p>
            <a:pPr algn="ctr" indent="0" marL="0">
              <a:buNone/>
            </a:pPr>
            <a:r>
              <a:rPr lang="en-US" sz="1150" b="1" dirty="0">
                <a:solidFill>
                  <a:schemeClr val="accent1"/>
                </a:solidFill>
              </a:rPr>
              <a:t>BEGIN</a:t>
            </a:r>
            <a:endParaRPr lang="en-US" sz="1300" dirty="0"/>
          </a:p>
        </p:txBody>
      </p:sp>
      <p:sp>
        <p:nvSpPr>
          <p:cNvPr id="5" name="Text 3"/>
          <p:cNvSpPr/>
          <p:nvPr/>
        </p:nvSpPr>
        <p:spPr>
          <a:xfrm>
            <a:off x="3931920" y="1097280"/>
            <a:ext cx="1828800" cy="685800"/>
          </a:xfrm>
          <a:prstGeom prst="roundRect">
            <a:avLst>
              <a:gd name="adj" fmla="val 10667"/>
            </a:avLst>
          </a:prstGeom>
          <a:solidFill>
            <a:schemeClr val="bg2"/>
          </a:solidFill>
          <a:ln w="9525">
            <a:solidFill>
              <a:srgbClr val="D5DCE3"/>
            </a:solidFill>
          </a:ln>
        </p:spPr>
        <p:txBody>
          <a:bodyPr wrap="square" lIns="63500" tIns="63500" rIns="63500" bIns="63500" rtlCol="0" anchor="ctr"/>
          <a:lstStyle/>
          <a:p>
            <a:pPr algn="ctr" indent="0" marL="0">
              <a:buNone/>
            </a:pPr>
            <a:r>
              <a:rPr lang="en-US" sz="1300" b="1" dirty="0">
                <a:solidFill>
                  <a:schemeClr val="tx1"/>
                </a:solidFill>
              </a:rPr>
              <a:t>transfer()</a:t>
            </a:r>
            <a:endParaRPr lang="en-US" sz="1300" dirty="0"/>
          </a:p>
          <a:p>
            <a:pPr algn="ctr" indent="0" marL="0">
              <a:buNone/>
            </a:pPr>
            <a:r>
              <a:rPr lang="en-US" sz="1150" dirty="0">
                <a:solidFill>
                  <a:schemeClr val="tx2"/>
                </a:solidFill>
              </a:rPr>
              <a:t>update A, update B</a:t>
            </a:r>
            <a:endParaRPr lang="en-US" sz="1300" dirty="0"/>
          </a:p>
        </p:txBody>
      </p:sp>
      <p:sp>
        <p:nvSpPr>
          <p:cNvPr id="6" name="Text 4"/>
          <p:cNvSpPr/>
          <p:nvPr/>
        </p:nvSpPr>
        <p:spPr>
          <a:xfrm>
            <a:off x="6309360" y="960120"/>
            <a:ext cx="2377440" cy="566928"/>
          </a:xfrm>
          <a:prstGeom prst="roundRect">
            <a:avLst>
              <a:gd name="adj" fmla="val 12903"/>
            </a:avLst>
          </a:prstGeom>
          <a:solidFill>
            <a:srgbClr val="E6F4EC"/>
          </a:solidFill>
          <a:ln w="6350">
            <a:solidFill>
              <a:srgbClr val="E6F4EC"/>
            </a:solidFill>
          </a:ln>
        </p:spPr>
        <p:txBody>
          <a:bodyPr wrap="square" lIns="63500" tIns="63500" rIns="63500" bIns="63500" rtlCol="0" anchor="ctr"/>
          <a:lstStyle/>
          <a:p>
            <a:pPr algn="ctr" indent="0" marL="0">
              <a:buNone/>
            </a:pPr>
            <a:r>
              <a:rPr lang="en-US" sz="1300" b="1" dirty="0">
                <a:solidFill>
                  <a:schemeClr val="accent3"/>
                </a:solidFill>
              </a:rPr>
              <a:t>COMMIT</a:t>
            </a:r>
            <a:endParaRPr lang="en-US" sz="1300" dirty="0"/>
          </a:p>
          <a:p>
            <a:pPr algn="ctr" indent="0" marL="0">
              <a:buNone/>
            </a:pPr>
            <a:r>
              <a:rPr lang="en-US" sz="1100" dirty="0">
                <a:solidFill>
                  <a:schemeClr val="tx2"/>
                </a:solidFill>
              </a:rPr>
              <a:t>method returns OK</a:t>
            </a:r>
            <a:endParaRPr lang="en-US" sz="1300" dirty="0"/>
          </a:p>
        </p:txBody>
      </p:sp>
      <p:sp>
        <p:nvSpPr>
          <p:cNvPr id="7" name="Text 5"/>
          <p:cNvSpPr/>
          <p:nvPr/>
        </p:nvSpPr>
        <p:spPr>
          <a:xfrm>
            <a:off x="6309360" y="1691640"/>
            <a:ext cx="2377440" cy="566928"/>
          </a:xfrm>
          <a:prstGeom prst="roundRect">
            <a:avLst>
              <a:gd name="adj" fmla="val 12903"/>
            </a:avLst>
          </a:prstGeom>
          <a:solidFill>
            <a:srgbClr val="FBE9EC"/>
          </a:solidFill>
          <a:ln w="6350">
            <a:solidFill>
              <a:srgbClr val="FBE9EC"/>
            </a:solidFill>
          </a:ln>
        </p:spPr>
        <p:txBody>
          <a:bodyPr wrap="square" lIns="63500" tIns="63500" rIns="63500" bIns="63500" rtlCol="0" anchor="ctr"/>
          <a:lstStyle/>
          <a:p>
            <a:pPr algn="ctr" indent="0" marL="0">
              <a:buNone/>
            </a:pPr>
            <a:r>
              <a:rPr lang="en-US" sz="1300" b="1" dirty="0">
                <a:solidFill>
                  <a:schemeClr val="accent2"/>
                </a:solidFill>
              </a:rPr>
              <a:t>ROLLBACK</a:t>
            </a:r>
            <a:endParaRPr lang="en-US" sz="1300" dirty="0"/>
          </a:p>
          <a:p>
            <a:pPr algn="ctr" indent="0" marL="0">
              <a:buNone/>
            </a:pPr>
            <a:r>
              <a:rPr lang="en-US" sz="1100" dirty="0">
                <a:solidFill>
                  <a:schemeClr val="tx2"/>
                </a:solidFill>
              </a:rPr>
              <a:t>RuntimeException thrown</a:t>
            </a:r>
            <a:endParaRPr lang="en-US" sz="1300" dirty="0"/>
          </a:p>
        </p:txBody>
      </p:sp>
      <p:sp>
        <p:nvSpPr>
          <p:cNvPr id="8" name="Shape 6"/>
          <p:cNvSpPr/>
          <p:nvPr/>
        </p:nvSpPr>
        <p:spPr>
          <a:xfrm>
            <a:off x="1755648" y="1440180"/>
            <a:ext cx="237744" cy="0"/>
          </a:xfrm>
          <a:prstGeom prst="line">
            <a:avLst/>
          </a:prstGeom>
          <a:noFill/>
          <a:ln w="15875">
            <a:solidFill>
              <a:schemeClr val="accent6"/>
            </a:solidFill>
            <a:prstDash val="solid"/>
            <a:tailEnd type="triangle"/>
          </a:ln>
        </p:spPr>
      </p:sp>
      <p:sp>
        <p:nvSpPr>
          <p:cNvPr id="9" name="Shape 7"/>
          <p:cNvSpPr/>
          <p:nvPr/>
        </p:nvSpPr>
        <p:spPr>
          <a:xfrm>
            <a:off x="3675888" y="1440180"/>
            <a:ext cx="237744" cy="0"/>
          </a:xfrm>
          <a:prstGeom prst="line">
            <a:avLst/>
          </a:prstGeom>
          <a:noFill/>
          <a:ln w="15875">
            <a:solidFill>
              <a:schemeClr val="accent6"/>
            </a:solidFill>
            <a:prstDash val="solid"/>
            <a:tailEnd type="triangle"/>
          </a:ln>
        </p:spPr>
      </p:sp>
      <p:sp>
        <p:nvSpPr>
          <p:cNvPr id="10" name="Shape 8"/>
          <p:cNvSpPr/>
          <p:nvPr/>
        </p:nvSpPr>
        <p:spPr>
          <a:xfrm>
            <a:off x="5779008" y="1440180"/>
            <a:ext cx="512064" cy="-182880"/>
          </a:xfrm>
          <a:prstGeom prst="line">
            <a:avLst/>
          </a:prstGeom>
          <a:noFill/>
          <a:ln w="15875">
            <a:solidFill>
              <a:schemeClr val="accent6"/>
            </a:solidFill>
            <a:prstDash val="solid"/>
            <a:tailEnd type="triangle"/>
          </a:ln>
        </p:spPr>
      </p:sp>
      <p:sp>
        <p:nvSpPr>
          <p:cNvPr id="11" name="Shape 9"/>
          <p:cNvSpPr/>
          <p:nvPr/>
        </p:nvSpPr>
        <p:spPr>
          <a:xfrm>
            <a:off x="5779008" y="1440180"/>
            <a:ext cx="512064" cy="530352"/>
          </a:xfrm>
          <a:prstGeom prst="line">
            <a:avLst/>
          </a:prstGeom>
          <a:noFill/>
          <a:ln w="15875">
            <a:solidFill>
              <a:schemeClr val="accent6"/>
            </a:solidFill>
            <a:prstDash val="solid"/>
            <a:tailEnd type="triangle"/>
          </a:ln>
        </p:spPr>
      </p:sp>
      <p:sp>
        <p:nvSpPr>
          <p:cNvPr id="12" name="Shape 10"/>
          <p:cNvSpPr/>
          <p:nvPr/>
        </p:nvSpPr>
        <p:spPr>
          <a:xfrm>
            <a:off x="4846320" y="1801368"/>
            <a:ext cx="0" cy="329184"/>
          </a:xfrm>
          <a:prstGeom prst="line">
            <a:avLst/>
          </a:prstGeom>
          <a:noFill/>
          <a:ln w="15875">
            <a:solidFill>
              <a:schemeClr val="accent6"/>
            </a:solidFill>
            <a:prstDash val="solid"/>
            <a:tailEnd type="triangle"/>
          </a:ln>
        </p:spPr>
      </p:sp>
      <p:sp>
        <p:nvSpPr>
          <p:cNvPr id="13" name="Text 11"/>
          <p:cNvSpPr/>
          <p:nvPr/>
        </p:nvSpPr>
        <p:spPr>
          <a:xfrm>
            <a:off x="3703320" y="2148840"/>
            <a:ext cx="2286000" cy="457200"/>
          </a:xfrm>
          <a:prstGeom prst="roundRect">
            <a:avLst>
              <a:gd name="adj" fmla="val 16000"/>
            </a:avLst>
          </a:prstGeom>
          <a:solidFill>
            <a:schemeClr val="bg2"/>
          </a:solidFill>
          <a:ln w="9525">
            <a:solidFill>
              <a:srgbClr val="D5DCE3"/>
            </a:solidFill>
          </a:ln>
        </p:spPr>
        <p:txBody>
          <a:bodyPr wrap="square" lIns="63500" tIns="63500" rIns="63500" bIns="63500" rtlCol="0" anchor="ctr"/>
          <a:lstStyle/>
          <a:p>
            <a:pPr algn="ctr" indent="0" marL="0">
              <a:buNone/>
            </a:pPr>
            <a:r>
              <a:rPr lang="en-US" sz="1200" dirty="0">
                <a:solidFill>
                  <a:schemeClr val="tx1"/>
                </a:solidFill>
              </a:rPr>
              <a:t>One database, one connection</a:t>
            </a:r>
            <a:endParaRPr lang="en-US" sz="1200" dirty="0"/>
          </a:p>
        </p:txBody>
      </p:sp>
      <p:sp>
        <p:nvSpPr>
          <p:cNvPr id="14" name="Shape 12"/>
          <p:cNvSpPr/>
          <p:nvPr/>
        </p:nvSpPr>
        <p:spPr>
          <a:xfrm>
            <a:off x="457200" y="2834640"/>
            <a:ext cx="4023360" cy="868680"/>
          </a:xfrm>
          <a:prstGeom prst="roundRect">
            <a:avLst>
              <a:gd name="adj" fmla="val 8421"/>
            </a:avLst>
          </a:prstGeom>
          <a:solidFill>
            <a:srgbClr val="FDF3E2"/>
          </a:solidFill>
          <a:ln w="6350">
            <a:solidFill>
              <a:srgbClr val="FDF3E2"/>
            </a:solidFill>
            <a:prstDash val="solid"/>
          </a:ln>
        </p:spPr>
      </p:sp>
      <p:sp>
        <p:nvSpPr>
          <p:cNvPr id="15" name="Text 13"/>
          <p:cNvSpPr txBox="1"/>
          <p:nvPr/>
        </p:nvSpPr>
        <p:spPr>
          <a:xfrm>
            <a:off x="640080" y="2907792"/>
            <a:ext cx="3657600" cy="274320"/>
          </a:xfrm>
          <a:prstGeom prst="rect">
            <a:avLst/>
          </a:prstGeom>
          <a:noFill/>
          <a:ln/>
        </p:spPr>
        <p:txBody>
          <a:bodyPr wrap="square" lIns="0" tIns="0" rIns="0" bIns="0" rtlCol="0" anchor="t"/>
          <a:lstStyle/>
          <a:p>
            <a:pPr indent="0" marL="0">
              <a:buNone/>
            </a:pPr>
            <a:r>
              <a:rPr lang="en-US" sz="1300" b="1" dirty="0">
                <a:solidFill>
                  <a:schemeClr val="accent4"/>
                </a:solidFill>
              </a:rPr>
              <a:t>Trap 1: checked exceptions</a:t>
            </a:r>
            <a:endParaRPr lang="en-US" sz="1300" dirty="0"/>
          </a:p>
        </p:txBody>
      </p:sp>
      <p:sp>
        <p:nvSpPr>
          <p:cNvPr id="16" name="Text 14"/>
          <p:cNvSpPr txBox="1"/>
          <p:nvPr/>
        </p:nvSpPr>
        <p:spPr>
          <a:xfrm>
            <a:off x="640080" y="3200400"/>
            <a:ext cx="3657600" cy="457200"/>
          </a:xfrm>
          <a:prstGeom prst="rect">
            <a:avLst/>
          </a:prstGeom>
          <a:noFill/>
          <a:ln/>
        </p:spPr>
        <p:txBody>
          <a:bodyPr wrap="square" lIns="0" tIns="0" rIns="0" bIns="0" rtlCol="0" anchor="t"/>
          <a:lstStyle/>
          <a:p>
            <a:pPr indent="0" marL="0">
              <a:buNone/>
            </a:pPr>
            <a:r>
              <a:rPr lang="en-US" sz="1150" dirty="0">
                <a:solidFill>
                  <a:schemeClr val="tx1"/>
                </a:solidFill>
              </a:rPr>
              <a:t>By default only RuntimeException rolls back. Set rollbackFor to include checked ones.</a:t>
            </a:r>
            <a:endParaRPr lang="en-US" sz="1150" dirty="0"/>
          </a:p>
        </p:txBody>
      </p:sp>
      <p:sp>
        <p:nvSpPr>
          <p:cNvPr id="17" name="Shape 15"/>
          <p:cNvSpPr/>
          <p:nvPr/>
        </p:nvSpPr>
        <p:spPr>
          <a:xfrm>
            <a:off x="4663440" y="2834640"/>
            <a:ext cx="4023360" cy="868680"/>
          </a:xfrm>
          <a:prstGeom prst="roundRect">
            <a:avLst>
              <a:gd name="adj" fmla="val 8421"/>
            </a:avLst>
          </a:prstGeom>
          <a:solidFill>
            <a:srgbClr val="FDF3E2"/>
          </a:solidFill>
          <a:ln w="6350">
            <a:solidFill>
              <a:srgbClr val="FDF3E2"/>
            </a:solidFill>
            <a:prstDash val="solid"/>
          </a:ln>
        </p:spPr>
      </p:sp>
      <p:sp>
        <p:nvSpPr>
          <p:cNvPr id="18" name="Text 16"/>
          <p:cNvSpPr txBox="1"/>
          <p:nvPr/>
        </p:nvSpPr>
        <p:spPr>
          <a:xfrm>
            <a:off x="4846320" y="2907792"/>
            <a:ext cx="3657600" cy="274320"/>
          </a:xfrm>
          <a:prstGeom prst="rect">
            <a:avLst/>
          </a:prstGeom>
          <a:noFill/>
          <a:ln/>
        </p:spPr>
        <p:txBody>
          <a:bodyPr wrap="square" lIns="0" tIns="0" rIns="0" bIns="0" rtlCol="0" anchor="t"/>
          <a:lstStyle/>
          <a:p>
            <a:pPr indent="0" marL="0">
              <a:buNone/>
            </a:pPr>
            <a:r>
              <a:rPr lang="en-US" sz="1300" b="1" dirty="0">
                <a:solidFill>
                  <a:schemeClr val="accent4"/>
                </a:solidFill>
              </a:rPr>
              <a:t>Trap 2: self-invocation</a:t>
            </a:r>
            <a:endParaRPr lang="en-US" sz="1300" dirty="0"/>
          </a:p>
        </p:txBody>
      </p:sp>
      <p:sp>
        <p:nvSpPr>
          <p:cNvPr id="19" name="Text 17"/>
          <p:cNvSpPr txBox="1"/>
          <p:nvPr/>
        </p:nvSpPr>
        <p:spPr>
          <a:xfrm>
            <a:off x="4846320" y="3200400"/>
            <a:ext cx="3657600" cy="457200"/>
          </a:xfrm>
          <a:prstGeom prst="rect">
            <a:avLst/>
          </a:prstGeom>
          <a:noFill/>
          <a:ln/>
        </p:spPr>
        <p:txBody>
          <a:bodyPr wrap="square" lIns="0" tIns="0" rIns="0" bIns="0" rtlCol="0" anchor="t"/>
          <a:lstStyle/>
          <a:p>
            <a:pPr indent="0" marL="0">
              <a:buNone/>
            </a:pPr>
            <a:r>
              <a:rPr lang="en-US" sz="1150" dirty="0">
                <a:solidFill>
                  <a:schemeClr val="tx1"/>
                </a:solidFill>
              </a:rPr>
              <a:t>Calling the method from the same class skips the proxy, so there is no transaction.</a:t>
            </a:r>
            <a:endParaRPr lang="en-US" sz="1150" dirty="0"/>
          </a:p>
        </p:txBody>
      </p:sp>
      <p:sp>
        <p:nvSpPr>
          <p:cNvPr id="20" name="Shape 18"/>
          <p:cNvSpPr/>
          <p:nvPr/>
        </p:nvSpPr>
        <p:spPr>
          <a:xfrm>
            <a:off x="457200" y="3886200"/>
            <a:ext cx="8229600" cy="685800"/>
          </a:xfrm>
          <a:prstGeom prst="roundRect">
            <a:avLst>
              <a:gd name="adj" fmla="val 13333"/>
            </a:avLst>
          </a:prstGeom>
          <a:solidFill>
            <a:srgbClr val="FBE9EC"/>
          </a:solidFill>
          <a:ln w="6350">
            <a:solidFill>
              <a:srgbClr val="FBE9EC"/>
            </a:solidFill>
            <a:prstDash val="solid"/>
          </a:ln>
        </p:spPr>
      </p:sp>
      <p:sp>
        <p:nvSpPr>
          <p:cNvPr id="21" name="Text 19"/>
          <p:cNvSpPr txBox="1"/>
          <p:nvPr/>
        </p:nvSpPr>
        <p:spPr>
          <a:xfrm>
            <a:off x="685800" y="3959352"/>
            <a:ext cx="7772400" cy="548640"/>
          </a:xfrm>
          <a:prstGeom prst="rect">
            <a:avLst/>
          </a:prstGeom>
          <a:noFill/>
          <a:ln/>
        </p:spPr>
        <p:txBody>
          <a:bodyPr wrap="square" lIns="0" tIns="0" rIns="0" bIns="0" rtlCol="0" anchor="ctr"/>
          <a:lstStyle/>
          <a:p>
            <a:pPr indent="0" marL="0">
              <a:buNone/>
            </a:pPr>
            <a:r>
              <a:rPr lang="en-US" sz="1350" b="1" dirty="0">
                <a:solidFill>
                  <a:schemeClr val="accent2"/>
                </a:solidFill>
              </a:rPr>
              <a:t>The limit: </a:t>
            </a:r>
            <a:pPr indent="0" marL="0">
              <a:buNone/>
            </a:pPr>
            <a:r>
              <a:rPr lang="en-US" sz="1350" dirty="0">
                <a:solidFill>
                  <a:schemeClr val="tx1"/>
                </a:solidFill>
              </a:rPr>
              <a:t>@Transactional controls one connection to one database. It cannot roll back another service's database.</a:t>
            </a:r>
            <a:endParaRPr lang="en-US" sz="135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The problem: 1,000 Tk disappears</a:t>
            </a:r>
            <a:endParaRPr lang="en-US" sz="2400" dirty="0"/>
          </a:p>
        </p:txBody>
      </p:sp>
      <p:sp>
        <p:nvSpPr>
          <p:cNvPr id="3" name="Text 1"/>
          <p:cNvSpPr/>
          <p:nvPr/>
        </p:nvSpPr>
        <p:spPr>
          <a:xfrm>
            <a:off x="457200" y="1188720"/>
            <a:ext cx="2377440" cy="1051560"/>
          </a:xfrm>
          <a:prstGeom prst="roundRect">
            <a:avLst>
              <a:gd name="adj" fmla="val 6957"/>
            </a:avLst>
          </a:prstGeom>
          <a:solidFill>
            <a:srgbClr val="E6F4EC"/>
          </a:solidFill>
          <a:ln w="6350">
            <a:solidFill>
              <a:srgbClr val="E6F4EC"/>
            </a:solidFill>
          </a:ln>
        </p:spPr>
        <p:txBody>
          <a:bodyPr wrap="square" lIns="63500" tIns="63500" rIns="63500" bIns="63500" rtlCol="0" anchor="ctr"/>
          <a:lstStyle/>
          <a:p>
            <a:pPr algn="ctr" indent="0" marL="0">
              <a:buNone/>
            </a:pPr>
            <a:r>
              <a:rPr lang="en-US" sz="1300" b="1" dirty="0">
                <a:solidFill>
                  <a:schemeClr val="tx1"/>
                </a:solidFill>
              </a:rPr>
              <a:t>Account service</a:t>
            </a:r>
            <a:endParaRPr lang="en-US" sz="1300" dirty="0"/>
          </a:p>
          <a:p>
            <a:pPr algn="ctr" indent="0" marL="0">
              <a:buNone/>
            </a:pPr>
            <a:r>
              <a:rPr lang="en-US" sz="1200" dirty="0">
                <a:solidFill>
                  <a:schemeClr val="tx1"/>
                </a:solidFill>
              </a:rPr>
              <a:t>Karim 5,000 to 4,000</a:t>
            </a:r>
            <a:endParaRPr lang="en-US" sz="1300" dirty="0"/>
          </a:p>
          <a:p>
            <a:pPr algn="ctr" indent="0" marL="0">
              <a:buNone/>
            </a:pPr>
            <a:r>
              <a:rPr lang="en-US" sz="1100" dirty="0">
                <a:solidFill>
                  <a:schemeClr val="accent3"/>
                </a:solidFill>
              </a:rPr>
              <a:t>Committed in DB-1</a:t>
            </a:r>
            <a:endParaRPr lang="en-US" sz="1300" dirty="0"/>
          </a:p>
        </p:txBody>
      </p:sp>
      <p:sp>
        <p:nvSpPr>
          <p:cNvPr id="4" name="Shape 2"/>
          <p:cNvSpPr/>
          <p:nvPr/>
        </p:nvSpPr>
        <p:spPr>
          <a:xfrm>
            <a:off x="2880360" y="1714500"/>
            <a:ext cx="822960" cy="0"/>
          </a:xfrm>
          <a:prstGeom prst="line">
            <a:avLst/>
          </a:prstGeom>
          <a:noFill/>
          <a:ln w="15875">
            <a:solidFill>
              <a:schemeClr val="accent2"/>
            </a:solidFill>
            <a:prstDash val="dash"/>
            <a:tailEnd type="triangle"/>
          </a:ln>
        </p:spPr>
      </p:sp>
      <p:sp>
        <p:nvSpPr>
          <p:cNvPr id="5" name="Text 3"/>
          <p:cNvSpPr txBox="1"/>
          <p:nvPr/>
        </p:nvSpPr>
        <p:spPr>
          <a:xfrm>
            <a:off x="2880360" y="1371600"/>
            <a:ext cx="822960" cy="274320"/>
          </a:xfrm>
          <a:prstGeom prst="rect">
            <a:avLst/>
          </a:prstGeom>
          <a:noFill/>
          <a:ln/>
        </p:spPr>
        <p:txBody>
          <a:bodyPr wrap="square" lIns="0" tIns="0" rIns="0" bIns="0" rtlCol="0" anchor="t"/>
          <a:lstStyle/>
          <a:p>
            <a:pPr algn="ctr" indent="0" marL="0">
              <a:buNone/>
            </a:pPr>
            <a:r>
              <a:rPr lang="en-US" sz="1100" dirty="0">
                <a:solidFill>
                  <a:schemeClr val="accent2"/>
                </a:solidFill>
              </a:rPr>
              <a:t>Timeout</a:t>
            </a:r>
            <a:endParaRPr lang="en-US" sz="1100" dirty="0"/>
          </a:p>
        </p:txBody>
      </p:sp>
      <p:sp>
        <p:nvSpPr>
          <p:cNvPr id="6" name="Text 4"/>
          <p:cNvSpPr/>
          <p:nvPr/>
        </p:nvSpPr>
        <p:spPr>
          <a:xfrm>
            <a:off x="3749040" y="1188720"/>
            <a:ext cx="2377440" cy="1051560"/>
          </a:xfrm>
          <a:prstGeom prst="roundRect">
            <a:avLst>
              <a:gd name="adj" fmla="val 6957"/>
            </a:avLst>
          </a:prstGeom>
          <a:solidFill>
            <a:srgbClr val="FBE9EC"/>
          </a:solidFill>
          <a:ln w="6350">
            <a:solidFill>
              <a:srgbClr val="FBE9EC"/>
            </a:solidFill>
          </a:ln>
        </p:spPr>
        <p:txBody>
          <a:bodyPr wrap="square" lIns="63500" tIns="63500" rIns="63500" bIns="63500" rtlCol="0" anchor="ctr"/>
          <a:lstStyle/>
          <a:p>
            <a:pPr algn="ctr" indent="0" marL="0">
              <a:buNone/>
            </a:pPr>
            <a:r>
              <a:rPr lang="en-US" sz="1300" b="1" dirty="0">
                <a:solidFill>
                  <a:schemeClr val="tx1"/>
                </a:solidFill>
              </a:rPr>
              <a:t>Wallet service</a:t>
            </a:r>
            <a:endParaRPr lang="en-US" sz="1300" dirty="0"/>
          </a:p>
          <a:p>
            <a:pPr algn="ctr" indent="0" marL="0">
              <a:buNone/>
            </a:pPr>
            <a:r>
              <a:rPr lang="en-US" sz="1200" dirty="0">
                <a:solidFill>
                  <a:schemeClr val="tx1"/>
                </a:solidFill>
              </a:rPr>
              <a:t>Rahim stays 2,000</a:t>
            </a:r>
            <a:endParaRPr lang="en-US" sz="1300" dirty="0"/>
          </a:p>
          <a:p>
            <a:pPr algn="ctr" indent="0" marL="0">
              <a:buNone/>
            </a:pPr>
            <a:r>
              <a:rPr lang="en-US" sz="1100" dirty="0">
                <a:solidFill>
                  <a:schemeClr val="accent2"/>
                </a:solidFill>
              </a:rPr>
              <a:t>Crashed, nothing saved</a:t>
            </a:r>
            <a:endParaRPr lang="en-US" sz="1300" dirty="0"/>
          </a:p>
        </p:txBody>
      </p:sp>
      <p:sp>
        <p:nvSpPr>
          <p:cNvPr id="7" name="Text 5"/>
          <p:cNvSpPr txBox="1"/>
          <p:nvPr/>
        </p:nvSpPr>
        <p:spPr>
          <a:xfrm>
            <a:off x="6492240" y="1051560"/>
            <a:ext cx="2194560" cy="640080"/>
          </a:xfrm>
          <a:prstGeom prst="rect">
            <a:avLst/>
          </a:prstGeom>
          <a:noFill/>
          <a:ln/>
        </p:spPr>
        <p:txBody>
          <a:bodyPr wrap="square" lIns="0" tIns="0" rIns="0" bIns="0" rtlCol="0" anchor="t"/>
          <a:lstStyle/>
          <a:p>
            <a:pPr indent="0" marL="0">
              <a:buNone/>
            </a:pPr>
            <a:r>
              <a:rPr lang="en-US" sz="4000" b="1" dirty="0">
                <a:solidFill>
                  <a:schemeClr val="accent3"/>
                </a:solidFill>
                <a:latin typeface="Arial" pitchFamily="34" charset="0"/>
                <a:ea typeface="Arial" pitchFamily="34" charset="-122"/>
                <a:cs typeface="Arial" pitchFamily="34" charset="-120"/>
              </a:rPr>
              <a:t>7,000</a:t>
            </a:r>
            <a:endParaRPr lang="en-US" sz="4000" dirty="0"/>
          </a:p>
        </p:txBody>
      </p:sp>
      <p:sp>
        <p:nvSpPr>
          <p:cNvPr id="8" name="Text 6"/>
          <p:cNvSpPr txBox="1"/>
          <p:nvPr/>
        </p:nvSpPr>
        <p:spPr>
          <a:xfrm>
            <a:off x="6492240" y="1691640"/>
            <a:ext cx="2194560" cy="274320"/>
          </a:xfrm>
          <a:prstGeom prst="rect">
            <a:avLst/>
          </a:prstGeom>
          <a:noFill/>
          <a:ln/>
        </p:spPr>
        <p:txBody>
          <a:bodyPr wrap="square" lIns="0" tIns="0" rIns="0" bIns="0" rtlCol="0" anchor="t"/>
          <a:lstStyle/>
          <a:p>
            <a:pPr indent="0" marL="0">
              <a:buNone/>
            </a:pPr>
            <a:r>
              <a:rPr lang="en-US" sz="1100" dirty="0">
                <a:solidFill>
                  <a:schemeClr val="tx2"/>
                </a:solidFill>
              </a:rPr>
              <a:t>Total before (Tk)</a:t>
            </a:r>
            <a:endParaRPr lang="en-US" sz="1100" dirty="0"/>
          </a:p>
        </p:txBody>
      </p:sp>
      <p:sp>
        <p:nvSpPr>
          <p:cNvPr id="9" name="Text 7"/>
          <p:cNvSpPr txBox="1"/>
          <p:nvPr/>
        </p:nvSpPr>
        <p:spPr>
          <a:xfrm>
            <a:off x="6492240" y="2103120"/>
            <a:ext cx="2194560" cy="640080"/>
          </a:xfrm>
          <a:prstGeom prst="rect">
            <a:avLst/>
          </a:prstGeom>
          <a:noFill/>
          <a:ln/>
        </p:spPr>
        <p:txBody>
          <a:bodyPr wrap="square" lIns="0" tIns="0" rIns="0" bIns="0" rtlCol="0" anchor="t"/>
          <a:lstStyle/>
          <a:p>
            <a:pPr indent="0" marL="0">
              <a:buNone/>
            </a:pPr>
            <a:r>
              <a:rPr lang="en-US" sz="4000" b="1" dirty="0">
                <a:solidFill>
                  <a:schemeClr val="accent2"/>
                </a:solidFill>
                <a:latin typeface="Arial" pitchFamily="34" charset="0"/>
                <a:ea typeface="Arial" pitchFamily="34" charset="-122"/>
                <a:cs typeface="Arial" pitchFamily="34" charset="-120"/>
              </a:rPr>
              <a:t>6,000</a:t>
            </a:r>
            <a:endParaRPr lang="en-US" sz="4000" dirty="0"/>
          </a:p>
        </p:txBody>
      </p:sp>
      <p:sp>
        <p:nvSpPr>
          <p:cNvPr id="10" name="Text 8"/>
          <p:cNvSpPr txBox="1"/>
          <p:nvPr/>
        </p:nvSpPr>
        <p:spPr>
          <a:xfrm>
            <a:off x="6492240" y="2743200"/>
            <a:ext cx="2194560" cy="274320"/>
          </a:xfrm>
          <a:prstGeom prst="rect">
            <a:avLst/>
          </a:prstGeom>
          <a:noFill/>
          <a:ln/>
        </p:spPr>
        <p:txBody>
          <a:bodyPr wrap="square" lIns="0" tIns="0" rIns="0" bIns="0" rtlCol="0" anchor="t"/>
          <a:lstStyle/>
          <a:p>
            <a:pPr indent="0" marL="0">
              <a:buNone/>
            </a:pPr>
            <a:r>
              <a:rPr lang="en-US" sz="1100" dirty="0">
                <a:solidFill>
                  <a:schemeClr val="tx2"/>
                </a:solidFill>
              </a:rPr>
              <a:t>Total after failure (Tk)</a:t>
            </a:r>
            <a:endParaRPr lang="en-US" sz="1100" dirty="0"/>
          </a:p>
        </p:txBody>
      </p:sp>
      <p:sp>
        <p:nvSpPr>
          <p:cNvPr id="11" name="Text 9"/>
          <p:cNvSpPr txBox="1"/>
          <p:nvPr/>
        </p:nvSpPr>
        <p:spPr>
          <a:xfrm>
            <a:off x="457200" y="2606040"/>
            <a:ext cx="3657600" cy="320040"/>
          </a:xfrm>
          <a:prstGeom prst="rect">
            <a:avLst/>
          </a:prstGeom>
          <a:noFill/>
          <a:ln/>
        </p:spPr>
        <p:txBody>
          <a:bodyPr wrap="square" lIns="0" tIns="0" rIns="0" bIns="0" rtlCol="0" anchor="t"/>
          <a:lstStyle/>
          <a:p>
            <a:pPr indent="0" marL="0">
              <a:buNone/>
            </a:pPr>
            <a:r>
              <a:rPr lang="en-US" sz="1600" b="1" dirty="0">
                <a:solidFill>
                  <a:schemeClr val="tx1"/>
                </a:solidFill>
              </a:rPr>
              <a:t>What we need</a:t>
            </a:r>
            <a:endParaRPr lang="en-US" sz="1600" dirty="0"/>
          </a:p>
        </p:txBody>
      </p:sp>
      <p:sp>
        <p:nvSpPr>
          <p:cNvPr id="12" name="Shape 10"/>
          <p:cNvSpPr/>
          <p:nvPr/>
        </p:nvSpPr>
        <p:spPr>
          <a:xfrm>
            <a:off x="457200" y="3063240"/>
            <a:ext cx="1783080" cy="914400"/>
          </a:xfrm>
          <a:prstGeom prst="roundRect">
            <a:avLst>
              <a:gd name="adj" fmla="val 8000"/>
            </a:avLst>
          </a:prstGeom>
          <a:solidFill>
            <a:schemeClr val="bg2"/>
          </a:solidFill>
          <a:ln w="6350">
            <a:solidFill>
              <a:srgbClr val="E1E6EB"/>
            </a:solidFill>
            <a:prstDash val="solid"/>
          </a:ln>
        </p:spPr>
      </p:sp>
      <p:sp>
        <p:nvSpPr>
          <p:cNvPr id="13" name="Text 11"/>
          <p:cNvSpPr txBox="1"/>
          <p:nvPr/>
        </p:nvSpPr>
        <p:spPr>
          <a:xfrm>
            <a:off x="594360" y="3154680"/>
            <a:ext cx="1554480" cy="274320"/>
          </a:xfrm>
          <a:prstGeom prst="rect">
            <a:avLst/>
          </a:prstGeom>
          <a:noFill/>
          <a:ln/>
        </p:spPr>
        <p:txBody>
          <a:bodyPr wrap="square" lIns="0" tIns="0" rIns="0" bIns="0" rtlCol="0" anchor="t"/>
          <a:lstStyle/>
          <a:p>
            <a:pPr indent="0" marL="0">
              <a:buNone/>
            </a:pPr>
            <a:r>
              <a:rPr lang="en-US" sz="1200" dirty="0">
                <a:solidFill>
                  <a:schemeClr val="tx2"/>
                </a:solidFill>
              </a:rPr>
              <a:t>Both succeed</a:t>
            </a:r>
            <a:endParaRPr lang="en-US" sz="1200" dirty="0"/>
          </a:p>
        </p:txBody>
      </p:sp>
      <p:sp>
        <p:nvSpPr>
          <p:cNvPr id="14" name="Text 12"/>
          <p:cNvSpPr txBox="1"/>
          <p:nvPr/>
        </p:nvSpPr>
        <p:spPr>
          <a:xfrm>
            <a:off x="594360" y="3429000"/>
            <a:ext cx="1554480" cy="457200"/>
          </a:xfrm>
          <a:prstGeom prst="rect">
            <a:avLst/>
          </a:prstGeom>
          <a:noFill/>
          <a:ln/>
        </p:spPr>
        <p:txBody>
          <a:bodyPr wrap="square" lIns="0" tIns="0" rIns="0" bIns="0" rtlCol="0" anchor="t"/>
          <a:lstStyle/>
          <a:p>
            <a:pPr indent="0" marL="0">
              <a:buNone/>
            </a:pPr>
            <a:r>
              <a:rPr lang="en-US" sz="1350" b="1" dirty="0">
                <a:solidFill>
                  <a:schemeClr val="tx1"/>
                </a:solidFill>
              </a:rPr>
              <a:t>Both commit</a:t>
            </a:r>
            <a:endParaRPr lang="en-US" sz="1350" dirty="0"/>
          </a:p>
        </p:txBody>
      </p:sp>
      <p:sp>
        <p:nvSpPr>
          <p:cNvPr id="15" name="Shape 13"/>
          <p:cNvSpPr/>
          <p:nvPr/>
        </p:nvSpPr>
        <p:spPr>
          <a:xfrm>
            <a:off x="2423160" y="3063240"/>
            <a:ext cx="1783080" cy="914400"/>
          </a:xfrm>
          <a:prstGeom prst="roundRect">
            <a:avLst>
              <a:gd name="adj" fmla="val 8000"/>
            </a:avLst>
          </a:prstGeom>
          <a:solidFill>
            <a:schemeClr val="bg2"/>
          </a:solidFill>
          <a:ln w="6350">
            <a:solidFill>
              <a:srgbClr val="E1E6EB"/>
            </a:solidFill>
            <a:prstDash val="solid"/>
          </a:ln>
        </p:spPr>
      </p:sp>
      <p:sp>
        <p:nvSpPr>
          <p:cNvPr id="16" name="Text 14"/>
          <p:cNvSpPr txBox="1"/>
          <p:nvPr/>
        </p:nvSpPr>
        <p:spPr>
          <a:xfrm>
            <a:off x="2560320" y="3154680"/>
            <a:ext cx="1554480" cy="274320"/>
          </a:xfrm>
          <a:prstGeom prst="rect">
            <a:avLst/>
          </a:prstGeom>
          <a:noFill/>
          <a:ln/>
        </p:spPr>
        <p:txBody>
          <a:bodyPr wrap="square" lIns="0" tIns="0" rIns="0" bIns="0" rtlCol="0" anchor="t"/>
          <a:lstStyle/>
          <a:p>
            <a:pPr indent="0" marL="0">
              <a:buNone/>
            </a:pPr>
            <a:r>
              <a:rPr lang="en-US" sz="1200" dirty="0">
                <a:solidFill>
                  <a:schemeClr val="tx2"/>
                </a:solidFill>
              </a:rPr>
              <a:t>Either fails</a:t>
            </a:r>
            <a:endParaRPr lang="en-US" sz="1200" dirty="0"/>
          </a:p>
        </p:txBody>
      </p:sp>
      <p:sp>
        <p:nvSpPr>
          <p:cNvPr id="17" name="Text 15"/>
          <p:cNvSpPr txBox="1"/>
          <p:nvPr/>
        </p:nvSpPr>
        <p:spPr>
          <a:xfrm>
            <a:off x="2560320" y="3429000"/>
            <a:ext cx="1554480" cy="457200"/>
          </a:xfrm>
          <a:prstGeom prst="rect">
            <a:avLst/>
          </a:prstGeom>
          <a:noFill/>
          <a:ln/>
        </p:spPr>
        <p:txBody>
          <a:bodyPr wrap="square" lIns="0" tIns="0" rIns="0" bIns="0" rtlCol="0" anchor="t"/>
          <a:lstStyle/>
          <a:p>
            <a:pPr indent="0" marL="0">
              <a:buNone/>
            </a:pPr>
            <a:r>
              <a:rPr lang="en-US" sz="1350" b="1" dirty="0">
                <a:solidFill>
                  <a:schemeClr val="tx1"/>
                </a:solidFill>
              </a:rPr>
              <a:t>Both roll back</a:t>
            </a:r>
            <a:endParaRPr lang="en-US" sz="1350" dirty="0"/>
          </a:p>
        </p:txBody>
      </p:sp>
      <p:sp>
        <p:nvSpPr>
          <p:cNvPr id="18" name="Shape 16"/>
          <p:cNvSpPr/>
          <p:nvPr/>
        </p:nvSpPr>
        <p:spPr>
          <a:xfrm>
            <a:off x="4389120" y="3063240"/>
            <a:ext cx="1783080" cy="914400"/>
          </a:xfrm>
          <a:prstGeom prst="roundRect">
            <a:avLst>
              <a:gd name="adj" fmla="val 8000"/>
            </a:avLst>
          </a:prstGeom>
          <a:solidFill>
            <a:schemeClr val="bg2"/>
          </a:solidFill>
          <a:ln w="6350">
            <a:solidFill>
              <a:srgbClr val="E1E6EB"/>
            </a:solidFill>
            <a:prstDash val="solid"/>
          </a:ln>
        </p:spPr>
      </p:sp>
      <p:sp>
        <p:nvSpPr>
          <p:cNvPr id="19" name="Text 17"/>
          <p:cNvSpPr txBox="1"/>
          <p:nvPr/>
        </p:nvSpPr>
        <p:spPr>
          <a:xfrm>
            <a:off x="4526280" y="3154680"/>
            <a:ext cx="1554480" cy="274320"/>
          </a:xfrm>
          <a:prstGeom prst="rect">
            <a:avLst/>
          </a:prstGeom>
          <a:noFill/>
          <a:ln/>
        </p:spPr>
        <p:txBody>
          <a:bodyPr wrap="square" lIns="0" tIns="0" rIns="0" bIns="0" rtlCol="0" anchor="t"/>
          <a:lstStyle/>
          <a:p>
            <a:pPr indent="0" marL="0">
              <a:buNone/>
            </a:pPr>
            <a:r>
              <a:rPr lang="en-US" sz="1200" dirty="0">
                <a:solidFill>
                  <a:schemeClr val="tx2"/>
                </a:solidFill>
              </a:rPr>
              <a:t>In progress</a:t>
            </a:r>
            <a:endParaRPr lang="en-US" sz="1200" dirty="0"/>
          </a:p>
        </p:txBody>
      </p:sp>
      <p:sp>
        <p:nvSpPr>
          <p:cNvPr id="20" name="Text 18"/>
          <p:cNvSpPr txBox="1"/>
          <p:nvPr/>
        </p:nvSpPr>
        <p:spPr>
          <a:xfrm>
            <a:off x="4526280" y="3429000"/>
            <a:ext cx="1554480" cy="457200"/>
          </a:xfrm>
          <a:prstGeom prst="rect">
            <a:avLst/>
          </a:prstGeom>
          <a:noFill/>
          <a:ln/>
        </p:spPr>
        <p:txBody>
          <a:bodyPr wrap="square" lIns="0" tIns="0" rIns="0" bIns="0" rtlCol="0" anchor="t"/>
          <a:lstStyle/>
          <a:p>
            <a:pPr indent="0" marL="0">
              <a:buNone/>
            </a:pPr>
            <a:r>
              <a:rPr lang="en-US" sz="1350" b="1" dirty="0">
                <a:solidFill>
                  <a:schemeClr val="tx1"/>
                </a:solidFill>
              </a:rPr>
              <a:t>No one sees half-done data</a:t>
            </a:r>
            <a:endParaRPr lang="en-US" sz="1350" dirty="0"/>
          </a:p>
        </p:txBody>
      </p:sp>
      <p:sp>
        <p:nvSpPr>
          <p:cNvPr id="21" name="Text 19"/>
          <p:cNvSpPr txBox="1"/>
          <p:nvPr/>
        </p:nvSpPr>
        <p:spPr>
          <a:xfrm>
            <a:off x="457200" y="4206240"/>
            <a:ext cx="8229600" cy="320040"/>
          </a:xfrm>
          <a:prstGeom prst="rect">
            <a:avLst/>
          </a:prstGeom>
          <a:noFill/>
          <a:ln/>
        </p:spPr>
        <p:txBody>
          <a:bodyPr wrap="square" lIns="0" tIns="0" rIns="0" bIns="0" rtlCol="0" anchor="t"/>
          <a:lstStyle/>
          <a:p>
            <a:pPr indent="0" marL="0">
              <a:buNone/>
            </a:pPr>
            <a:r>
              <a:rPr lang="en-US" sz="1350" i="1" dirty="0">
                <a:solidFill>
                  <a:schemeClr val="accent1"/>
                </a:solidFill>
              </a:rPr>
              <a:t>This is a distributed transaction. Seata coordinates it.</a:t>
            </a:r>
            <a:endParaRPr lang="en-US" sz="135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Two-phase commit: prepare first, then decide together</a:t>
            </a:r>
            <a:endParaRPr lang="en-US" sz="2400" dirty="0"/>
          </a:p>
        </p:txBody>
      </p:sp>
      <p:sp>
        <p:nvSpPr>
          <p:cNvPr id="3" name="Text 1"/>
          <p:cNvSpPr/>
          <p:nvPr/>
        </p:nvSpPr>
        <p:spPr>
          <a:xfrm>
            <a:off x="3200400" y="1051560"/>
            <a:ext cx="2743200" cy="685800"/>
          </a:xfrm>
          <a:prstGeom prst="roundRect">
            <a:avLst>
              <a:gd name="adj" fmla="val 10667"/>
            </a:avLst>
          </a:prstGeom>
          <a:solidFill>
            <a:srgbClr val="ECECFB"/>
          </a:solidFill>
          <a:ln w="6350">
            <a:solidFill>
              <a:srgbClr val="ECECFB"/>
            </a:solidFill>
          </a:ln>
        </p:spPr>
        <p:txBody>
          <a:bodyPr wrap="square" lIns="63500" tIns="63500" rIns="63500" bIns="63500" rtlCol="0" anchor="ctr"/>
          <a:lstStyle/>
          <a:p>
            <a:pPr algn="ctr" indent="0" marL="0">
              <a:buNone/>
            </a:pPr>
            <a:r>
              <a:rPr lang="en-US" sz="1300" b="1" dirty="0">
                <a:solidFill>
                  <a:schemeClr val="tx1"/>
                </a:solidFill>
              </a:rPr>
              <a:t>Coordinator</a:t>
            </a:r>
            <a:endParaRPr lang="en-US" sz="1300" dirty="0"/>
          </a:p>
          <a:p>
            <a:pPr algn="ctr" indent="0" marL="0">
              <a:buNone/>
            </a:pPr>
            <a:r>
              <a:rPr lang="en-US" sz="1150" dirty="0">
                <a:solidFill>
                  <a:schemeClr val="tx2"/>
                </a:solidFill>
              </a:rPr>
              <a:t>Asks everyone, then decides</a:t>
            </a:r>
            <a:endParaRPr lang="en-US" sz="1300" dirty="0"/>
          </a:p>
        </p:txBody>
      </p:sp>
      <p:sp>
        <p:nvSpPr>
          <p:cNvPr id="4" name="Shape 2"/>
          <p:cNvSpPr/>
          <p:nvPr/>
        </p:nvSpPr>
        <p:spPr>
          <a:xfrm>
            <a:off x="457200" y="2011680"/>
            <a:ext cx="3931920" cy="1508760"/>
          </a:xfrm>
          <a:prstGeom prst="roundRect">
            <a:avLst>
              <a:gd name="adj" fmla="val 6061"/>
            </a:avLst>
          </a:prstGeom>
          <a:solidFill>
            <a:schemeClr val="bg2"/>
          </a:solidFill>
          <a:ln w="6350">
            <a:solidFill>
              <a:srgbClr val="E1E6EB"/>
            </a:solidFill>
            <a:prstDash val="solid"/>
          </a:ln>
        </p:spPr>
      </p:sp>
      <p:sp>
        <p:nvSpPr>
          <p:cNvPr id="5" name="Text 3"/>
          <p:cNvSpPr/>
          <p:nvPr/>
        </p:nvSpPr>
        <p:spPr>
          <a:xfrm>
            <a:off x="658368" y="2194560"/>
            <a:ext cx="457200" cy="457200"/>
          </a:xfrm>
          <a:prstGeom prst="ellipse">
            <a:avLst/>
          </a:prstGeom>
          <a:solidFill>
            <a:schemeClr val="accent5"/>
          </a:solidFill>
          <a:ln w="6350">
            <a:solidFill>
              <a:schemeClr val="accent5"/>
            </a:solid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Text 4"/>
          <p:cNvSpPr txBox="1"/>
          <p:nvPr/>
        </p:nvSpPr>
        <p:spPr>
          <a:xfrm>
            <a:off x="1280160" y="2240280"/>
            <a:ext cx="2926080" cy="320040"/>
          </a:xfrm>
          <a:prstGeom prst="rect">
            <a:avLst/>
          </a:prstGeom>
          <a:noFill/>
          <a:ln/>
        </p:spPr>
        <p:txBody>
          <a:bodyPr wrap="square" lIns="0" tIns="0" rIns="0" bIns="0" rtlCol="0" anchor="t"/>
          <a:lstStyle/>
          <a:p>
            <a:pPr indent="0" marL="0">
              <a:buNone/>
            </a:pPr>
            <a:r>
              <a:rPr lang="en-US" sz="1500" b="1" dirty="0">
                <a:solidFill>
                  <a:schemeClr val="tx1"/>
                </a:solidFill>
              </a:rPr>
              <a:t>Prepare (vote)</a:t>
            </a:r>
            <a:endParaRPr lang="en-US" sz="1500" dirty="0"/>
          </a:p>
        </p:txBody>
      </p:sp>
      <p:sp>
        <p:nvSpPr>
          <p:cNvPr id="7" name="Text 5"/>
          <p:cNvSpPr txBox="1"/>
          <p:nvPr/>
        </p:nvSpPr>
        <p:spPr>
          <a:xfrm>
            <a:off x="685800" y="2743200"/>
            <a:ext cx="3520440" cy="685800"/>
          </a:xfrm>
          <a:prstGeom prst="rect">
            <a:avLst/>
          </a:prstGeom>
          <a:noFill/>
          <a:ln/>
        </p:spPr>
        <p:txBody>
          <a:bodyPr wrap="square" lIns="0" tIns="0" rIns="0" bIns="0" rtlCol="0" anchor="t"/>
          <a:lstStyle/>
          <a:p>
            <a:pPr indent="0" marL="0">
              <a:buNone/>
            </a:pPr>
            <a:r>
              <a:rPr lang="en-US" sz="1250" dirty="0">
                <a:solidFill>
                  <a:schemeClr val="tx2"/>
                </a:solidFill>
              </a:rPr>
              <a:t>Each database does its update, locks the rows, but does not commit. Replies: ready or failed.</a:t>
            </a:r>
            <a:endParaRPr lang="en-US" sz="1250" dirty="0"/>
          </a:p>
        </p:txBody>
      </p:sp>
      <p:sp>
        <p:nvSpPr>
          <p:cNvPr id="8" name="Shape 6"/>
          <p:cNvSpPr/>
          <p:nvPr/>
        </p:nvSpPr>
        <p:spPr>
          <a:xfrm>
            <a:off x="4754880" y="2011680"/>
            <a:ext cx="3931920" cy="1508760"/>
          </a:xfrm>
          <a:prstGeom prst="roundRect">
            <a:avLst>
              <a:gd name="adj" fmla="val 6061"/>
            </a:avLst>
          </a:prstGeom>
          <a:solidFill>
            <a:schemeClr val="bg2"/>
          </a:solidFill>
          <a:ln w="6350">
            <a:solidFill>
              <a:srgbClr val="E1E6EB"/>
            </a:solidFill>
            <a:prstDash val="solid"/>
          </a:ln>
        </p:spPr>
      </p:sp>
      <p:sp>
        <p:nvSpPr>
          <p:cNvPr id="9" name="Text 7"/>
          <p:cNvSpPr/>
          <p:nvPr/>
        </p:nvSpPr>
        <p:spPr>
          <a:xfrm>
            <a:off x="4956048" y="2194560"/>
            <a:ext cx="457200" cy="457200"/>
          </a:xfrm>
          <a:prstGeom prst="ellipse">
            <a:avLst/>
          </a:prstGeom>
          <a:solidFill>
            <a:schemeClr val="accent5"/>
          </a:solidFill>
          <a:ln w="6350">
            <a:solidFill>
              <a:schemeClr val="accent5"/>
            </a:solid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0" name="Text 8"/>
          <p:cNvSpPr txBox="1"/>
          <p:nvPr/>
        </p:nvSpPr>
        <p:spPr>
          <a:xfrm>
            <a:off x="5577840" y="2240280"/>
            <a:ext cx="2926080" cy="320040"/>
          </a:xfrm>
          <a:prstGeom prst="rect">
            <a:avLst/>
          </a:prstGeom>
          <a:noFill/>
          <a:ln/>
        </p:spPr>
        <p:txBody>
          <a:bodyPr wrap="square" lIns="0" tIns="0" rIns="0" bIns="0" rtlCol="0" anchor="t"/>
          <a:lstStyle/>
          <a:p>
            <a:pPr indent="0" marL="0">
              <a:buNone/>
            </a:pPr>
            <a:r>
              <a:rPr lang="en-US" sz="1500" b="1" dirty="0">
                <a:solidFill>
                  <a:schemeClr val="tx1"/>
                </a:solidFill>
              </a:rPr>
              <a:t>Decide</a:t>
            </a:r>
            <a:endParaRPr lang="en-US" sz="1500" dirty="0"/>
          </a:p>
        </p:txBody>
      </p:sp>
      <p:sp>
        <p:nvSpPr>
          <p:cNvPr id="11" name="Text 9"/>
          <p:cNvSpPr txBox="1"/>
          <p:nvPr/>
        </p:nvSpPr>
        <p:spPr>
          <a:xfrm>
            <a:off x="4983480" y="2743200"/>
            <a:ext cx="3520440" cy="685800"/>
          </a:xfrm>
          <a:prstGeom prst="rect">
            <a:avLst/>
          </a:prstGeom>
          <a:noFill/>
          <a:ln/>
        </p:spPr>
        <p:txBody>
          <a:bodyPr wrap="square" lIns="0" tIns="0" rIns="0" bIns="0" rtlCol="0" anchor="t"/>
          <a:lstStyle/>
          <a:p>
            <a:pPr indent="0" marL="0">
              <a:buNone/>
            </a:pPr>
            <a:r>
              <a:rPr lang="en-US" sz="1250" b="1" dirty="0">
                <a:solidFill>
                  <a:schemeClr val="accent3"/>
                </a:solidFill>
              </a:rPr>
              <a:t>All ready: </a:t>
            </a:r>
            <a:pPr indent="0" marL="0">
              <a:buNone/>
            </a:pPr>
            <a:r>
              <a:rPr lang="en-US" sz="1250" dirty="0">
                <a:solidFill>
                  <a:schemeClr val="tx2"/>
                </a:solidFill>
              </a:rPr>
              <a:t>COMMIT everyone.</a:t>
            </a:r>
            <a:endParaRPr lang="en-US" sz="1250" dirty="0"/>
          </a:p>
          <a:p>
            <a:pPr indent="0" marL="0">
              <a:buNone/>
            </a:pPr>
            <a:r>
              <a:rPr lang="en-US" sz="1250" b="1" dirty="0">
                <a:solidFill>
                  <a:schemeClr val="accent2"/>
                </a:solidFill>
              </a:rPr>
              <a:t>Any failed: </a:t>
            </a:r>
            <a:pPr indent="0" marL="0">
              <a:buNone/>
            </a:pPr>
            <a:r>
              <a:rPr lang="en-US" sz="1250" dirty="0">
                <a:solidFill>
                  <a:schemeClr val="tx2"/>
                </a:solidFill>
              </a:rPr>
              <a:t>ROLLBACK everyone.</a:t>
            </a:r>
            <a:endParaRPr lang="en-US" sz="1250" dirty="0"/>
          </a:p>
        </p:txBody>
      </p:sp>
      <p:sp>
        <p:nvSpPr>
          <p:cNvPr id="12" name="Shape 10"/>
          <p:cNvSpPr/>
          <p:nvPr/>
        </p:nvSpPr>
        <p:spPr>
          <a:xfrm>
            <a:off x="4434840" y="2761488"/>
            <a:ext cx="274320" cy="0"/>
          </a:xfrm>
          <a:prstGeom prst="line">
            <a:avLst/>
          </a:prstGeom>
          <a:noFill/>
          <a:ln w="15875">
            <a:solidFill>
              <a:schemeClr val="accent6"/>
            </a:solidFill>
            <a:prstDash val="solid"/>
            <a:tailEnd type="triangle"/>
          </a:ln>
        </p:spPr>
      </p:sp>
      <p:sp>
        <p:nvSpPr>
          <p:cNvPr id="13" name="Shape 11"/>
          <p:cNvSpPr/>
          <p:nvPr/>
        </p:nvSpPr>
        <p:spPr>
          <a:xfrm>
            <a:off x="3840480" y="1737360"/>
            <a:ext cx="-731520" cy="256032"/>
          </a:xfrm>
          <a:prstGeom prst="line">
            <a:avLst/>
          </a:prstGeom>
          <a:noFill/>
          <a:ln w="15875">
            <a:solidFill>
              <a:schemeClr val="accent6"/>
            </a:solidFill>
            <a:prstDash val="solid"/>
            <a:tailEnd type="triangle"/>
          </a:ln>
        </p:spPr>
      </p:sp>
      <p:sp>
        <p:nvSpPr>
          <p:cNvPr id="14" name="Shape 12"/>
          <p:cNvSpPr/>
          <p:nvPr/>
        </p:nvSpPr>
        <p:spPr>
          <a:xfrm>
            <a:off x="5303520" y="1737360"/>
            <a:ext cx="731520" cy="256032"/>
          </a:xfrm>
          <a:prstGeom prst="line">
            <a:avLst/>
          </a:prstGeom>
          <a:noFill/>
          <a:ln w="15875">
            <a:solidFill>
              <a:schemeClr val="accent6"/>
            </a:solidFill>
            <a:prstDash val="solid"/>
            <a:tailEnd type="triangle"/>
          </a:ln>
        </p:spPr>
      </p:sp>
      <p:sp>
        <p:nvSpPr>
          <p:cNvPr id="15" name="Shape 13"/>
          <p:cNvSpPr/>
          <p:nvPr/>
        </p:nvSpPr>
        <p:spPr>
          <a:xfrm>
            <a:off x="457200" y="3749040"/>
            <a:ext cx="3931920" cy="822960"/>
          </a:xfrm>
          <a:prstGeom prst="roundRect">
            <a:avLst>
              <a:gd name="adj" fmla="val 11111"/>
            </a:avLst>
          </a:prstGeom>
          <a:solidFill>
            <a:srgbClr val="E3F2F1"/>
          </a:solidFill>
          <a:ln w="6350">
            <a:solidFill>
              <a:srgbClr val="E3F2F1"/>
            </a:solidFill>
            <a:prstDash val="solid"/>
          </a:ln>
        </p:spPr>
      </p:sp>
      <p:sp>
        <p:nvSpPr>
          <p:cNvPr id="16" name="Text 14"/>
          <p:cNvSpPr txBox="1"/>
          <p:nvPr/>
        </p:nvSpPr>
        <p:spPr>
          <a:xfrm>
            <a:off x="640080" y="3813048"/>
            <a:ext cx="3611880" cy="713232"/>
          </a:xfrm>
          <a:prstGeom prst="rect">
            <a:avLst/>
          </a:prstGeom>
          <a:noFill/>
          <a:ln/>
        </p:spPr>
        <p:txBody>
          <a:bodyPr wrap="square" lIns="0" tIns="0" rIns="0" bIns="0" rtlCol="0" anchor="ctr"/>
          <a:lstStyle/>
          <a:p>
            <a:pPr indent="0" marL="0">
              <a:buNone/>
            </a:pPr>
            <a:r>
              <a:rPr lang="en-US" sz="1150" b="1" dirty="0">
                <a:solidFill>
                  <a:schemeClr val="accent1"/>
                </a:solidFill>
              </a:rPr>
              <a:t>Analogy: </a:t>
            </a:r>
            <a:pPr indent="0" marL="0">
              <a:buNone/>
            </a:pPr>
            <a:r>
              <a:rPr lang="en-US" sz="1150" dirty="0">
                <a:solidFill>
                  <a:schemeClr val="tx1"/>
                </a:solidFill>
              </a:rPr>
              <a:t>a wedding. The officiant asks both: do you agree? Both say yes, then it is declared. One no, nothing happens.</a:t>
            </a:r>
            <a:endParaRPr lang="en-US" sz="1150" dirty="0"/>
          </a:p>
        </p:txBody>
      </p:sp>
      <p:sp>
        <p:nvSpPr>
          <p:cNvPr id="17" name="Shape 15"/>
          <p:cNvSpPr/>
          <p:nvPr/>
        </p:nvSpPr>
        <p:spPr>
          <a:xfrm>
            <a:off x="4754880" y="3749040"/>
            <a:ext cx="3931920" cy="822960"/>
          </a:xfrm>
          <a:prstGeom prst="roundRect">
            <a:avLst>
              <a:gd name="adj" fmla="val 11111"/>
            </a:avLst>
          </a:prstGeom>
          <a:solidFill>
            <a:srgbClr val="FDF3E2"/>
          </a:solidFill>
          <a:ln w="6350">
            <a:solidFill>
              <a:srgbClr val="FDF3E2"/>
            </a:solidFill>
            <a:prstDash val="solid"/>
          </a:ln>
        </p:spPr>
      </p:sp>
      <p:sp>
        <p:nvSpPr>
          <p:cNvPr id="18" name="Text 16"/>
          <p:cNvSpPr txBox="1"/>
          <p:nvPr/>
        </p:nvSpPr>
        <p:spPr>
          <a:xfrm>
            <a:off x="4937760" y="3813048"/>
            <a:ext cx="3611880" cy="713232"/>
          </a:xfrm>
          <a:prstGeom prst="rect">
            <a:avLst/>
          </a:prstGeom>
          <a:noFill/>
          <a:ln/>
        </p:spPr>
        <p:txBody>
          <a:bodyPr wrap="square" lIns="0" tIns="0" rIns="0" bIns="0" rtlCol="0" anchor="ctr"/>
          <a:lstStyle/>
          <a:p>
            <a:pPr indent="0" marL="0">
              <a:buNone/>
            </a:pPr>
            <a:r>
              <a:rPr lang="en-US" sz="1150" b="1" dirty="0">
                <a:solidFill>
                  <a:schemeClr val="accent4"/>
                </a:solidFill>
              </a:rPr>
              <a:t>Cost: </a:t>
            </a:r>
            <a:pPr indent="0" marL="0">
              <a:buNone/>
            </a:pPr>
            <a:r>
              <a:rPr lang="en-US" sz="1150" dirty="0">
                <a:solidFill>
                  <a:schemeClr val="tx1"/>
                </a:solidFill>
              </a:rPr>
              <a:t>rows stay locked from phase 1 until phase 2. Safer, but slower under high traffic.</a:t>
            </a:r>
            <a:endParaRPr lang="en-US" sz="115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Seata's three roles: TM, TC, RM</a:t>
            </a:r>
            <a:endParaRPr lang="en-US" sz="2400" dirty="0"/>
          </a:p>
        </p:txBody>
      </p:sp>
      <p:sp>
        <p:nvSpPr>
          <p:cNvPr id="3" name="Shape 1"/>
          <p:cNvSpPr/>
          <p:nvPr/>
        </p:nvSpPr>
        <p:spPr>
          <a:xfrm>
            <a:off x="457200" y="1097280"/>
            <a:ext cx="2606040" cy="2743200"/>
          </a:xfrm>
          <a:prstGeom prst="roundRect">
            <a:avLst>
              <a:gd name="adj" fmla="val 3509"/>
            </a:avLst>
          </a:prstGeom>
          <a:solidFill>
            <a:srgbClr val="E3F2F1"/>
          </a:solidFill>
          <a:ln w="6350">
            <a:solidFill>
              <a:srgbClr val="E3F2F1"/>
            </a:solidFill>
            <a:prstDash val="solid"/>
          </a:ln>
        </p:spPr>
      </p:sp>
      <p:sp>
        <p:nvSpPr>
          <p:cNvPr id="4" name="Text 2"/>
          <p:cNvSpPr/>
          <p:nvPr/>
        </p:nvSpPr>
        <p:spPr>
          <a:xfrm>
            <a:off x="685800" y="1280160"/>
            <a:ext cx="594360" cy="594360"/>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600" b="1" dirty="0">
                <a:solidFill>
                  <a:schemeClr val="bg1"/>
                </a:solidFill>
              </a:rPr>
              <a:t>TM</a:t>
            </a:r>
            <a:endParaRPr lang="en-US" sz="1600" dirty="0"/>
          </a:p>
        </p:txBody>
      </p:sp>
      <p:sp>
        <p:nvSpPr>
          <p:cNvPr id="5" name="Text 3"/>
          <p:cNvSpPr txBox="1"/>
          <p:nvPr/>
        </p:nvSpPr>
        <p:spPr>
          <a:xfrm>
            <a:off x="1417320" y="1371600"/>
            <a:ext cx="1600200" cy="411480"/>
          </a:xfrm>
          <a:prstGeom prst="rect">
            <a:avLst/>
          </a:prstGeom>
          <a:noFill/>
          <a:ln/>
        </p:spPr>
        <p:txBody>
          <a:bodyPr wrap="square" lIns="0" tIns="0" rIns="0" bIns="0" rtlCol="0" anchor="t"/>
          <a:lstStyle/>
          <a:p>
            <a:pPr indent="0" marL="0">
              <a:buNone/>
            </a:pPr>
            <a:r>
              <a:rPr lang="en-US" sz="1200" b="1" dirty="0">
                <a:solidFill>
                  <a:schemeClr val="accent1"/>
                </a:solidFill>
              </a:rPr>
              <a:t>Transaction Manager</a:t>
            </a:r>
            <a:endParaRPr lang="en-US" sz="1200" dirty="0"/>
          </a:p>
        </p:txBody>
      </p:sp>
      <p:sp>
        <p:nvSpPr>
          <p:cNvPr id="6" name="Text 4"/>
          <p:cNvSpPr txBox="1"/>
          <p:nvPr/>
        </p:nvSpPr>
        <p:spPr>
          <a:xfrm>
            <a:off x="685800" y="2011680"/>
            <a:ext cx="2194560" cy="292608"/>
          </a:xfrm>
          <a:prstGeom prst="rect">
            <a:avLst/>
          </a:prstGeom>
          <a:noFill/>
          <a:ln/>
        </p:spPr>
        <p:txBody>
          <a:bodyPr wrap="square" lIns="0" tIns="0" rIns="0" bIns="0" rtlCol="0" anchor="t"/>
          <a:lstStyle/>
          <a:p>
            <a:pPr indent="0" marL="0">
              <a:buNone/>
            </a:pPr>
            <a:r>
              <a:rPr lang="en-US" sz="1450" b="1" dirty="0">
                <a:solidFill>
                  <a:schemeClr val="tx1"/>
                </a:solidFill>
              </a:rPr>
              <a:t>Order service</a:t>
            </a:r>
            <a:endParaRPr lang="en-US" sz="1450" dirty="0"/>
          </a:p>
        </p:txBody>
      </p:sp>
      <p:sp>
        <p:nvSpPr>
          <p:cNvPr id="7" name="Text 5"/>
          <p:cNvSpPr txBox="1"/>
          <p:nvPr/>
        </p:nvSpPr>
        <p:spPr>
          <a:xfrm>
            <a:off x="685800" y="2359152"/>
            <a:ext cx="2194560" cy="685800"/>
          </a:xfrm>
          <a:prstGeom prst="rect">
            <a:avLst/>
          </a:prstGeom>
          <a:noFill/>
          <a:ln/>
        </p:spPr>
        <p:txBody>
          <a:bodyPr wrap="square" lIns="0" tIns="0" rIns="0" bIns="0" rtlCol="0" anchor="t"/>
          <a:lstStyle/>
          <a:p>
            <a:pPr indent="0" marL="0">
              <a:buNone/>
            </a:pPr>
            <a:r>
              <a:rPr lang="en-US" sz="1200" dirty="0">
                <a:solidFill>
                  <a:schemeClr val="tx2"/>
                </a:solidFill>
              </a:rPr>
              <a:t>Starts and ends the global transaction with @GlobalTransactional</a:t>
            </a:r>
            <a:endParaRPr lang="en-US" sz="1200" dirty="0"/>
          </a:p>
        </p:txBody>
      </p:sp>
      <p:sp>
        <p:nvSpPr>
          <p:cNvPr id="8" name="Text 6"/>
          <p:cNvSpPr txBox="1"/>
          <p:nvPr/>
        </p:nvSpPr>
        <p:spPr>
          <a:xfrm>
            <a:off x="685800" y="3246120"/>
            <a:ext cx="2194560" cy="457200"/>
          </a:xfrm>
          <a:prstGeom prst="rect">
            <a:avLst/>
          </a:prstGeom>
          <a:noFill/>
          <a:ln/>
        </p:spPr>
        <p:txBody>
          <a:bodyPr wrap="square" lIns="0" tIns="0" rIns="0" bIns="0" rtlCol="0" anchor="t"/>
          <a:lstStyle/>
          <a:p>
            <a:pPr indent="0" marL="0">
              <a:buNone/>
            </a:pPr>
            <a:r>
              <a:rPr lang="en-US" sz="1150" i="1" dirty="0">
                <a:solidFill>
                  <a:schemeClr val="accent1"/>
                </a:solidFill>
              </a:rPr>
              <a:t>Trip: Rafi decides book or cancel</a:t>
            </a:r>
            <a:endParaRPr lang="en-US" sz="1150" dirty="0"/>
          </a:p>
        </p:txBody>
      </p:sp>
      <p:sp>
        <p:nvSpPr>
          <p:cNvPr id="9" name="Shape 7"/>
          <p:cNvSpPr/>
          <p:nvPr/>
        </p:nvSpPr>
        <p:spPr>
          <a:xfrm>
            <a:off x="3268980" y="1097280"/>
            <a:ext cx="2606040" cy="2743200"/>
          </a:xfrm>
          <a:prstGeom prst="roundRect">
            <a:avLst>
              <a:gd name="adj" fmla="val 3509"/>
            </a:avLst>
          </a:prstGeom>
          <a:solidFill>
            <a:srgbClr val="ECECFB"/>
          </a:solidFill>
          <a:ln w="6350">
            <a:solidFill>
              <a:srgbClr val="ECECFB"/>
            </a:solidFill>
            <a:prstDash val="solid"/>
          </a:ln>
        </p:spPr>
      </p:sp>
      <p:sp>
        <p:nvSpPr>
          <p:cNvPr id="10" name="Text 8"/>
          <p:cNvSpPr/>
          <p:nvPr/>
        </p:nvSpPr>
        <p:spPr>
          <a:xfrm>
            <a:off x="3497580" y="1280160"/>
            <a:ext cx="594360" cy="594360"/>
          </a:xfrm>
          <a:prstGeom prst="ellipse">
            <a:avLst/>
          </a:prstGeom>
          <a:solidFill>
            <a:schemeClr val="accent5"/>
          </a:solidFill>
          <a:ln w="6350">
            <a:solidFill>
              <a:schemeClr val="accent5"/>
            </a:solidFill>
          </a:ln>
        </p:spPr>
        <p:txBody>
          <a:bodyPr wrap="square" lIns="0" tIns="0" rIns="0" bIns="0" rtlCol="0" anchor="ctr"/>
          <a:lstStyle/>
          <a:p>
            <a:pPr algn="ctr" indent="0" marL="0">
              <a:buNone/>
            </a:pPr>
            <a:r>
              <a:rPr lang="en-US" sz="1600" b="1" dirty="0">
                <a:solidFill>
                  <a:schemeClr val="bg1"/>
                </a:solidFill>
              </a:rPr>
              <a:t>TC</a:t>
            </a:r>
            <a:endParaRPr lang="en-US" sz="1600" dirty="0"/>
          </a:p>
        </p:txBody>
      </p:sp>
      <p:sp>
        <p:nvSpPr>
          <p:cNvPr id="11" name="Text 9"/>
          <p:cNvSpPr txBox="1"/>
          <p:nvPr/>
        </p:nvSpPr>
        <p:spPr>
          <a:xfrm>
            <a:off x="4229100" y="1371600"/>
            <a:ext cx="1600200" cy="411480"/>
          </a:xfrm>
          <a:prstGeom prst="rect">
            <a:avLst/>
          </a:prstGeom>
          <a:noFill/>
          <a:ln/>
        </p:spPr>
        <p:txBody>
          <a:bodyPr wrap="square" lIns="0" tIns="0" rIns="0" bIns="0" rtlCol="0" anchor="t"/>
          <a:lstStyle/>
          <a:p>
            <a:pPr indent="0" marL="0">
              <a:buNone/>
            </a:pPr>
            <a:r>
              <a:rPr lang="en-US" sz="1200" b="1" dirty="0">
                <a:solidFill>
                  <a:schemeClr val="accent5"/>
                </a:solidFill>
              </a:rPr>
              <a:t>Transaction Coordinator</a:t>
            </a:r>
            <a:endParaRPr lang="en-US" sz="1200" dirty="0"/>
          </a:p>
        </p:txBody>
      </p:sp>
      <p:sp>
        <p:nvSpPr>
          <p:cNvPr id="12" name="Text 10"/>
          <p:cNvSpPr txBox="1"/>
          <p:nvPr/>
        </p:nvSpPr>
        <p:spPr>
          <a:xfrm>
            <a:off x="3497580" y="2011680"/>
            <a:ext cx="2194560" cy="292608"/>
          </a:xfrm>
          <a:prstGeom prst="rect">
            <a:avLst/>
          </a:prstGeom>
          <a:noFill/>
          <a:ln/>
        </p:spPr>
        <p:txBody>
          <a:bodyPr wrap="square" lIns="0" tIns="0" rIns="0" bIns="0" rtlCol="0" anchor="t"/>
          <a:lstStyle/>
          <a:p>
            <a:pPr indent="0" marL="0">
              <a:buNone/>
            </a:pPr>
            <a:r>
              <a:rPr lang="en-US" sz="1450" b="1" dirty="0">
                <a:solidFill>
                  <a:schemeClr val="tx1"/>
                </a:solidFill>
              </a:rPr>
              <a:t>Seata server (Docker)</a:t>
            </a:r>
            <a:endParaRPr lang="en-US" sz="1450" dirty="0"/>
          </a:p>
        </p:txBody>
      </p:sp>
      <p:sp>
        <p:nvSpPr>
          <p:cNvPr id="13" name="Text 11"/>
          <p:cNvSpPr txBox="1"/>
          <p:nvPr/>
        </p:nvSpPr>
        <p:spPr>
          <a:xfrm>
            <a:off x="3497580" y="2359152"/>
            <a:ext cx="2194560" cy="685800"/>
          </a:xfrm>
          <a:prstGeom prst="rect">
            <a:avLst/>
          </a:prstGeom>
          <a:noFill/>
          <a:ln/>
        </p:spPr>
        <p:txBody>
          <a:bodyPr wrap="square" lIns="0" tIns="0" rIns="0" bIns="0" rtlCol="0" anchor="t"/>
          <a:lstStyle/>
          <a:p>
            <a:pPr indent="0" marL="0">
              <a:buNone/>
            </a:pPr>
            <a:r>
              <a:rPr lang="en-US" sz="1200" dirty="0">
                <a:solidFill>
                  <a:schemeClr val="tx2"/>
                </a:solidFill>
              </a:rPr>
              <a:t>Keeps status of every branch, orders commit or rollback</a:t>
            </a:r>
            <a:endParaRPr lang="en-US" sz="1200" dirty="0"/>
          </a:p>
        </p:txBody>
      </p:sp>
      <p:sp>
        <p:nvSpPr>
          <p:cNvPr id="14" name="Text 12"/>
          <p:cNvSpPr txBox="1"/>
          <p:nvPr/>
        </p:nvSpPr>
        <p:spPr>
          <a:xfrm>
            <a:off x="3497580" y="3246120"/>
            <a:ext cx="2194560" cy="457200"/>
          </a:xfrm>
          <a:prstGeom prst="rect">
            <a:avLst/>
          </a:prstGeom>
          <a:noFill/>
          <a:ln/>
        </p:spPr>
        <p:txBody>
          <a:bodyPr wrap="square" lIns="0" tIns="0" rIns="0" bIns="0" rtlCol="0" anchor="t"/>
          <a:lstStyle/>
          <a:p>
            <a:pPr indent="0" marL="0">
              <a:buNone/>
            </a:pPr>
            <a:r>
              <a:rPr lang="en-US" sz="1150" i="1" dirty="0">
                <a:solidFill>
                  <a:schemeClr val="accent5"/>
                </a:solidFill>
              </a:rPr>
              <a:t>Trip: the travel agent with one file</a:t>
            </a:r>
            <a:endParaRPr lang="en-US" sz="1150" dirty="0"/>
          </a:p>
        </p:txBody>
      </p:sp>
      <p:sp>
        <p:nvSpPr>
          <p:cNvPr id="15" name="Shape 13"/>
          <p:cNvSpPr/>
          <p:nvPr/>
        </p:nvSpPr>
        <p:spPr>
          <a:xfrm>
            <a:off x="6080760" y="1097280"/>
            <a:ext cx="2606040" cy="2743200"/>
          </a:xfrm>
          <a:prstGeom prst="roundRect">
            <a:avLst>
              <a:gd name="adj" fmla="val 3509"/>
            </a:avLst>
          </a:prstGeom>
          <a:solidFill>
            <a:srgbClr val="E3F2F1"/>
          </a:solidFill>
          <a:ln w="6350">
            <a:solidFill>
              <a:srgbClr val="E3F2F1"/>
            </a:solidFill>
            <a:prstDash val="solid"/>
          </a:ln>
        </p:spPr>
      </p:sp>
      <p:sp>
        <p:nvSpPr>
          <p:cNvPr id="16" name="Text 14"/>
          <p:cNvSpPr/>
          <p:nvPr/>
        </p:nvSpPr>
        <p:spPr>
          <a:xfrm>
            <a:off x="6309360" y="1280160"/>
            <a:ext cx="594360" cy="594360"/>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600" b="1" dirty="0">
                <a:solidFill>
                  <a:schemeClr val="bg1"/>
                </a:solidFill>
              </a:rPr>
              <a:t>RM</a:t>
            </a:r>
            <a:endParaRPr lang="en-US" sz="1600" dirty="0"/>
          </a:p>
        </p:txBody>
      </p:sp>
      <p:sp>
        <p:nvSpPr>
          <p:cNvPr id="17" name="Text 15"/>
          <p:cNvSpPr txBox="1"/>
          <p:nvPr/>
        </p:nvSpPr>
        <p:spPr>
          <a:xfrm>
            <a:off x="7040880" y="1371600"/>
            <a:ext cx="1600200" cy="411480"/>
          </a:xfrm>
          <a:prstGeom prst="rect">
            <a:avLst/>
          </a:prstGeom>
          <a:noFill/>
          <a:ln/>
        </p:spPr>
        <p:txBody>
          <a:bodyPr wrap="square" lIns="0" tIns="0" rIns="0" bIns="0" rtlCol="0" anchor="t"/>
          <a:lstStyle/>
          <a:p>
            <a:pPr indent="0" marL="0">
              <a:buNone/>
            </a:pPr>
            <a:r>
              <a:rPr lang="en-US" sz="1200" b="1" dirty="0">
                <a:solidFill>
                  <a:schemeClr val="accent1"/>
                </a:solidFill>
              </a:rPr>
              <a:t>Resource Manager</a:t>
            </a:r>
            <a:endParaRPr lang="en-US" sz="1200" dirty="0"/>
          </a:p>
        </p:txBody>
      </p:sp>
      <p:sp>
        <p:nvSpPr>
          <p:cNvPr id="18" name="Text 16"/>
          <p:cNvSpPr txBox="1"/>
          <p:nvPr/>
        </p:nvSpPr>
        <p:spPr>
          <a:xfrm>
            <a:off x="6309360" y="2011680"/>
            <a:ext cx="2194560" cy="292608"/>
          </a:xfrm>
          <a:prstGeom prst="rect">
            <a:avLst/>
          </a:prstGeom>
          <a:noFill/>
          <a:ln/>
        </p:spPr>
        <p:txBody>
          <a:bodyPr wrap="square" lIns="0" tIns="0" rIns="0" bIns="0" rtlCol="0" anchor="t"/>
          <a:lstStyle/>
          <a:p>
            <a:pPr indent="0" marL="0">
              <a:buNone/>
            </a:pPr>
            <a:r>
              <a:rPr lang="en-US" sz="1450" b="1" dirty="0">
                <a:solidFill>
                  <a:schemeClr val="tx1"/>
                </a:solidFill>
              </a:rPr>
              <a:t>Payment, Inventory</a:t>
            </a:r>
            <a:endParaRPr lang="en-US" sz="1450" dirty="0"/>
          </a:p>
        </p:txBody>
      </p:sp>
      <p:sp>
        <p:nvSpPr>
          <p:cNvPr id="19" name="Text 17"/>
          <p:cNvSpPr txBox="1"/>
          <p:nvPr/>
        </p:nvSpPr>
        <p:spPr>
          <a:xfrm>
            <a:off x="6309360" y="2359152"/>
            <a:ext cx="2194560" cy="685800"/>
          </a:xfrm>
          <a:prstGeom prst="rect">
            <a:avLst/>
          </a:prstGeom>
          <a:noFill/>
          <a:ln/>
        </p:spPr>
        <p:txBody>
          <a:bodyPr wrap="square" lIns="0" tIns="0" rIns="0" bIns="0" rtlCol="0" anchor="t"/>
          <a:lstStyle/>
          <a:p>
            <a:pPr indent="0" marL="0">
              <a:buNone/>
            </a:pPr>
            <a:r>
              <a:rPr lang="en-US" sz="1200" dirty="0">
                <a:solidFill>
                  <a:schemeClr val="tx2"/>
                </a:solidFill>
              </a:rPr>
              <a:t>Manages its own local DB branch, obeys TC</a:t>
            </a:r>
            <a:endParaRPr lang="en-US" sz="1200" dirty="0"/>
          </a:p>
        </p:txBody>
      </p:sp>
      <p:sp>
        <p:nvSpPr>
          <p:cNvPr id="20" name="Text 18"/>
          <p:cNvSpPr txBox="1"/>
          <p:nvPr/>
        </p:nvSpPr>
        <p:spPr>
          <a:xfrm>
            <a:off x="6309360" y="3246120"/>
            <a:ext cx="2194560" cy="457200"/>
          </a:xfrm>
          <a:prstGeom prst="rect">
            <a:avLst/>
          </a:prstGeom>
          <a:noFill/>
          <a:ln/>
        </p:spPr>
        <p:txBody>
          <a:bodyPr wrap="square" lIns="0" tIns="0" rIns="0" bIns="0" rtlCol="0" anchor="t"/>
          <a:lstStyle/>
          <a:p>
            <a:pPr indent="0" marL="0">
              <a:buNone/>
            </a:pPr>
            <a:r>
              <a:rPr lang="en-US" sz="1150" i="1" dirty="0">
                <a:solidFill>
                  <a:schemeClr val="accent1"/>
                </a:solidFill>
              </a:rPr>
              <a:t>Trip: bus counter and hotel desk</a:t>
            </a:r>
            <a:endParaRPr lang="en-US" sz="1150" dirty="0"/>
          </a:p>
        </p:txBody>
      </p:sp>
      <p:sp>
        <p:nvSpPr>
          <p:cNvPr id="21" name="Shape 19"/>
          <p:cNvSpPr/>
          <p:nvPr/>
        </p:nvSpPr>
        <p:spPr>
          <a:xfrm>
            <a:off x="457200" y="4023360"/>
            <a:ext cx="8229600" cy="548640"/>
          </a:xfrm>
          <a:prstGeom prst="roundRect">
            <a:avLst>
              <a:gd name="adj" fmla="val 16667"/>
            </a:avLst>
          </a:prstGeom>
          <a:solidFill>
            <a:schemeClr val="bg2"/>
          </a:solidFill>
          <a:ln w="6350">
            <a:solidFill>
              <a:srgbClr val="E1E6EB"/>
            </a:solidFill>
            <a:prstDash val="solid"/>
          </a:ln>
        </p:spPr>
      </p:sp>
      <p:sp>
        <p:nvSpPr>
          <p:cNvPr id="22" name="Text 20"/>
          <p:cNvSpPr txBox="1"/>
          <p:nvPr/>
        </p:nvSpPr>
        <p:spPr>
          <a:xfrm>
            <a:off x="685800" y="4069080"/>
            <a:ext cx="7772400" cy="457200"/>
          </a:xfrm>
          <a:prstGeom prst="rect">
            <a:avLst/>
          </a:prstGeom>
          <a:noFill/>
          <a:ln/>
        </p:spPr>
        <p:txBody>
          <a:bodyPr wrap="square" lIns="0" tIns="0" rIns="0" bIns="0" rtlCol="0" anchor="ctr"/>
          <a:lstStyle/>
          <a:p>
            <a:pPr indent="0" marL="0">
              <a:buNone/>
            </a:pPr>
            <a:r>
              <a:rPr lang="en-US" sz="1300" b="1" dirty="0">
                <a:solidFill>
                  <a:schemeClr val="accent1"/>
                </a:solidFill>
              </a:rPr>
              <a:t>Key point: </a:t>
            </a:r>
            <a:pPr indent="0" marL="0">
              <a:buNone/>
            </a:pPr>
            <a:r>
              <a:rPr lang="en-US" sz="1300" dirty="0">
                <a:solidFill>
                  <a:schemeClr val="tx1"/>
                </a:solidFill>
              </a:rPr>
              <a:t>only TC is a separate server. TM and RM live inside your Spring Boot services through the Seata client.</a:t>
            </a:r>
            <a:endParaRPr lang="en-US" sz="13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Our architecture: who plays which role</a:t>
            </a:r>
            <a:endParaRPr lang="en-US" sz="2400" dirty="0"/>
          </a:p>
        </p:txBody>
      </p:sp>
      <p:sp>
        <p:nvSpPr>
          <p:cNvPr id="3" name="Text 1"/>
          <p:cNvSpPr/>
          <p:nvPr/>
        </p:nvSpPr>
        <p:spPr>
          <a:xfrm>
            <a:off x="3429000" y="1051560"/>
            <a:ext cx="2286000" cy="640080"/>
          </a:xfrm>
          <a:prstGeom prst="roundRect">
            <a:avLst>
              <a:gd name="adj" fmla="val 11429"/>
            </a:avLst>
          </a:prstGeom>
          <a:solidFill>
            <a:srgbClr val="E3F2F1"/>
          </a:solidFill>
          <a:ln w="9525">
            <a:solidFill>
              <a:schemeClr val="accent1"/>
            </a:solidFill>
          </a:ln>
        </p:spPr>
        <p:txBody>
          <a:bodyPr wrap="square" lIns="63500" tIns="63500" rIns="63500" bIns="63500" rtlCol="0" anchor="ctr"/>
          <a:lstStyle/>
          <a:p>
            <a:pPr algn="ctr" indent="0" marL="0">
              <a:buNone/>
            </a:pPr>
            <a:r>
              <a:rPr lang="en-US" sz="1300" b="1" dirty="0">
                <a:solidFill>
                  <a:schemeClr val="tx1"/>
                </a:solidFill>
              </a:rPr>
              <a:t>Order service</a:t>
            </a:r>
            <a:endParaRPr lang="en-US" sz="1300" dirty="0"/>
          </a:p>
          <a:p>
            <a:pPr algn="ctr" indent="0" marL="0">
              <a:buNone/>
            </a:pPr>
            <a:r>
              <a:rPr lang="en-US" sz="1100" dirty="0">
                <a:solidFill>
                  <a:schemeClr val="tx2"/>
                </a:solidFill>
              </a:rPr>
              <a:t>TM: starts global tx</a:t>
            </a:r>
            <a:endParaRPr lang="en-US" sz="1300" dirty="0"/>
          </a:p>
        </p:txBody>
      </p:sp>
      <p:sp>
        <p:nvSpPr>
          <p:cNvPr id="4" name="Text 2"/>
          <p:cNvSpPr/>
          <p:nvPr/>
        </p:nvSpPr>
        <p:spPr>
          <a:xfrm>
            <a:off x="914400" y="2148840"/>
            <a:ext cx="2377440" cy="594360"/>
          </a:xfrm>
          <a:prstGeom prst="roundRect">
            <a:avLst>
              <a:gd name="adj" fmla="val 12308"/>
            </a:avLst>
          </a:prstGeom>
          <a:solidFill>
            <a:srgbClr val="E3F2F1"/>
          </a:solidFill>
          <a:ln w="9525">
            <a:solidFill>
              <a:schemeClr val="accent1"/>
            </a:solidFill>
          </a:ln>
        </p:spPr>
        <p:txBody>
          <a:bodyPr wrap="square" lIns="63500" tIns="63500" rIns="63500" bIns="63500" rtlCol="0" anchor="ctr"/>
          <a:lstStyle/>
          <a:p>
            <a:pPr algn="ctr" indent="0" marL="0">
              <a:buNone/>
            </a:pPr>
            <a:r>
              <a:rPr lang="en-US" sz="1300" b="1" dirty="0">
                <a:solidFill>
                  <a:schemeClr val="tx1"/>
                </a:solidFill>
              </a:rPr>
              <a:t>Payment service</a:t>
            </a:r>
            <a:endParaRPr lang="en-US" sz="1300" dirty="0"/>
          </a:p>
          <a:p>
            <a:pPr algn="ctr" indent="0" marL="0">
              <a:buNone/>
            </a:pPr>
            <a:r>
              <a:rPr lang="en-US" sz="1100" dirty="0">
                <a:solidFill>
                  <a:schemeClr val="tx2"/>
                </a:solidFill>
              </a:rPr>
              <a:t>RM via Seata client</a:t>
            </a:r>
            <a:endParaRPr lang="en-US" sz="1300" dirty="0"/>
          </a:p>
        </p:txBody>
      </p:sp>
      <p:sp>
        <p:nvSpPr>
          <p:cNvPr id="5" name="Text 3"/>
          <p:cNvSpPr/>
          <p:nvPr/>
        </p:nvSpPr>
        <p:spPr>
          <a:xfrm>
            <a:off x="5852160" y="2148840"/>
            <a:ext cx="2377440" cy="594360"/>
          </a:xfrm>
          <a:prstGeom prst="roundRect">
            <a:avLst>
              <a:gd name="adj" fmla="val 12308"/>
            </a:avLst>
          </a:prstGeom>
          <a:solidFill>
            <a:srgbClr val="E3F2F1"/>
          </a:solidFill>
          <a:ln w="9525">
            <a:solidFill>
              <a:schemeClr val="accent1"/>
            </a:solidFill>
          </a:ln>
        </p:spPr>
        <p:txBody>
          <a:bodyPr wrap="square" lIns="63500" tIns="63500" rIns="63500" bIns="63500" rtlCol="0" anchor="ctr"/>
          <a:lstStyle/>
          <a:p>
            <a:pPr algn="ctr" indent="0" marL="0">
              <a:buNone/>
            </a:pPr>
            <a:r>
              <a:rPr lang="en-US" sz="1300" b="1" dirty="0">
                <a:solidFill>
                  <a:schemeClr val="tx1"/>
                </a:solidFill>
              </a:rPr>
              <a:t>Inventory service</a:t>
            </a:r>
            <a:endParaRPr lang="en-US" sz="1300" dirty="0"/>
          </a:p>
          <a:p>
            <a:pPr algn="ctr" indent="0" marL="0">
              <a:buNone/>
            </a:pPr>
            <a:r>
              <a:rPr lang="en-US" sz="1100" dirty="0">
                <a:solidFill>
                  <a:schemeClr val="tx2"/>
                </a:solidFill>
              </a:rPr>
              <a:t>RM via Seata client</a:t>
            </a:r>
            <a:endParaRPr lang="en-US" sz="1300" dirty="0"/>
          </a:p>
        </p:txBody>
      </p:sp>
      <p:sp>
        <p:nvSpPr>
          <p:cNvPr id="6" name="Text 4"/>
          <p:cNvSpPr/>
          <p:nvPr/>
        </p:nvSpPr>
        <p:spPr>
          <a:xfrm>
            <a:off x="1417320" y="3017520"/>
            <a:ext cx="1371600" cy="411480"/>
          </a:xfrm>
          <a:prstGeom prst="roundRect">
            <a:avLst>
              <a:gd name="adj" fmla="val 17778"/>
            </a:avLst>
          </a:prstGeom>
          <a:solidFill>
            <a:schemeClr val="bg2"/>
          </a:solidFill>
          <a:ln w="9525">
            <a:solidFill>
              <a:srgbClr val="D5DCE3"/>
            </a:solidFill>
          </a:ln>
        </p:spPr>
        <p:txBody>
          <a:bodyPr wrap="square" lIns="63500" tIns="63500" rIns="63500" bIns="63500" rtlCol="0" anchor="ctr"/>
          <a:lstStyle/>
          <a:p>
            <a:pPr algn="ctr" indent="0" marL="0">
              <a:buNone/>
            </a:pPr>
            <a:r>
              <a:rPr lang="en-US" sz="1200" dirty="0">
                <a:solidFill>
                  <a:schemeClr val="tx1"/>
                </a:solidFill>
              </a:rPr>
              <a:t>Payment DB</a:t>
            </a:r>
            <a:endParaRPr lang="en-US" sz="1200" dirty="0"/>
          </a:p>
        </p:txBody>
      </p:sp>
      <p:sp>
        <p:nvSpPr>
          <p:cNvPr id="7" name="Text 5"/>
          <p:cNvSpPr/>
          <p:nvPr/>
        </p:nvSpPr>
        <p:spPr>
          <a:xfrm>
            <a:off x="6355080" y="3017520"/>
            <a:ext cx="1371600" cy="411480"/>
          </a:xfrm>
          <a:prstGeom prst="roundRect">
            <a:avLst>
              <a:gd name="adj" fmla="val 17778"/>
            </a:avLst>
          </a:prstGeom>
          <a:solidFill>
            <a:schemeClr val="bg2"/>
          </a:solidFill>
          <a:ln w="9525">
            <a:solidFill>
              <a:srgbClr val="D5DCE3"/>
            </a:solidFill>
          </a:ln>
        </p:spPr>
        <p:txBody>
          <a:bodyPr wrap="square" lIns="63500" tIns="63500" rIns="63500" bIns="63500" rtlCol="0" anchor="ctr"/>
          <a:lstStyle/>
          <a:p>
            <a:pPr algn="ctr" indent="0" marL="0">
              <a:buNone/>
            </a:pPr>
            <a:r>
              <a:rPr lang="en-US" sz="1200" dirty="0">
                <a:solidFill>
                  <a:schemeClr val="tx1"/>
                </a:solidFill>
              </a:rPr>
              <a:t>Inventory DB</a:t>
            </a:r>
            <a:endParaRPr lang="en-US" sz="1200" dirty="0"/>
          </a:p>
        </p:txBody>
      </p:sp>
      <p:sp>
        <p:nvSpPr>
          <p:cNvPr id="8" name="Text 6"/>
          <p:cNvSpPr/>
          <p:nvPr/>
        </p:nvSpPr>
        <p:spPr>
          <a:xfrm>
            <a:off x="914400" y="3794760"/>
            <a:ext cx="7315200" cy="502920"/>
          </a:xfrm>
          <a:prstGeom prst="roundRect">
            <a:avLst>
              <a:gd name="adj" fmla="val 14545"/>
            </a:avLst>
          </a:prstGeom>
          <a:solidFill>
            <a:srgbClr val="ECECFB"/>
          </a:solidFill>
          <a:ln w="9525">
            <a:solidFill>
              <a:schemeClr val="accent5"/>
            </a:solidFill>
          </a:ln>
        </p:spPr>
        <p:txBody>
          <a:bodyPr wrap="square" lIns="63500" tIns="63500" rIns="63500" bIns="63500" rtlCol="0" anchor="ctr"/>
          <a:lstStyle/>
          <a:p>
            <a:pPr algn="ctr" indent="0" marL="0">
              <a:buNone/>
            </a:pPr>
            <a:r>
              <a:rPr lang="en-US" sz="1300" b="1" dirty="0">
                <a:solidFill>
                  <a:schemeClr val="tx1"/>
                </a:solidFill>
              </a:rPr>
              <a:t>Seata server: TC</a:t>
            </a:r>
            <a:pPr algn="ctr" indent="0" marL="0">
              <a:buNone/>
            </a:pPr>
            <a:r>
              <a:rPr lang="en-US" sz="1150" dirty="0">
                <a:solidFill>
                  <a:schemeClr val="tx2"/>
                </a:solidFill>
              </a:rPr>
              <a:t>   separate container, keeps global transaction status</a:t>
            </a:r>
            <a:endParaRPr lang="en-US" sz="1300" dirty="0"/>
          </a:p>
        </p:txBody>
      </p:sp>
      <p:sp>
        <p:nvSpPr>
          <p:cNvPr id="9" name="Shape 7"/>
          <p:cNvSpPr/>
          <p:nvPr/>
        </p:nvSpPr>
        <p:spPr>
          <a:xfrm>
            <a:off x="3931920" y="1691640"/>
            <a:ext cx="0" cy="228600"/>
          </a:xfrm>
          <a:prstGeom prst="line">
            <a:avLst/>
          </a:prstGeom>
          <a:noFill/>
          <a:ln w="15875">
            <a:solidFill>
              <a:schemeClr val="tx2"/>
            </a:solidFill>
            <a:prstDash val="solid"/>
          </a:ln>
        </p:spPr>
      </p:sp>
      <p:sp>
        <p:nvSpPr>
          <p:cNvPr id="10" name="Shape 8"/>
          <p:cNvSpPr/>
          <p:nvPr/>
        </p:nvSpPr>
        <p:spPr>
          <a:xfrm>
            <a:off x="2103120" y="1920240"/>
            <a:ext cx="1828800" cy="0"/>
          </a:xfrm>
          <a:prstGeom prst="line">
            <a:avLst/>
          </a:prstGeom>
          <a:noFill/>
          <a:ln w="15875">
            <a:solidFill>
              <a:schemeClr val="tx2"/>
            </a:solidFill>
            <a:prstDash val="solid"/>
          </a:ln>
        </p:spPr>
      </p:sp>
      <p:sp>
        <p:nvSpPr>
          <p:cNvPr id="11" name="Shape 9"/>
          <p:cNvSpPr/>
          <p:nvPr/>
        </p:nvSpPr>
        <p:spPr>
          <a:xfrm>
            <a:off x="2103120" y="1920240"/>
            <a:ext cx="0" cy="228600"/>
          </a:xfrm>
          <a:prstGeom prst="line">
            <a:avLst/>
          </a:prstGeom>
          <a:noFill/>
          <a:ln w="15875">
            <a:solidFill>
              <a:schemeClr val="tx2"/>
            </a:solidFill>
            <a:prstDash val="solid"/>
            <a:tailEnd type="triangle"/>
          </a:ln>
        </p:spPr>
      </p:sp>
      <p:sp>
        <p:nvSpPr>
          <p:cNvPr id="12" name="Shape 10"/>
          <p:cNvSpPr/>
          <p:nvPr/>
        </p:nvSpPr>
        <p:spPr>
          <a:xfrm>
            <a:off x="5212080" y="1691640"/>
            <a:ext cx="0" cy="228600"/>
          </a:xfrm>
          <a:prstGeom prst="line">
            <a:avLst/>
          </a:prstGeom>
          <a:noFill/>
          <a:ln w="15875">
            <a:solidFill>
              <a:schemeClr val="tx2"/>
            </a:solidFill>
            <a:prstDash val="solid"/>
          </a:ln>
        </p:spPr>
      </p:sp>
      <p:sp>
        <p:nvSpPr>
          <p:cNvPr id="13" name="Shape 11"/>
          <p:cNvSpPr/>
          <p:nvPr/>
        </p:nvSpPr>
        <p:spPr>
          <a:xfrm>
            <a:off x="5212080" y="1920240"/>
            <a:ext cx="1828800" cy="0"/>
          </a:xfrm>
          <a:prstGeom prst="line">
            <a:avLst/>
          </a:prstGeom>
          <a:noFill/>
          <a:ln w="15875">
            <a:solidFill>
              <a:schemeClr val="tx2"/>
            </a:solidFill>
            <a:prstDash val="solid"/>
          </a:ln>
        </p:spPr>
      </p:sp>
      <p:sp>
        <p:nvSpPr>
          <p:cNvPr id="14" name="Shape 12"/>
          <p:cNvSpPr/>
          <p:nvPr/>
        </p:nvSpPr>
        <p:spPr>
          <a:xfrm>
            <a:off x="7040880" y="1920240"/>
            <a:ext cx="0" cy="228600"/>
          </a:xfrm>
          <a:prstGeom prst="line">
            <a:avLst/>
          </a:prstGeom>
          <a:noFill/>
          <a:ln w="15875">
            <a:solidFill>
              <a:schemeClr val="tx2"/>
            </a:solidFill>
            <a:prstDash val="solid"/>
            <a:tailEnd type="triangle"/>
          </a:ln>
        </p:spPr>
      </p:sp>
      <p:sp>
        <p:nvSpPr>
          <p:cNvPr id="15" name="Shape 13"/>
          <p:cNvSpPr/>
          <p:nvPr/>
        </p:nvSpPr>
        <p:spPr>
          <a:xfrm>
            <a:off x="2103120" y="2743200"/>
            <a:ext cx="0" cy="274320"/>
          </a:xfrm>
          <a:prstGeom prst="line">
            <a:avLst/>
          </a:prstGeom>
          <a:noFill/>
          <a:ln w="15875">
            <a:solidFill>
              <a:schemeClr val="tx2"/>
            </a:solidFill>
            <a:prstDash val="solid"/>
            <a:tailEnd type="triangle"/>
          </a:ln>
        </p:spPr>
      </p:sp>
      <p:sp>
        <p:nvSpPr>
          <p:cNvPr id="16" name="Shape 14"/>
          <p:cNvSpPr/>
          <p:nvPr/>
        </p:nvSpPr>
        <p:spPr>
          <a:xfrm>
            <a:off x="7040880" y="2743200"/>
            <a:ext cx="0" cy="274320"/>
          </a:xfrm>
          <a:prstGeom prst="line">
            <a:avLst/>
          </a:prstGeom>
          <a:noFill/>
          <a:ln w="15875">
            <a:solidFill>
              <a:schemeClr val="tx2"/>
            </a:solidFill>
            <a:prstDash val="solid"/>
            <a:tailEnd type="triangle"/>
          </a:ln>
        </p:spPr>
      </p:sp>
      <p:sp>
        <p:nvSpPr>
          <p:cNvPr id="17" name="Shape 15"/>
          <p:cNvSpPr/>
          <p:nvPr/>
        </p:nvSpPr>
        <p:spPr>
          <a:xfrm>
            <a:off x="4572000" y="1709928"/>
            <a:ext cx="0" cy="2066544"/>
          </a:xfrm>
          <a:prstGeom prst="line">
            <a:avLst/>
          </a:prstGeom>
          <a:noFill/>
          <a:ln w="12700">
            <a:solidFill>
              <a:schemeClr val="accent5"/>
            </a:solidFill>
            <a:prstDash val="dash"/>
            <a:headEnd type="triangle"/>
            <a:tailEnd type="triangle"/>
          </a:ln>
        </p:spPr>
      </p:sp>
      <p:sp>
        <p:nvSpPr>
          <p:cNvPr id="18" name="Shape 16"/>
          <p:cNvSpPr/>
          <p:nvPr/>
        </p:nvSpPr>
        <p:spPr>
          <a:xfrm>
            <a:off x="3017520" y="2761488"/>
            <a:ext cx="0" cy="1014984"/>
          </a:xfrm>
          <a:prstGeom prst="line">
            <a:avLst/>
          </a:prstGeom>
          <a:noFill/>
          <a:ln w="12700">
            <a:solidFill>
              <a:schemeClr val="accent5"/>
            </a:solidFill>
            <a:prstDash val="dash"/>
            <a:headEnd type="triangle"/>
            <a:tailEnd type="triangle"/>
          </a:ln>
        </p:spPr>
      </p:sp>
      <p:sp>
        <p:nvSpPr>
          <p:cNvPr id="19" name="Shape 17"/>
          <p:cNvSpPr/>
          <p:nvPr/>
        </p:nvSpPr>
        <p:spPr>
          <a:xfrm>
            <a:off x="6126480" y="2761488"/>
            <a:ext cx="0" cy="1014984"/>
          </a:xfrm>
          <a:prstGeom prst="line">
            <a:avLst/>
          </a:prstGeom>
          <a:noFill/>
          <a:ln w="12700">
            <a:solidFill>
              <a:schemeClr val="accent5"/>
            </a:solidFill>
            <a:prstDash val="dash"/>
            <a:headEnd type="triangle"/>
            <a:tailEnd type="triangle"/>
          </a:ln>
        </p:spPr>
      </p:sp>
      <p:sp>
        <p:nvSpPr>
          <p:cNvPr id="20" name="Text 18"/>
          <p:cNvSpPr txBox="1"/>
          <p:nvPr/>
        </p:nvSpPr>
        <p:spPr>
          <a:xfrm>
            <a:off x="914400" y="4407408"/>
            <a:ext cx="7315200" cy="256032"/>
          </a:xfrm>
          <a:prstGeom prst="rect">
            <a:avLst/>
          </a:prstGeom>
          <a:noFill/>
          <a:ln/>
        </p:spPr>
        <p:txBody>
          <a:bodyPr wrap="square" lIns="0" tIns="0" rIns="0" bIns="0" rtlCol="0" anchor="t"/>
          <a:lstStyle/>
          <a:p>
            <a:pPr indent="0" marL="0">
              <a:buNone/>
            </a:pPr>
            <a:r>
              <a:rPr lang="en-US" sz="1050" dirty="0">
                <a:solidFill>
                  <a:schemeClr val="tx2"/>
                </a:solidFill>
              </a:rPr>
              <a:t>Solid: API or DB call    Dashed: talks to TC using the XID</a:t>
            </a:r>
            <a:endParaRPr lang="en-US" sz="105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XID: one ID ties every branch together</a:t>
            </a:r>
            <a:endParaRPr lang="en-US" sz="2400" dirty="0"/>
          </a:p>
        </p:txBody>
      </p:sp>
      <p:sp>
        <p:nvSpPr>
          <p:cNvPr id="3" name="Text 1"/>
          <p:cNvSpPr/>
          <p:nvPr/>
        </p:nvSpPr>
        <p:spPr>
          <a:xfrm>
            <a:off x="457200" y="1234440"/>
            <a:ext cx="2194560" cy="777240"/>
          </a:xfrm>
          <a:prstGeom prst="roundRect">
            <a:avLst>
              <a:gd name="adj" fmla="val 9412"/>
            </a:avLst>
          </a:prstGeom>
          <a:solidFill>
            <a:srgbClr val="E3F2F1"/>
          </a:solidFill>
          <a:ln w="9525">
            <a:solidFill>
              <a:schemeClr val="accent1"/>
            </a:solidFill>
          </a:ln>
        </p:spPr>
        <p:txBody>
          <a:bodyPr wrap="square" lIns="63500" tIns="63500" rIns="63500" bIns="63500" rtlCol="0" anchor="ctr"/>
          <a:lstStyle/>
          <a:p>
            <a:pPr algn="ctr" indent="0" marL="0">
              <a:buNone/>
            </a:pPr>
            <a:r>
              <a:rPr lang="en-US" sz="1300" b="1" dirty="0">
                <a:solidFill>
                  <a:schemeClr val="tx1"/>
                </a:solidFill>
              </a:rPr>
              <a:t>Order (TM)</a:t>
            </a:r>
            <a:endParaRPr lang="en-US" sz="1300" dirty="0"/>
          </a:p>
          <a:p>
            <a:pPr algn="ctr" indent="0" marL="0">
              <a:buNone/>
            </a:pPr>
            <a:r>
              <a:rPr lang="en-US" sz="1100" dirty="0">
                <a:solidFill>
                  <a:schemeClr val="tx2"/>
                </a:solidFill>
              </a:rPr>
              <a:t>gets XID 2001 from TC</a:t>
            </a:r>
            <a:endParaRPr lang="en-US" sz="1300" dirty="0"/>
          </a:p>
        </p:txBody>
      </p:sp>
      <p:sp>
        <p:nvSpPr>
          <p:cNvPr id="4" name="Text 2"/>
          <p:cNvSpPr/>
          <p:nvPr/>
        </p:nvSpPr>
        <p:spPr>
          <a:xfrm>
            <a:off x="3474720" y="1234440"/>
            <a:ext cx="2194560" cy="777240"/>
          </a:xfrm>
          <a:prstGeom prst="roundRect">
            <a:avLst>
              <a:gd name="adj" fmla="val 9412"/>
            </a:avLst>
          </a:prstGeom>
          <a:solidFill>
            <a:srgbClr val="E3F2F1"/>
          </a:solidFill>
          <a:ln w="9525">
            <a:solidFill>
              <a:schemeClr val="accent1"/>
            </a:solidFill>
          </a:ln>
        </p:spPr>
        <p:txBody>
          <a:bodyPr wrap="square" lIns="63500" tIns="63500" rIns="63500" bIns="63500" rtlCol="0" anchor="ctr"/>
          <a:lstStyle/>
          <a:p>
            <a:pPr algn="ctr" indent="0" marL="0">
              <a:buNone/>
            </a:pPr>
            <a:r>
              <a:rPr lang="en-US" sz="1300" b="1" dirty="0">
                <a:solidFill>
                  <a:schemeClr val="tx1"/>
                </a:solidFill>
              </a:rPr>
              <a:t>Inventory (RM)</a:t>
            </a:r>
            <a:endParaRPr lang="en-US" sz="1300" dirty="0"/>
          </a:p>
          <a:p>
            <a:pPr algn="ctr" indent="0" marL="0">
              <a:buNone/>
            </a:pPr>
            <a:r>
              <a:rPr lang="en-US" sz="1100" dirty="0">
                <a:solidFill>
                  <a:schemeClr val="tx2"/>
                </a:solidFill>
              </a:rPr>
              <a:t>branch 1 of XID 2001</a:t>
            </a:r>
            <a:endParaRPr lang="en-US" sz="1300" dirty="0"/>
          </a:p>
        </p:txBody>
      </p:sp>
      <p:sp>
        <p:nvSpPr>
          <p:cNvPr id="5" name="Text 3"/>
          <p:cNvSpPr/>
          <p:nvPr/>
        </p:nvSpPr>
        <p:spPr>
          <a:xfrm>
            <a:off x="6492240" y="1234440"/>
            <a:ext cx="2194560" cy="777240"/>
          </a:xfrm>
          <a:prstGeom prst="roundRect">
            <a:avLst>
              <a:gd name="adj" fmla="val 9412"/>
            </a:avLst>
          </a:prstGeom>
          <a:solidFill>
            <a:srgbClr val="E3F2F1"/>
          </a:solidFill>
          <a:ln w="9525">
            <a:solidFill>
              <a:schemeClr val="accent1"/>
            </a:solidFill>
          </a:ln>
        </p:spPr>
        <p:txBody>
          <a:bodyPr wrap="square" lIns="63500" tIns="63500" rIns="63500" bIns="63500" rtlCol="0" anchor="ctr"/>
          <a:lstStyle/>
          <a:p>
            <a:pPr algn="ctr" indent="0" marL="0">
              <a:buNone/>
            </a:pPr>
            <a:r>
              <a:rPr lang="en-US" sz="1300" b="1" dirty="0">
                <a:solidFill>
                  <a:schemeClr val="tx1"/>
                </a:solidFill>
              </a:rPr>
              <a:t>Payment (RM)</a:t>
            </a:r>
            <a:endParaRPr lang="en-US" sz="1300" dirty="0"/>
          </a:p>
          <a:p>
            <a:pPr algn="ctr" indent="0" marL="0">
              <a:buNone/>
            </a:pPr>
            <a:r>
              <a:rPr lang="en-US" sz="1100" dirty="0">
                <a:solidFill>
                  <a:schemeClr val="tx2"/>
                </a:solidFill>
              </a:rPr>
              <a:t>branch 2 of XID 2001</a:t>
            </a:r>
            <a:endParaRPr lang="en-US" sz="1300" dirty="0"/>
          </a:p>
        </p:txBody>
      </p:sp>
      <p:sp>
        <p:nvSpPr>
          <p:cNvPr id="6" name="Shape 4"/>
          <p:cNvSpPr/>
          <p:nvPr/>
        </p:nvSpPr>
        <p:spPr>
          <a:xfrm>
            <a:off x="2697480" y="1623060"/>
            <a:ext cx="731520" cy="0"/>
          </a:xfrm>
          <a:prstGeom prst="line">
            <a:avLst/>
          </a:prstGeom>
          <a:noFill/>
          <a:ln w="15875">
            <a:solidFill>
              <a:schemeClr val="tx2"/>
            </a:solidFill>
            <a:prstDash val="solid"/>
            <a:tailEnd type="triangle"/>
          </a:ln>
        </p:spPr>
      </p:sp>
      <p:sp>
        <p:nvSpPr>
          <p:cNvPr id="7" name="Shape 5"/>
          <p:cNvSpPr/>
          <p:nvPr/>
        </p:nvSpPr>
        <p:spPr>
          <a:xfrm>
            <a:off x="5715000" y="1623060"/>
            <a:ext cx="731520" cy="0"/>
          </a:xfrm>
          <a:prstGeom prst="line">
            <a:avLst/>
          </a:prstGeom>
          <a:noFill/>
          <a:ln w="15875">
            <a:solidFill>
              <a:schemeClr val="tx2"/>
            </a:solidFill>
            <a:prstDash val="solid"/>
            <a:tailEnd type="triangle"/>
          </a:ln>
        </p:spPr>
      </p:sp>
      <p:sp>
        <p:nvSpPr>
          <p:cNvPr id="8" name="Text 6"/>
          <p:cNvSpPr txBox="1"/>
          <p:nvPr/>
        </p:nvSpPr>
        <p:spPr>
          <a:xfrm>
            <a:off x="2697480" y="1325880"/>
            <a:ext cx="731520" cy="228600"/>
          </a:xfrm>
          <a:prstGeom prst="rect">
            <a:avLst/>
          </a:prstGeom>
          <a:noFill/>
          <a:ln/>
        </p:spPr>
        <p:txBody>
          <a:bodyPr wrap="square" lIns="0" tIns="0" rIns="0" bIns="0" rtlCol="0" anchor="t"/>
          <a:lstStyle/>
          <a:p>
            <a:pPr algn="ctr" indent="0" marL="0">
              <a:buNone/>
            </a:pPr>
            <a:r>
              <a:rPr lang="en-US" sz="1000" dirty="0">
                <a:solidFill>
                  <a:schemeClr val="tx2"/>
                </a:solidFill>
              </a:rPr>
              <a:t>header</a:t>
            </a:r>
            <a:endParaRPr lang="en-US" sz="1000" dirty="0"/>
          </a:p>
        </p:txBody>
      </p:sp>
      <p:sp>
        <p:nvSpPr>
          <p:cNvPr id="9" name="Text 7"/>
          <p:cNvSpPr txBox="1"/>
          <p:nvPr/>
        </p:nvSpPr>
        <p:spPr>
          <a:xfrm>
            <a:off x="5715000" y="1325880"/>
            <a:ext cx="731520" cy="228600"/>
          </a:xfrm>
          <a:prstGeom prst="rect">
            <a:avLst/>
          </a:prstGeom>
          <a:noFill/>
          <a:ln/>
        </p:spPr>
        <p:txBody>
          <a:bodyPr wrap="square" lIns="0" tIns="0" rIns="0" bIns="0" rtlCol="0" anchor="t"/>
          <a:lstStyle/>
          <a:p>
            <a:pPr algn="ctr" indent="0" marL="0">
              <a:buNone/>
            </a:pPr>
            <a:r>
              <a:rPr lang="en-US" sz="1000" dirty="0">
                <a:solidFill>
                  <a:schemeClr val="tx2"/>
                </a:solidFill>
              </a:rPr>
              <a:t>header</a:t>
            </a:r>
            <a:endParaRPr lang="en-US" sz="1000" dirty="0"/>
          </a:p>
        </p:txBody>
      </p:sp>
      <p:sp>
        <p:nvSpPr>
          <p:cNvPr id="10" name="Text 8"/>
          <p:cNvSpPr/>
          <p:nvPr/>
        </p:nvSpPr>
        <p:spPr>
          <a:xfrm>
            <a:off x="2103120" y="2194560"/>
            <a:ext cx="4937760" cy="457200"/>
          </a:xfrm>
          <a:prstGeom prst="roundRect">
            <a:avLst>
              <a:gd name="adj" fmla="val 16000"/>
            </a:avLst>
          </a:prstGeom>
          <a:solidFill>
            <a:srgbClr val="ECECFB"/>
          </a:solidFill>
          <a:ln w="9525">
            <a:solidFill>
              <a:schemeClr val="accent5"/>
            </a:solidFill>
          </a:ln>
        </p:spPr>
        <p:txBody>
          <a:bodyPr wrap="square" lIns="63500" tIns="63500" rIns="63500" bIns="63500" rtlCol="0" anchor="ctr"/>
          <a:lstStyle/>
          <a:p>
            <a:pPr algn="ctr" indent="0" marL="0">
              <a:buNone/>
            </a:pPr>
            <a:r>
              <a:rPr lang="en-US" sz="1300" b="1" dirty="0">
                <a:solidFill>
                  <a:schemeClr val="accent5"/>
                </a:solidFill>
              </a:rPr>
              <a:t>XID 2001</a:t>
            </a:r>
            <a:pPr algn="ctr" indent="0" marL="0">
              <a:buNone/>
            </a:pPr>
            <a:r>
              <a:rPr lang="en-US" sz="1300" dirty="0">
                <a:solidFill>
                  <a:schemeClr val="tx2"/>
                </a:solidFill>
              </a:rPr>
              <a:t>  travels in every request header</a:t>
            </a:r>
            <a:endParaRPr lang="en-US" sz="1300" dirty="0"/>
          </a:p>
        </p:txBody>
      </p:sp>
      <p:sp>
        <p:nvSpPr>
          <p:cNvPr id="11" name="Shape 9"/>
          <p:cNvSpPr/>
          <p:nvPr/>
        </p:nvSpPr>
        <p:spPr>
          <a:xfrm>
            <a:off x="457200" y="2880360"/>
            <a:ext cx="2606040" cy="1417320"/>
          </a:xfrm>
          <a:prstGeom prst="roundRect">
            <a:avLst>
              <a:gd name="adj" fmla="val 6452"/>
            </a:avLst>
          </a:prstGeom>
          <a:solidFill>
            <a:schemeClr val="bg2"/>
          </a:solidFill>
          <a:ln w="6350">
            <a:solidFill>
              <a:srgbClr val="E1E6EB"/>
            </a:solidFill>
            <a:prstDash val="solid"/>
          </a:ln>
        </p:spPr>
      </p:sp>
      <p:sp>
        <p:nvSpPr>
          <p:cNvPr id="12" name="Text 10"/>
          <p:cNvSpPr txBox="1"/>
          <p:nvPr/>
        </p:nvSpPr>
        <p:spPr>
          <a:xfrm>
            <a:off x="640080" y="3017520"/>
            <a:ext cx="2240280" cy="292608"/>
          </a:xfrm>
          <a:prstGeom prst="rect">
            <a:avLst/>
          </a:prstGeom>
          <a:noFill/>
          <a:ln/>
        </p:spPr>
        <p:txBody>
          <a:bodyPr wrap="square" lIns="0" tIns="0" rIns="0" bIns="0" rtlCol="0" anchor="t"/>
          <a:lstStyle/>
          <a:p>
            <a:pPr indent="0" marL="0">
              <a:buNone/>
            </a:pPr>
            <a:r>
              <a:rPr lang="en-US" sz="1400" b="1" dirty="0">
                <a:solidFill>
                  <a:schemeClr val="tx1"/>
                </a:solidFill>
              </a:rPr>
              <a:t>Created by TC</a:t>
            </a:r>
            <a:endParaRPr lang="en-US" sz="1400" dirty="0"/>
          </a:p>
        </p:txBody>
      </p:sp>
      <p:sp>
        <p:nvSpPr>
          <p:cNvPr id="13" name="Text 11"/>
          <p:cNvSpPr txBox="1"/>
          <p:nvPr/>
        </p:nvSpPr>
        <p:spPr>
          <a:xfrm>
            <a:off x="640080" y="3383280"/>
            <a:ext cx="2240280" cy="1097280"/>
          </a:xfrm>
          <a:prstGeom prst="rect">
            <a:avLst/>
          </a:prstGeom>
          <a:noFill/>
          <a:ln/>
        </p:spPr>
        <p:txBody>
          <a:bodyPr wrap="square" lIns="0" tIns="0" rIns="0" bIns="0" rtlCol="0" anchor="t"/>
          <a:lstStyle/>
          <a:p>
            <a:pPr indent="0" marL="0">
              <a:buNone/>
            </a:pPr>
            <a:r>
              <a:rPr lang="en-US" sz="1200" dirty="0">
                <a:solidFill>
                  <a:schemeClr val="tx2"/>
                </a:solidFill>
              </a:rPr>
              <a:t>One XID per global transaction, returned when the TM begins.</a:t>
            </a:r>
            <a:endParaRPr lang="en-US" sz="1200" dirty="0"/>
          </a:p>
        </p:txBody>
      </p:sp>
      <p:sp>
        <p:nvSpPr>
          <p:cNvPr id="14" name="Shape 12"/>
          <p:cNvSpPr/>
          <p:nvPr/>
        </p:nvSpPr>
        <p:spPr>
          <a:xfrm>
            <a:off x="3268980" y="2880360"/>
            <a:ext cx="2606040" cy="1417320"/>
          </a:xfrm>
          <a:prstGeom prst="roundRect">
            <a:avLst>
              <a:gd name="adj" fmla="val 6452"/>
            </a:avLst>
          </a:prstGeom>
          <a:solidFill>
            <a:schemeClr val="bg2"/>
          </a:solidFill>
          <a:ln w="6350">
            <a:solidFill>
              <a:srgbClr val="E1E6EB"/>
            </a:solidFill>
            <a:prstDash val="solid"/>
          </a:ln>
        </p:spPr>
      </p:sp>
      <p:sp>
        <p:nvSpPr>
          <p:cNvPr id="15" name="Text 13"/>
          <p:cNvSpPr txBox="1"/>
          <p:nvPr/>
        </p:nvSpPr>
        <p:spPr>
          <a:xfrm>
            <a:off x="3451860" y="3017520"/>
            <a:ext cx="2240280" cy="292608"/>
          </a:xfrm>
          <a:prstGeom prst="rect">
            <a:avLst/>
          </a:prstGeom>
          <a:noFill/>
          <a:ln/>
        </p:spPr>
        <p:txBody>
          <a:bodyPr wrap="square" lIns="0" tIns="0" rIns="0" bIns="0" rtlCol="0" anchor="t"/>
          <a:lstStyle/>
          <a:p>
            <a:pPr indent="0" marL="0">
              <a:buNone/>
            </a:pPr>
            <a:r>
              <a:rPr lang="en-US" sz="1400" b="1" dirty="0">
                <a:solidFill>
                  <a:schemeClr val="tx1"/>
                </a:solidFill>
              </a:rPr>
              <a:t>Carried in headers</a:t>
            </a:r>
            <a:endParaRPr lang="en-US" sz="1400" dirty="0"/>
          </a:p>
        </p:txBody>
      </p:sp>
      <p:sp>
        <p:nvSpPr>
          <p:cNvPr id="16" name="Text 14"/>
          <p:cNvSpPr txBox="1"/>
          <p:nvPr/>
        </p:nvSpPr>
        <p:spPr>
          <a:xfrm>
            <a:off x="3451860" y="3383280"/>
            <a:ext cx="2240280" cy="1097280"/>
          </a:xfrm>
          <a:prstGeom prst="rect">
            <a:avLst/>
          </a:prstGeom>
          <a:noFill/>
          <a:ln/>
        </p:spPr>
        <p:txBody>
          <a:bodyPr wrap="square" lIns="0" tIns="0" rIns="0" bIns="0" rtlCol="0" anchor="t"/>
          <a:lstStyle/>
          <a:p>
            <a:pPr indent="0" marL="0">
              <a:buNone/>
            </a:pPr>
            <a:r>
              <a:rPr lang="en-US" sz="1200" dirty="0">
                <a:solidFill>
                  <a:schemeClr val="tx2"/>
                </a:solidFill>
              </a:rPr>
              <a:t>Every downstream call sends it, so the service knows which global transaction it joins.</a:t>
            </a:r>
            <a:endParaRPr lang="en-US" sz="1200" dirty="0"/>
          </a:p>
        </p:txBody>
      </p:sp>
      <p:sp>
        <p:nvSpPr>
          <p:cNvPr id="17" name="Shape 15"/>
          <p:cNvSpPr/>
          <p:nvPr/>
        </p:nvSpPr>
        <p:spPr>
          <a:xfrm>
            <a:off x="6080760" y="2880360"/>
            <a:ext cx="2606040" cy="1417320"/>
          </a:xfrm>
          <a:prstGeom prst="roundRect">
            <a:avLst>
              <a:gd name="adj" fmla="val 6452"/>
            </a:avLst>
          </a:prstGeom>
          <a:solidFill>
            <a:srgbClr val="FDF3E2"/>
          </a:solidFill>
          <a:ln w="6350">
            <a:solidFill>
              <a:srgbClr val="FDF3E2"/>
            </a:solidFill>
            <a:prstDash val="solid"/>
          </a:ln>
        </p:spPr>
      </p:sp>
      <p:sp>
        <p:nvSpPr>
          <p:cNvPr id="18" name="Text 16"/>
          <p:cNvSpPr txBox="1"/>
          <p:nvPr/>
        </p:nvSpPr>
        <p:spPr>
          <a:xfrm>
            <a:off x="6263640" y="3017520"/>
            <a:ext cx="2240280" cy="292608"/>
          </a:xfrm>
          <a:prstGeom prst="rect">
            <a:avLst/>
          </a:prstGeom>
          <a:noFill/>
          <a:ln/>
        </p:spPr>
        <p:txBody>
          <a:bodyPr wrap="square" lIns="0" tIns="0" rIns="0" bIns="0" rtlCol="0" anchor="t"/>
          <a:lstStyle/>
          <a:p>
            <a:pPr indent="0" marL="0">
              <a:buNone/>
            </a:pPr>
            <a:r>
              <a:rPr lang="en-US" sz="1400" b="1" dirty="0">
                <a:solidFill>
                  <a:schemeClr val="accent4"/>
                </a:solidFill>
              </a:rPr>
              <a:t>Not automatic</a:t>
            </a:r>
            <a:endParaRPr lang="en-US" sz="1400" dirty="0"/>
          </a:p>
        </p:txBody>
      </p:sp>
      <p:sp>
        <p:nvSpPr>
          <p:cNvPr id="19" name="Text 17"/>
          <p:cNvSpPr txBox="1"/>
          <p:nvPr/>
        </p:nvSpPr>
        <p:spPr>
          <a:xfrm>
            <a:off x="6263640" y="3383280"/>
            <a:ext cx="2240280" cy="1097280"/>
          </a:xfrm>
          <a:prstGeom prst="rect">
            <a:avLst/>
          </a:prstGeom>
          <a:noFill/>
          <a:ln/>
        </p:spPr>
        <p:txBody>
          <a:bodyPr wrap="square" lIns="0" tIns="0" rIns="0" bIns="0" rtlCol="0" anchor="t"/>
          <a:lstStyle/>
          <a:p>
            <a:pPr indent="0" marL="0">
              <a:buNone/>
            </a:pPr>
            <a:r>
              <a:rPr lang="en-US" sz="1200" dirty="0">
                <a:solidFill>
                  <a:schemeClr val="tx2"/>
                </a:solidFill>
              </a:rPr>
              <a:t>Plain RestClient or WebClient may not send it. Use Seata's Spring Cloud / Feign integration or an interceptor.</a:t>
            </a:r>
            <a:endParaRPr lang="en-US" sz="12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Inside the RM (AT mode): the DataSource proxy</a:t>
            </a:r>
            <a:endParaRPr lang="en-US" sz="2400" dirty="0"/>
          </a:p>
        </p:txBody>
      </p:sp>
      <p:sp>
        <p:nvSpPr>
          <p:cNvPr id="3" name="Text 1"/>
          <p:cNvSpPr/>
          <p:nvPr/>
        </p:nvSpPr>
        <p:spPr>
          <a:xfrm>
            <a:off x="457200" y="1097280"/>
            <a:ext cx="3108960" cy="548640"/>
          </a:xfrm>
          <a:prstGeom prst="roundRect">
            <a:avLst>
              <a:gd name="adj" fmla="val 13333"/>
            </a:avLst>
          </a:prstGeom>
          <a:solidFill>
            <a:schemeClr val="bg2"/>
          </a:solidFill>
          <a:ln w="9525">
            <a:solidFill>
              <a:srgbClr val="D5DCE3"/>
            </a:solidFill>
          </a:ln>
        </p:spPr>
        <p:txBody>
          <a:bodyPr wrap="square" lIns="63500" tIns="63500" rIns="63500" bIns="63500" rtlCol="0" anchor="ctr"/>
          <a:lstStyle/>
          <a:p>
            <a:pPr algn="ctr" indent="0" marL="0">
              <a:buNone/>
            </a:pPr>
            <a:r>
              <a:rPr lang="en-US" sz="1300" dirty="0">
                <a:solidFill>
                  <a:schemeClr val="tx1"/>
                </a:solidFill>
              </a:rPr>
              <a:t>InventoryService.java</a:t>
            </a:r>
            <a:endParaRPr lang="en-US" sz="1300" dirty="0"/>
          </a:p>
        </p:txBody>
      </p:sp>
      <p:sp>
        <p:nvSpPr>
          <p:cNvPr id="4" name="Shape 2"/>
          <p:cNvSpPr/>
          <p:nvPr/>
        </p:nvSpPr>
        <p:spPr>
          <a:xfrm>
            <a:off x="2011680" y="1664208"/>
            <a:ext cx="0" cy="274320"/>
          </a:xfrm>
          <a:prstGeom prst="line">
            <a:avLst/>
          </a:prstGeom>
          <a:noFill/>
          <a:ln w="15875">
            <a:solidFill>
              <a:schemeClr val="tx2"/>
            </a:solidFill>
            <a:prstDash val="solid"/>
            <a:tailEnd type="triangle"/>
          </a:ln>
        </p:spPr>
      </p:sp>
      <p:sp>
        <p:nvSpPr>
          <p:cNvPr id="5" name="Text 3"/>
          <p:cNvSpPr/>
          <p:nvPr/>
        </p:nvSpPr>
        <p:spPr>
          <a:xfrm>
            <a:off x="457200" y="1965960"/>
            <a:ext cx="3108960" cy="548640"/>
          </a:xfrm>
          <a:prstGeom prst="roundRect">
            <a:avLst>
              <a:gd name="adj" fmla="val 13333"/>
            </a:avLst>
          </a:prstGeom>
          <a:solidFill>
            <a:schemeClr val="bg2"/>
          </a:solidFill>
          <a:ln w="9525">
            <a:solidFill>
              <a:srgbClr val="D5DCE3"/>
            </a:solidFill>
          </a:ln>
        </p:spPr>
        <p:txBody>
          <a:bodyPr wrap="square" lIns="63500" tIns="63500" rIns="63500" bIns="63500" rtlCol="0" anchor="ctr"/>
          <a:lstStyle/>
          <a:p>
            <a:pPr algn="ctr" indent="0" marL="0">
              <a:buNone/>
            </a:pPr>
            <a:r>
              <a:rPr lang="en-US" sz="1300" dirty="0">
                <a:solidFill>
                  <a:schemeClr val="tx1"/>
                </a:solidFill>
              </a:rPr>
              <a:t>JPA / JDBC</a:t>
            </a:r>
            <a:endParaRPr lang="en-US" sz="1300" dirty="0"/>
          </a:p>
        </p:txBody>
      </p:sp>
      <p:sp>
        <p:nvSpPr>
          <p:cNvPr id="6" name="Shape 4"/>
          <p:cNvSpPr/>
          <p:nvPr/>
        </p:nvSpPr>
        <p:spPr>
          <a:xfrm>
            <a:off x="2011680" y="2532888"/>
            <a:ext cx="0" cy="274320"/>
          </a:xfrm>
          <a:prstGeom prst="line">
            <a:avLst/>
          </a:prstGeom>
          <a:noFill/>
          <a:ln w="15875">
            <a:solidFill>
              <a:schemeClr val="tx2"/>
            </a:solidFill>
            <a:prstDash val="solid"/>
            <a:tailEnd type="triangle"/>
          </a:ln>
        </p:spPr>
      </p:sp>
      <p:sp>
        <p:nvSpPr>
          <p:cNvPr id="7" name="Text 5"/>
          <p:cNvSpPr/>
          <p:nvPr/>
        </p:nvSpPr>
        <p:spPr>
          <a:xfrm>
            <a:off x="457200" y="2834640"/>
            <a:ext cx="3108960" cy="548640"/>
          </a:xfrm>
          <a:prstGeom prst="roundRect">
            <a:avLst>
              <a:gd name="adj" fmla="val 13333"/>
            </a:avLst>
          </a:prstGeom>
          <a:solidFill>
            <a:srgbClr val="E3F2F1"/>
          </a:solidFill>
          <a:ln w="15875">
            <a:solidFill>
              <a:schemeClr val="accent1"/>
            </a:solidFill>
          </a:ln>
        </p:spPr>
        <p:txBody>
          <a:bodyPr wrap="square" lIns="63500" tIns="63500" rIns="63500" bIns="63500" rtlCol="0" anchor="ctr"/>
          <a:lstStyle/>
          <a:p>
            <a:pPr algn="ctr" indent="0" marL="0">
              <a:buNone/>
            </a:pPr>
            <a:r>
              <a:rPr lang="en-US" sz="1300" b="1" dirty="0">
                <a:solidFill>
                  <a:schemeClr val="accent1"/>
                </a:solidFill>
              </a:rPr>
              <a:t>Seata DataSource proxy</a:t>
            </a:r>
            <a:endParaRPr lang="en-US" sz="1300" dirty="0"/>
          </a:p>
        </p:txBody>
      </p:sp>
      <p:sp>
        <p:nvSpPr>
          <p:cNvPr id="8" name="Shape 6"/>
          <p:cNvSpPr/>
          <p:nvPr/>
        </p:nvSpPr>
        <p:spPr>
          <a:xfrm>
            <a:off x="2011680" y="3401568"/>
            <a:ext cx="0" cy="274320"/>
          </a:xfrm>
          <a:prstGeom prst="line">
            <a:avLst/>
          </a:prstGeom>
          <a:noFill/>
          <a:ln w="15875">
            <a:solidFill>
              <a:schemeClr val="tx2"/>
            </a:solidFill>
            <a:prstDash val="solid"/>
            <a:tailEnd type="triangle"/>
          </a:ln>
        </p:spPr>
      </p:sp>
      <p:sp>
        <p:nvSpPr>
          <p:cNvPr id="9" name="Text 7"/>
          <p:cNvSpPr/>
          <p:nvPr/>
        </p:nvSpPr>
        <p:spPr>
          <a:xfrm>
            <a:off x="457200" y="3703320"/>
            <a:ext cx="3108960" cy="548640"/>
          </a:xfrm>
          <a:prstGeom prst="roundRect">
            <a:avLst>
              <a:gd name="adj" fmla="val 13333"/>
            </a:avLst>
          </a:prstGeom>
          <a:solidFill>
            <a:schemeClr val="bg2"/>
          </a:solidFill>
          <a:ln w="9525">
            <a:solidFill>
              <a:srgbClr val="D5DCE3"/>
            </a:solidFill>
          </a:ln>
        </p:spPr>
        <p:txBody>
          <a:bodyPr wrap="square" lIns="63500" tIns="63500" rIns="63500" bIns="63500" rtlCol="0" anchor="ctr"/>
          <a:lstStyle/>
          <a:p>
            <a:pPr algn="ctr" indent="0" marL="0">
              <a:buNone/>
            </a:pPr>
            <a:r>
              <a:rPr lang="en-US" sz="1300" dirty="0">
                <a:solidFill>
                  <a:schemeClr val="tx1"/>
                </a:solidFill>
              </a:rPr>
              <a:t>Database (Oracle)</a:t>
            </a:r>
            <a:endParaRPr lang="en-US" sz="1300" dirty="0"/>
          </a:p>
        </p:txBody>
      </p:sp>
      <p:sp>
        <p:nvSpPr>
          <p:cNvPr id="10" name="Text 8"/>
          <p:cNvSpPr txBox="1"/>
          <p:nvPr/>
        </p:nvSpPr>
        <p:spPr>
          <a:xfrm>
            <a:off x="457200" y="4434840"/>
            <a:ext cx="3108960" cy="365760"/>
          </a:xfrm>
          <a:prstGeom prst="rect">
            <a:avLst/>
          </a:prstGeom>
          <a:noFill/>
          <a:ln/>
        </p:spPr>
        <p:txBody>
          <a:bodyPr wrap="square" lIns="0" tIns="0" rIns="0" bIns="0" rtlCol="0" anchor="t"/>
          <a:lstStyle/>
          <a:p>
            <a:pPr indent="0" marL="0">
              <a:buNone/>
            </a:pPr>
            <a:r>
              <a:rPr lang="en-US" sz="1050" i="1" dirty="0">
                <a:solidFill>
                  <a:schemeClr val="tx2"/>
                </a:solidFill>
              </a:rPr>
              <a:t>Your code does not change. The proxy sits between JDBC and the DB.</a:t>
            </a:r>
            <a:endParaRPr lang="en-US" sz="1050" dirty="0"/>
          </a:p>
        </p:txBody>
      </p:sp>
      <p:sp>
        <p:nvSpPr>
          <p:cNvPr id="11" name="Text 9"/>
          <p:cNvSpPr/>
          <p:nvPr/>
        </p:nvSpPr>
        <p:spPr>
          <a:xfrm>
            <a:off x="3931920" y="1170432"/>
            <a:ext cx="384048" cy="384048"/>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12" name="Text 10"/>
          <p:cNvSpPr txBox="1"/>
          <p:nvPr/>
        </p:nvSpPr>
        <p:spPr>
          <a:xfrm>
            <a:off x="4480560" y="1097280"/>
            <a:ext cx="4206240" cy="274320"/>
          </a:xfrm>
          <a:prstGeom prst="rect">
            <a:avLst/>
          </a:prstGeom>
          <a:noFill/>
          <a:ln/>
        </p:spPr>
        <p:txBody>
          <a:bodyPr wrap="square" lIns="0" tIns="0" rIns="0" bIns="0" rtlCol="0" anchor="t"/>
          <a:lstStyle/>
          <a:p>
            <a:pPr indent="0" marL="0">
              <a:buNone/>
            </a:pPr>
            <a:r>
              <a:rPr lang="en-US" sz="1350" b="1" dirty="0">
                <a:solidFill>
                  <a:schemeClr val="tx1"/>
                </a:solidFill>
              </a:rPr>
              <a:t>Before-image</a:t>
            </a:r>
            <a:endParaRPr lang="en-US" sz="1350" dirty="0"/>
          </a:p>
        </p:txBody>
      </p:sp>
      <p:sp>
        <p:nvSpPr>
          <p:cNvPr id="13" name="Text 11"/>
          <p:cNvSpPr txBox="1"/>
          <p:nvPr/>
        </p:nvSpPr>
        <p:spPr>
          <a:xfrm>
            <a:off x="4480560" y="1371600"/>
            <a:ext cx="4206240" cy="292608"/>
          </a:xfrm>
          <a:prstGeom prst="rect">
            <a:avLst/>
          </a:prstGeom>
          <a:noFill/>
          <a:ln/>
        </p:spPr>
        <p:txBody>
          <a:bodyPr wrap="square" lIns="0" tIns="0" rIns="0" bIns="0" rtlCol="0" anchor="t"/>
          <a:lstStyle/>
          <a:p>
            <a:pPr indent="0" marL="0">
              <a:buNone/>
            </a:pPr>
            <a:r>
              <a:rPr lang="en-US" sz="1200" dirty="0">
                <a:solidFill>
                  <a:schemeClr val="tx2"/>
                </a:solidFill>
              </a:rPr>
              <a:t>Read original row: stock = 10</a:t>
            </a:r>
            <a:endParaRPr lang="en-US" sz="1200" dirty="0"/>
          </a:p>
        </p:txBody>
      </p:sp>
      <p:sp>
        <p:nvSpPr>
          <p:cNvPr id="14" name="Text 12"/>
          <p:cNvSpPr/>
          <p:nvPr/>
        </p:nvSpPr>
        <p:spPr>
          <a:xfrm>
            <a:off x="3931920" y="1847088"/>
            <a:ext cx="384048" cy="384048"/>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5" name="Text 13"/>
          <p:cNvSpPr txBox="1"/>
          <p:nvPr/>
        </p:nvSpPr>
        <p:spPr>
          <a:xfrm>
            <a:off x="4480560" y="1773936"/>
            <a:ext cx="4206240" cy="274320"/>
          </a:xfrm>
          <a:prstGeom prst="rect">
            <a:avLst/>
          </a:prstGeom>
          <a:noFill/>
          <a:ln/>
        </p:spPr>
        <p:txBody>
          <a:bodyPr wrap="square" lIns="0" tIns="0" rIns="0" bIns="0" rtlCol="0" anchor="t"/>
          <a:lstStyle/>
          <a:p>
            <a:pPr indent="0" marL="0">
              <a:buNone/>
            </a:pPr>
            <a:r>
              <a:rPr lang="en-US" sz="1350" b="1" dirty="0">
                <a:solidFill>
                  <a:schemeClr val="tx1"/>
                </a:solidFill>
              </a:rPr>
              <a:t>Run SQL</a:t>
            </a:r>
            <a:endParaRPr lang="en-US" sz="1350" dirty="0"/>
          </a:p>
        </p:txBody>
      </p:sp>
      <p:sp>
        <p:nvSpPr>
          <p:cNvPr id="16" name="Text 14"/>
          <p:cNvSpPr txBox="1"/>
          <p:nvPr/>
        </p:nvSpPr>
        <p:spPr>
          <a:xfrm>
            <a:off x="4480560" y="2048256"/>
            <a:ext cx="4206240" cy="292608"/>
          </a:xfrm>
          <a:prstGeom prst="rect">
            <a:avLst/>
          </a:prstGeom>
          <a:noFill/>
          <a:ln/>
        </p:spPr>
        <p:txBody>
          <a:bodyPr wrap="square" lIns="0" tIns="0" rIns="0" bIns="0" rtlCol="0" anchor="t"/>
          <a:lstStyle/>
          <a:p>
            <a:pPr indent="0" marL="0">
              <a:buNone/>
            </a:pPr>
            <a:r>
              <a:rPr lang="en-US" sz="1200" dirty="0">
                <a:solidFill>
                  <a:schemeClr val="tx2"/>
                </a:solidFill>
              </a:rPr>
              <a:t>Database changes stock 10 to 9</a:t>
            </a:r>
            <a:endParaRPr lang="en-US" sz="1200" dirty="0"/>
          </a:p>
        </p:txBody>
      </p:sp>
      <p:sp>
        <p:nvSpPr>
          <p:cNvPr id="17" name="Text 15"/>
          <p:cNvSpPr/>
          <p:nvPr/>
        </p:nvSpPr>
        <p:spPr>
          <a:xfrm>
            <a:off x="3931920" y="2523744"/>
            <a:ext cx="384048" cy="384048"/>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8" name="Text 16"/>
          <p:cNvSpPr txBox="1"/>
          <p:nvPr/>
        </p:nvSpPr>
        <p:spPr>
          <a:xfrm>
            <a:off x="4480560" y="2450592"/>
            <a:ext cx="4206240" cy="274320"/>
          </a:xfrm>
          <a:prstGeom prst="rect">
            <a:avLst/>
          </a:prstGeom>
          <a:noFill/>
          <a:ln/>
        </p:spPr>
        <p:txBody>
          <a:bodyPr wrap="square" lIns="0" tIns="0" rIns="0" bIns="0" rtlCol="0" anchor="t"/>
          <a:lstStyle/>
          <a:p>
            <a:pPr indent="0" marL="0">
              <a:buNone/>
            </a:pPr>
            <a:r>
              <a:rPr lang="en-US" sz="1350" b="1" dirty="0">
                <a:solidFill>
                  <a:schemeClr val="tx1"/>
                </a:solidFill>
              </a:rPr>
              <a:t>After-image</a:t>
            </a:r>
            <a:endParaRPr lang="en-US" sz="1350" dirty="0"/>
          </a:p>
        </p:txBody>
      </p:sp>
      <p:sp>
        <p:nvSpPr>
          <p:cNvPr id="19" name="Text 17"/>
          <p:cNvSpPr txBox="1"/>
          <p:nvPr/>
        </p:nvSpPr>
        <p:spPr>
          <a:xfrm>
            <a:off x="4480560" y="2724912"/>
            <a:ext cx="4206240" cy="292608"/>
          </a:xfrm>
          <a:prstGeom prst="rect">
            <a:avLst/>
          </a:prstGeom>
          <a:noFill/>
          <a:ln/>
        </p:spPr>
        <p:txBody>
          <a:bodyPr wrap="square" lIns="0" tIns="0" rIns="0" bIns="0" rtlCol="0" anchor="t"/>
          <a:lstStyle/>
          <a:p>
            <a:pPr indent="0" marL="0">
              <a:buNone/>
            </a:pPr>
            <a:r>
              <a:rPr lang="en-US" sz="1200" dirty="0">
                <a:solidFill>
                  <a:schemeClr val="tx2"/>
                </a:solidFill>
              </a:rPr>
              <a:t>Read new row: stock = 9</a:t>
            </a:r>
            <a:endParaRPr lang="en-US" sz="1200" dirty="0"/>
          </a:p>
        </p:txBody>
      </p:sp>
      <p:sp>
        <p:nvSpPr>
          <p:cNvPr id="20" name="Text 18"/>
          <p:cNvSpPr/>
          <p:nvPr/>
        </p:nvSpPr>
        <p:spPr>
          <a:xfrm>
            <a:off x="3931920" y="3200400"/>
            <a:ext cx="384048" cy="384048"/>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1" name="Text 19"/>
          <p:cNvSpPr txBox="1"/>
          <p:nvPr/>
        </p:nvSpPr>
        <p:spPr>
          <a:xfrm>
            <a:off x="4480560" y="3127248"/>
            <a:ext cx="4206240" cy="274320"/>
          </a:xfrm>
          <a:prstGeom prst="rect">
            <a:avLst/>
          </a:prstGeom>
          <a:noFill/>
          <a:ln/>
        </p:spPr>
        <p:txBody>
          <a:bodyPr wrap="square" lIns="0" tIns="0" rIns="0" bIns="0" rtlCol="0" anchor="t"/>
          <a:lstStyle/>
          <a:p>
            <a:pPr indent="0" marL="0">
              <a:buNone/>
            </a:pPr>
            <a:r>
              <a:rPr lang="en-US" sz="1350" b="1" dirty="0">
                <a:solidFill>
                  <a:schemeClr val="tx1"/>
                </a:solidFill>
              </a:rPr>
              <a:t>Write undo_log</a:t>
            </a:r>
            <a:endParaRPr lang="en-US" sz="1350" dirty="0"/>
          </a:p>
        </p:txBody>
      </p:sp>
      <p:sp>
        <p:nvSpPr>
          <p:cNvPr id="22" name="Text 20"/>
          <p:cNvSpPr txBox="1"/>
          <p:nvPr/>
        </p:nvSpPr>
        <p:spPr>
          <a:xfrm>
            <a:off x="4480560" y="3401568"/>
            <a:ext cx="4206240" cy="292608"/>
          </a:xfrm>
          <a:prstGeom prst="rect">
            <a:avLst/>
          </a:prstGeom>
          <a:noFill/>
          <a:ln/>
        </p:spPr>
        <p:txBody>
          <a:bodyPr wrap="square" lIns="0" tIns="0" rIns="0" bIns="0" rtlCol="0" anchor="t"/>
          <a:lstStyle/>
          <a:p>
            <a:pPr indent="0" marL="0">
              <a:buNone/>
            </a:pPr>
            <a:r>
              <a:rPr lang="en-US" sz="1200" dirty="0">
                <a:solidFill>
                  <a:schemeClr val="tx2"/>
                </a:solidFill>
              </a:rPr>
              <a:t>Saved in the same local transaction as the change</a:t>
            </a:r>
            <a:endParaRPr lang="en-US" sz="1200" dirty="0"/>
          </a:p>
        </p:txBody>
      </p:sp>
      <p:sp>
        <p:nvSpPr>
          <p:cNvPr id="23" name="Text 21"/>
          <p:cNvSpPr/>
          <p:nvPr/>
        </p:nvSpPr>
        <p:spPr>
          <a:xfrm>
            <a:off x="3931920" y="3877056"/>
            <a:ext cx="384048" cy="384048"/>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24" name="Text 22"/>
          <p:cNvSpPr txBox="1"/>
          <p:nvPr/>
        </p:nvSpPr>
        <p:spPr>
          <a:xfrm>
            <a:off x="4480560" y="3803904"/>
            <a:ext cx="4206240" cy="274320"/>
          </a:xfrm>
          <a:prstGeom prst="rect">
            <a:avLst/>
          </a:prstGeom>
          <a:noFill/>
          <a:ln/>
        </p:spPr>
        <p:txBody>
          <a:bodyPr wrap="square" lIns="0" tIns="0" rIns="0" bIns="0" rtlCol="0" anchor="t"/>
          <a:lstStyle/>
          <a:p>
            <a:pPr indent="0" marL="0">
              <a:buNone/>
            </a:pPr>
            <a:r>
              <a:rPr lang="en-US" sz="1350" b="1" dirty="0">
                <a:solidFill>
                  <a:schemeClr val="tx1"/>
                </a:solidFill>
              </a:rPr>
              <a:t>Global lock, then commit</a:t>
            </a:r>
            <a:endParaRPr lang="en-US" sz="1350" dirty="0"/>
          </a:p>
        </p:txBody>
      </p:sp>
      <p:sp>
        <p:nvSpPr>
          <p:cNvPr id="25" name="Text 23"/>
          <p:cNvSpPr txBox="1"/>
          <p:nvPr/>
        </p:nvSpPr>
        <p:spPr>
          <a:xfrm>
            <a:off x="4480560" y="4078224"/>
            <a:ext cx="4206240" cy="292608"/>
          </a:xfrm>
          <a:prstGeom prst="rect">
            <a:avLst/>
          </a:prstGeom>
          <a:noFill/>
          <a:ln/>
        </p:spPr>
        <p:txBody>
          <a:bodyPr wrap="square" lIns="0" tIns="0" rIns="0" bIns="0" rtlCol="0" anchor="t"/>
          <a:lstStyle/>
          <a:p>
            <a:pPr indent="0" marL="0">
              <a:buNone/>
            </a:pPr>
            <a:r>
              <a:rPr lang="en-US" sz="1200" dirty="0">
                <a:solidFill>
                  <a:schemeClr val="tx2"/>
                </a:solidFill>
              </a:rPr>
              <a:t>Register branch with TC and get the lock before local commit</a:t>
            </a:r>
            <a:endParaRPr lang="en-US" sz="12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When payment fails: global rollback</a:t>
            </a:r>
            <a:endParaRPr lang="en-US" sz="2400" dirty="0"/>
          </a:p>
        </p:txBody>
      </p:sp>
      <p:sp>
        <p:nvSpPr>
          <p:cNvPr id="3" name="Shape 1"/>
          <p:cNvSpPr/>
          <p:nvPr/>
        </p:nvSpPr>
        <p:spPr>
          <a:xfrm>
            <a:off x="457200" y="1097280"/>
            <a:ext cx="1828800" cy="1051560"/>
          </a:xfrm>
          <a:prstGeom prst="roundRect">
            <a:avLst>
              <a:gd name="adj" fmla="val 6957"/>
            </a:avLst>
          </a:prstGeom>
          <a:solidFill>
            <a:srgbClr val="E3F2F1"/>
          </a:solidFill>
          <a:ln w="6350">
            <a:solidFill>
              <a:srgbClr val="E3F2F1"/>
            </a:solidFill>
            <a:prstDash val="solid"/>
          </a:ln>
        </p:spPr>
      </p:sp>
      <p:sp>
        <p:nvSpPr>
          <p:cNvPr id="4" name="Text 2"/>
          <p:cNvSpPr/>
          <p:nvPr/>
        </p:nvSpPr>
        <p:spPr>
          <a:xfrm>
            <a:off x="594360" y="1234440"/>
            <a:ext cx="347472" cy="347472"/>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5" name="Text 3"/>
          <p:cNvSpPr txBox="1"/>
          <p:nvPr/>
        </p:nvSpPr>
        <p:spPr>
          <a:xfrm>
            <a:off x="1024128" y="1261872"/>
            <a:ext cx="1188720" cy="292608"/>
          </a:xfrm>
          <a:prstGeom prst="rect">
            <a:avLst/>
          </a:prstGeom>
          <a:noFill/>
          <a:ln/>
        </p:spPr>
        <p:txBody>
          <a:bodyPr wrap="square" lIns="0" tIns="0" rIns="0" bIns="0" rtlCol="0" anchor="t"/>
          <a:lstStyle/>
          <a:p>
            <a:pPr indent="0" marL="0">
              <a:buNone/>
            </a:pPr>
            <a:r>
              <a:rPr lang="en-US" sz="1300" b="1" dirty="0">
                <a:solidFill>
                  <a:schemeClr val="accent1"/>
                </a:solidFill>
              </a:rPr>
              <a:t>Begin</a:t>
            </a:r>
            <a:endParaRPr lang="en-US" sz="1300" dirty="0"/>
          </a:p>
        </p:txBody>
      </p:sp>
      <p:sp>
        <p:nvSpPr>
          <p:cNvPr id="6" name="Text 4"/>
          <p:cNvSpPr txBox="1"/>
          <p:nvPr/>
        </p:nvSpPr>
        <p:spPr>
          <a:xfrm>
            <a:off x="594360" y="1645920"/>
            <a:ext cx="1600200" cy="457200"/>
          </a:xfrm>
          <a:prstGeom prst="rect">
            <a:avLst/>
          </a:prstGeom>
          <a:noFill/>
          <a:ln/>
        </p:spPr>
        <p:txBody>
          <a:bodyPr wrap="square" lIns="0" tIns="0" rIns="0" bIns="0" rtlCol="0" anchor="t"/>
          <a:lstStyle/>
          <a:p>
            <a:pPr indent="0" marL="0">
              <a:buNone/>
            </a:pPr>
            <a:r>
              <a:rPr lang="en-US" sz="1150" dirty="0">
                <a:solidFill>
                  <a:schemeClr val="tx1"/>
                </a:solidFill>
              </a:rPr>
              <a:t>TM gets XID from TC</a:t>
            </a:r>
            <a:endParaRPr lang="en-US" sz="1150" dirty="0"/>
          </a:p>
        </p:txBody>
      </p:sp>
      <p:sp>
        <p:nvSpPr>
          <p:cNvPr id="7" name="Shape 5"/>
          <p:cNvSpPr/>
          <p:nvPr/>
        </p:nvSpPr>
        <p:spPr>
          <a:xfrm>
            <a:off x="2313432" y="1623060"/>
            <a:ext cx="265176" cy="0"/>
          </a:xfrm>
          <a:prstGeom prst="line">
            <a:avLst/>
          </a:prstGeom>
          <a:noFill/>
          <a:ln w="15875">
            <a:solidFill>
              <a:schemeClr val="tx2"/>
            </a:solidFill>
            <a:prstDash val="solid"/>
            <a:tailEnd type="triangle"/>
          </a:ln>
        </p:spPr>
      </p:sp>
      <p:sp>
        <p:nvSpPr>
          <p:cNvPr id="8" name="Shape 6"/>
          <p:cNvSpPr/>
          <p:nvPr/>
        </p:nvSpPr>
        <p:spPr>
          <a:xfrm>
            <a:off x="2606040" y="1097280"/>
            <a:ext cx="1828800" cy="1051560"/>
          </a:xfrm>
          <a:prstGeom prst="roundRect">
            <a:avLst>
              <a:gd name="adj" fmla="val 6957"/>
            </a:avLst>
          </a:prstGeom>
          <a:solidFill>
            <a:srgbClr val="E3F2F1"/>
          </a:solidFill>
          <a:ln w="6350">
            <a:solidFill>
              <a:srgbClr val="E3F2F1"/>
            </a:solidFill>
            <a:prstDash val="solid"/>
          </a:ln>
        </p:spPr>
      </p:sp>
      <p:sp>
        <p:nvSpPr>
          <p:cNvPr id="9" name="Text 7"/>
          <p:cNvSpPr/>
          <p:nvPr/>
        </p:nvSpPr>
        <p:spPr>
          <a:xfrm>
            <a:off x="2743200" y="1234440"/>
            <a:ext cx="347472" cy="347472"/>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0" name="Text 8"/>
          <p:cNvSpPr txBox="1"/>
          <p:nvPr/>
        </p:nvSpPr>
        <p:spPr>
          <a:xfrm>
            <a:off x="3172968" y="1261872"/>
            <a:ext cx="1188720" cy="292608"/>
          </a:xfrm>
          <a:prstGeom prst="rect">
            <a:avLst/>
          </a:prstGeom>
          <a:noFill/>
          <a:ln/>
        </p:spPr>
        <p:txBody>
          <a:bodyPr wrap="square" lIns="0" tIns="0" rIns="0" bIns="0" rtlCol="0" anchor="t"/>
          <a:lstStyle/>
          <a:p>
            <a:pPr indent="0" marL="0">
              <a:buNone/>
            </a:pPr>
            <a:r>
              <a:rPr lang="en-US" sz="1300" b="1" dirty="0">
                <a:solidFill>
                  <a:schemeClr val="accent1"/>
                </a:solidFill>
              </a:rPr>
              <a:t>Reserve stock</a:t>
            </a:r>
            <a:endParaRPr lang="en-US" sz="1300" dirty="0"/>
          </a:p>
        </p:txBody>
      </p:sp>
      <p:sp>
        <p:nvSpPr>
          <p:cNvPr id="11" name="Text 9"/>
          <p:cNvSpPr txBox="1"/>
          <p:nvPr/>
        </p:nvSpPr>
        <p:spPr>
          <a:xfrm>
            <a:off x="2743200" y="1645920"/>
            <a:ext cx="1600200" cy="457200"/>
          </a:xfrm>
          <a:prstGeom prst="rect">
            <a:avLst/>
          </a:prstGeom>
          <a:noFill/>
          <a:ln/>
        </p:spPr>
        <p:txBody>
          <a:bodyPr wrap="square" lIns="0" tIns="0" rIns="0" bIns="0" rtlCol="0" anchor="t"/>
          <a:lstStyle/>
          <a:p>
            <a:pPr indent="0" marL="0">
              <a:buNone/>
            </a:pPr>
            <a:r>
              <a:rPr lang="en-US" sz="1150" dirty="0">
                <a:solidFill>
                  <a:schemeClr val="tx1"/>
                </a:solidFill>
              </a:rPr>
              <a:t>Inventory 10 to 9, undo log saved</a:t>
            </a:r>
            <a:endParaRPr lang="en-US" sz="1150" dirty="0"/>
          </a:p>
        </p:txBody>
      </p:sp>
      <p:sp>
        <p:nvSpPr>
          <p:cNvPr id="12" name="Shape 10"/>
          <p:cNvSpPr/>
          <p:nvPr/>
        </p:nvSpPr>
        <p:spPr>
          <a:xfrm>
            <a:off x="4462272" y="1623060"/>
            <a:ext cx="265176" cy="0"/>
          </a:xfrm>
          <a:prstGeom prst="line">
            <a:avLst/>
          </a:prstGeom>
          <a:noFill/>
          <a:ln w="15875">
            <a:solidFill>
              <a:schemeClr val="tx2"/>
            </a:solidFill>
            <a:prstDash val="solid"/>
            <a:tailEnd type="triangle"/>
          </a:ln>
        </p:spPr>
      </p:sp>
      <p:sp>
        <p:nvSpPr>
          <p:cNvPr id="13" name="Shape 11"/>
          <p:cNvSpPr/>
          <p:nvPr/>
        </p:nvSpPr>
        <p:spPr>
          <a:xfrm>
            <a:off x="4754880" y="1097280"/>
            <a:ext cx="1828800" cy="1051560"/>
          </a:xfrm>
          <a:prstGeom prst="roundRect">
            <a:avLst>
              <a:gd name="adj" fmla="val 6957"/>
            </a:avLst>
          </a:prstGeom>
          <a:solidFill>
            <a:srgbClr val="E3F2F1"/>
          </a:solidFill>
          <a:ln w="6350">
            <a:solidFill>
              <a:srgbClr val="E3F2F1"/>
            </a:solidFill>
            <a:prstDash val="solid"/>
          </a:ln>
        </p:spPr>
      </p:sp>
      <p:sp>
        <p:nvSpPr>
          <p:cNvPr id="14" name="Text 12"/>
          <p:cNvSpPr/>
          <p:nvPr/>
        </p:nvSpPr>
        <p:spPr>
          <a:xfrm>
            <a:off x="4892040" y="1234440"/>
            <a:ext cx="347472" cy="347472"/>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5" name="Text 13"/>
          <p:cNvSpPr txBox="1"/>
          <p:nvPr/>
        </p:nvSpPr>
        <p:spPr>
          <a:xfrm>
            <a:off x="5321808" y="1261872"/>
            <a:ext cx="1188720" cy="292608"/>
          </a:xfrm>
          <a:prstGeom prst="rect">
            <a:avLst/>
          </a:prstGeom>
          <a:noFill/>
          <a:ln/>
        </p:spPr>
        <p:txBody>
          <a:bodyPr wrap="square" lIns="0" tIns="0" rIns="0" bIns="0" rtlCol="0" anchor="t"/>
          <a:lstStyle/>
          <a:p>
            <a:pPr indent="0" marL="0">
              <a:buNone/>
            </a:pPr>
            <a:r>
              <a:rPr lang="en-US" sz="1300" b="1" dirty="0">
                <a:solidFill>
                  <a:schemeClr val="accent1"/>
                </a:solidFill>
              </a:rPr>
              <a:t>Register</a:t>
            </a:r>
            <a:endParaRPr lang="en-US" sz="1300" dirty="0"/>
          </a:p>
        </p:txBody>
      </p:sp>
      <p:sp>
        <p:nvSpPr>
          <p:cNvPr id="16" name="Text 14"/>
          <p:cNvSpPr txBox="1"/>
          <p:nvPr/>
        </p:nvSpPr>
        <p:spPr>
          <a:xfrm>
            <a:off x="4892040" y="1645920"/>
            <a:ext cx="1600200" cy="457200"/>
          </a:xfrm>
          <a:prstGeom prst="rect">
            <a:avLst/>
          </a:prstGeom>
          <a:noFill/>
          <a:ln/>
        </p:spPr>
        <p:txBody>
          <a:bodyPr wrap="square" lIns="0" tIns="0" rIns="0" bIns="0" rtlCol="0" anchor="t"/>
          <a:lstStyle/>
          <a:p>
            <a:pPr indent="0" marL="0">
              <a:buNone/>
            </a:pPr>
            <a:r>
              <a:rPr lang="en-US" sz="1150" dirty="0">
                <a:solidFill>
                  <a:schemeClr val="tx1"/>
                </a:solidFill>
              </a:rPr>
              <a:t>Inventory branch registered with TC</a:t>
            </a:r>
            <a:endParaRPr lang="en-US" sz="1150" dirty="0"/>
          </a:p>
        </p:txBody>
      </p:sp>
      <p:sp>
        <p:nvSpPr>
          <p:cNvPr id="17" name="Shape 15"/>
          <p:cNvSpPr/>
          <p:nvPr/>
        </p:nvSpPr>
        <p:spPr>
          <a:xfrm>
            <a:off x="6611112" y="1623060"/>
            <a:ext cx="265176" cy="0"/>
          </a:xfrm>
          <a:prstGeom prst="line">
            <a:avLst/>
          </a:prstGeom>
          <a:noFill/>
          <a:ln w="15875">
            <a:solidFill>
              <a:schemeClr val="tx2"/>
            </a:solidFill>
            <a:prstDash val="solid"/>
            <a:tailEnd type="triangle"/>
          </a:ln>
        </p:spPr>
      </p:sp>
      <p:sp>
        <p:nvSpPr>
          <p:cNvPr id="18" name="Shape 16"/>
          <p:cNvSpPr/>
          <p:nvPr/>
        </p:nvSpPr>
        <p:spPr>
          <a:xfrm>
            <a:off x="6903720" y="1097280"/>
            <a:ext cx="1828800" cy="1051560"/>
          </a:xfrm>
          <a:prstGeom prst="roundRect">
            <a:avLst>
              <a:gd name="adj" fmla="val 6957"/>
            </a:avLst>
          </a:prstGeom>
          <a:solidFill>
            <a:srgbClr val="E3F2F1"/>
          </a:solidFill>
          <a:ln w="6350">
            <a:solidFill>
              <a:srgbClr val="E3F2F1"/>
            </a:solidFill>
            <a:prstDash val="solid"/>
          </a:ln>
        </p:spPr>
      </p:sp>
      <p:sp>
        <p:nvSpPr>
          <p:cNvPr id="19" name="Text 17"/>
          <p:cNvSpPr/>
          <p:nvPr/>
        </p:nvSpPr>
        <p:spPr>
          <a:xfrm>
            <a:off x="7040880" y="1234440"/>
            <a:ext cx="347472" cy="347472"/>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0" name="Text 18"/>
          <p:cNvSpPr txBox="1"/>
          <p:nvPr/>
        </p:nvSpPr>
        <p:spPr>
          <a:xfrm>
            <a:off x="7470648" y="1261872"/>
            <a:ext cx="1188720" cy="292608"/>
          </a:xfrm>
          <a:prstGeom prst="rect">
            <a:avLst/>
          </a:prstGeom>
          <a:noFill/>
          <a:ln/>
        </p:spPr>
        <p:txBody>
          <a:bodyPr wrap="square" lIns="0" tIns="0" rIns="0" bIns="0" rtlCol="0" anchor="t"/>
          <a:lstStyle/>
          <a:p>
            <a:pPr indent="0" marL="0">
              <a:buNone/>
            </a:pPr>
            <a:r>
              <a:rPr lang="en-US" sz="1300" b="1" dirty="0">
                <a:solidFill>
                  <a:schemeClr val="accent1"/>
                </a:solidFill>
              </a:rPr>
              <a:t>Pay 1,000 Tk</a:t>
            </a:r>
            <a:endParaRPr lang="en-US" sz="1300" dirty="0"/>
          </a:p>
        </p:txBody>
      </p:sp>
      <p:sp>
        <p:nvSpPr>
          <p:cNvPr id="21" name="Text 19"/>
          <p:cNvSpPr txBox="1"/>
          <p:nvPr/>
        </p:nvSpPr>
        <p:spPr>
          <a:xfrm>
            <a:off x="7040880" y="1645920"/>
            <a:ext cx="1600200" cy="457200"/>
          </a:xfrm>
          <a:prstGeom prst="rect">
            <a:avLst/>
          </a:prstGeom>
          <a:noFill/>
          <a:ln/>
        </p:spPr>
        <p:txBody>
          <a:bodyPr wrap="square" lIns="0" tIns="0" rIns="0" bIns="0" rtlCol="0" anchor="t"/>
          <a:lstStyle/>
          <a:p>
            <a:pPr indent="0" marL="0">
              <a:buNone/>
            </a:pPr>
            <a:r>
              <a:rPr lang="en-US" sz="1150" dirty="0">
                <a:solidFill>
                  <a:schemeClr val="tx1"/>
                </a:solidFill>
              </a:rPr>
              <a:t>Order calls Payment</a:t>
            </a:r>
            <a:endParaRPr lang="en-US" sz="1150" dirty="0"/>
          </a:p>
        </p:txBody>
      </p:sp>
      <p:sp>
        <p:nvSpPr>
          <p:cNvPr id="22" name="Shape 20"/>
          <p:cNvSpPr/>
          <p:nvPr/>
        </p:nvSpPr>
        <p:spPr>
          <a:xfrm>
            <a:off x="457200" y="2468880"/>
            <a:ext cx="1828800" cy="1051560"/>
          </a:xfrm>
          <a:prstGeom prst="roundRect">
            <a:avLst>
              <a:gd name="adj" fmla="val 6957"/>
            </a:avLst>
          </a:prstGeom>
          <a:solidFill>
            <a:srgbClr val="FBE9EC"/>
          </a:solidFill>
          <a:ln w="6350">
            <a:solidFill>
              <a:srgbClr val="FBE9EC"/>
            </a:solidFill>
            <a:prstDash val="solid"/>
          </a:ln>
        </p:spPr>
      </p:sp>
      <p:sp>
        <p:nvSpPr>
          <p:cNvPr id="23" name="Text 21"/>
          <p:cNvSpPr/>
          <p:nvPr/>
        </p:nvSpPr>
        <p:spPr>
          <a:xfrm>
            <a:off x="594360" y="2606040"/>
            <a:ext cx="347472" cy="347472"/>
          </a:xfrm>
          <a:prstGeom prst="ellipse">
            <a:avLst/>
          </a:prstGeom>
          <a:solidFill>
            <a:schemeClr val="accent2"/>
          </a:solidFill>
          <a:ln w="6350">
            <a:solidFill>
              <a:schemeClr val="accent2"/>
            </a:solid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24" name="Text 22"/>
          <p:cNvSpPr txBox="1"/>
          <p:nvPr/>
        </p:nvSpPr>
        <p:spPr>
          <a:xfrm>
            <a:off x="1024128" y="2633472"/>
            <a:ext cx="1188720" cy="292608"/>
          </a:xfrm>
          <a:prstGeom prst="rect">
            <a:avLst/>
          </a:prstGeom>
          <a:noFill/>
          <a:ln/>
        </p:spPr>
        <p:txBody>
          <a:bodyPr wrap="square" lIns="0" tIns="0" rIns="0" bIns="0" rtlCol="0" anchor="t"/>
          <a:lstStyle/>
          <a:p>
            <a:pPr indent="0" marL="0">
              <a:buNone/>
            </a:pPr>
            <a:r>
              <a:rPr lang="en-US" sz="1300" b="1" dirty="0">
                <a:solidFill>
                  <a:schemeClr val="accent2"/>
                </a:solidFill>
              </a:rPr>
              <a:t>Payment fails</a:t>
            </a:r>
            <a:endParaRPr lang="en-US" sz="1300" dirty="0"/>
          </a:p>
        </p:txBody>
      </p:sp>
      <p:sp>
        <p:nvSpPr>
          <p:cNvPr id="25" name="Text 23"/>
          <p:cNvSpPr txBox="1"/>
          <p:nvPr/>
        </p:nvSpPr>
        <p:spPr>
          <a:xfrm>
            <a:off x="594360" y="3017520"/>
            <a:ext cx="1600200" cy="457200"/>
          </a:xfrm>
          <a:prstGeom prst="rect">
            <a:avLst/>
          </a:prstGeom>
          <a:noFill/>
          <a:ln/>
        </p:spPr>
        <p:txBody>
          <a:bodyPr wrap="square" lIns="0" tIns="0" rIns="0" bIns="0" rtlCol="0" anchor="t"/>
          <a:lstStyle/>
          <a:p>
            <a:pPr indent="0" marL="0">
              <a:buNone/>
            </a:pPr>
            <a:r>
              <a:rPr lang="en-US" sz="1150" dirty="0">
                <a:solidFill>
                  <a:schemeClr val="tx1"/>
                </a:solidFill>
              </a:rPr>
              <a:t>Error reaches Order service</a:t>
            </a:r>
            <a:endParaRPr lang="en-US" sz="1150" dirty="0"/>
          </a:p>
        </p:txBody>
      </p:sp>
      <p:sp>
        <p:nvSpPr>
          <p:cNvPr id="26" name="Shape 24"/>
          <p:cNvSpPr/>
          <p:nvPr/>
        </p:nvSpPr>
        <p:spPr>
          <a:xfrm>
            <a:off x="2313432" y="2994660"/>
            <a:ext cx="265176" cy="0"/>
          </a:xfrm>
          <a:prstGeom prst="line">
            <a:avLst/>
          </a:prstGeom>
          <a:noFill/>
          <a:ln w="15875">
            <a:solidFill>
              <a:schemeClr val="tx2"/>
            </a:solidFill>
            <a:prstDash val="solid"/>
            <a:tailEnd type="triangle"/>
          </a:ln>
        </p:spPr>
      </p:sp>
      <p:sp>
        <p:nvSpPr>
          <p:cNvPr id="27" name="Shape 25"/>
          <p:cNvSpPr/>
          <p:nvPr/>
        </p:nvSpPr>
        <p:spPr>
          <a:xfrm>
            <a:off x="2606040" y="2468880"/>
            <a:ext cx="1828800" cy="1051560"/>
          </a:xfrm>
          <a:prstGeom prst="roundRect">
            <a:avLst>
              <a:gd name="adj" fmla="val 6957"/>
            </a:avLst>
          </a:prstGeom>
          <a:solidFill>
            <a:srgbClr val="ECECFB"/>
          </a:solidFill>
          <a:ln w="6350">
            <a:solidFill>
              <a:srgbClr val="ECECFB"/>
            </a:solidFill>
            <a:prstDash val="solid"/>
          </a:ln>
        </p:spPr>
      </p:sp>
      <p:sp>
        <p:nvSpPr>
          <p:cNvPr id="28" name="Text 26"/>
          <p:cNvSpPr/>
          <p:nvPr/>
        </p:nvSpPr>
        <p:spPr>
          <a:xfrm>
            <a:off x="2743200" y="2606040"/>
            <a:ext cx="347472" cy="347472"/>
          </a:xfrm>
          <a:prstGeom prst="ellipse">
            <a:avLst/>
          </a:prstGeom>
          <a:solidFill>
            <a:schemeClr val="accent5"/>
          </a:solidFill>
          <a:ln w="6350">
            <a:solidFill>
              <a:schemeClr val="accent5"/>
            </a:solidFill>
          </a:ln>
        </p:spPr>
        <p:txBody>
          <a:bodyPr wrap="square" lIns="0" tIns="0" rIns="0" bIns="0" rtlCol="0" anchor="ctr"/>
          <a:lstStyle/>
          <a:p>
            <a:pPr algn="ctr" indent="0" marL="0">
              <a:buNone/>
            </a:pPr>
            <a:r>
              <a:rPr lang="en-US" sz="1100" b="1" dirty="0">
                <a:solidFill>
                  <a:schemeClr val="bg1"/>
                </a:solidFill>
              </a:rPr>
              <a:t>6</a:t>
            </a:r>
            <a:endParaRPr lang="en-US" sz="1100" dirty="0"/>
          </a:p>
        </p:txBody>
      </p:sp>
      <p:sp>
        <p:nvSpPr>
          <p:cNvPr id="29" name="Text 27"/>
          <p:cNvSpPr txBox="1"/>
          <p:nvPr/>
        </p:nvSpPr>
        <p:spPr>
          <a:xfrm>
            <a:off x="3172968" y="2633472"/>
            <a:ext cx="1188720" cy="292608"/>
          </a:xfrm>
          <a:prstGeom prst="rect">
            <a:avLst/>
          </a:prstGeom>
          <a:noFill/>
          <a:ln/>
        </p:spPr>
        <p:txBody>
          <a:bodyPr wrap="square" lIns="0" tIns="0" rIns="0" bIns="0" rtlCol="0" anchor="t"/>
          <a:lstStyle/>
          <a:p>
            <a:pPr indent="0" marL="0">
              <a:buNone/>
            </a:pPr>
            <a:r>
              <a:rPr lang="en-US" sz="1300" b="1" dirty="0">
                <a:solidFill>
                  <a:schemeClr val="accent5"/>
                </a:solidFill>
              </a:rPr>
              <a:t>Rollback XID</a:t>
            </a:r>
            <a:endParaRPr lang="en-US" sz="1300" dirty="0"/>
          </a:p>
        </p:txBody>
      </p:sp>
      <p:sp>
        <p:nvSpPr>
          <p:cNvPr id="30" name="Text 28"/>
          <p:cNvSpPr txBox="1"/>
          <p:nvPr/>
        </p:nvSpPr>
        <p:spPr>
          <a:xfrm>
            <a:off x="2743200" y="3017520"/>
            <a:ext cx="1600200" cy="457200"/>
          </a:xfrm>
          <a:prstGeom prst="rect">
            <a:avLst/>
          </a:prstGeom>
          <a:noFill/>
          <a:ln/>
        </p:spPr>
        <p:txBody>
          <a:bodyPr wrap="square" lIns="0" tIns="0" rIns="0" bIns="0" rtlCol="0" anchor="t"/>
          <a:lstStyle/>
          <a:p>
            <a:pPr indent="0" marL="0">
              <a:buNone/>
            </a:pPr>
            <a:r>
              <a:rPr lang="en-US" sz="1150" dirty="0">
                <a:solidFill>
                  <a:schemeClr val="tx1"/>
                </a:solidFill>
              </a:rPr>
              <a:t>TM asks TC to roll back</a:t>
            </a:r>
            <a:endParaRPr lang="en-US" sz="1150" dirty="0"/>
          </a:p>
        </p:txBody>
      </p:sp>
      <p:sp>
        <p:nvSpPr>
          <p:cNvPr id="31" name="Shape 29"/>
          <p:cNvSpPr/>
          <p:nvPr/>
        </p:nvSpPr>
        <p:spPr>
          <a:xfrm>
            <a:off x="4462272" y="2994660"/>
            <a:ext cx="265176" cy="0"/>
          </a:xfrm>
          <a:prstGeom prst="line">
            <a:avLst/>
          </a:prstGeom>
          <a:noFill/>
          <a:ln w="15875">
            <a:solidFill>
              <a:schemeClr val="tx2"/>
            </a:solidFill>
            <a:prstDash val="solid"/>
            <a:tailEnd type="triangle"/>
          </a:ln>
        </p:spPr>
      </p:sp>
      <p:sp>
        <p:nvSpPr>
          <p:cNvPr id="32" name="Shape 30"/>
          <p:cNvSpPr/>
          <p:nvPr/>
        </p:nvSpPr>
        <p:spPr>
          <a:xfrm>
            <a:off x="4754880" y="2468880"/>
            <a:ext cx="1828800" cy="1051560"/>
          </a:xfrm>
          <a:prstGeom prst="roundRect">
            <a:avLst>
              <a:gd name="adj" fmla="val 6957"/>
            </a:avLst>
          </a:prstGeom>
          <a:solidFill>
            <a:srgbClr val="E6F4EC"/>
          </a:solidFill>
          <a:ln w="6350">
            <a:solidFill>
              <a:srgbClr val="E6F4EC"/>
            </a:solidFill>
            <a:prstDash val="solid"/>
          </a:ln>
        </p:spPr>
      </p:sp>
      <p:sp>
        <p:nvSpPr>
          <p:cNvPr id="33" name="Text 31"/>
          <p:cNvSpPr/>
          <p:nvPr/>
        </p:nvSpPr>
        <p:spPr>
          <a:xfrm>
            <a:off x="4892040" y="2606040"/>
            <a:ext cx="347472" cy="347472"/>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1100" b="1" dirty="0">
                <a:solidFill>
                  <a:schemeClr val="bg1"/>
                </a:solidFill>
              </a:rPr>
              <a:t>7</a:t>
            </a:r>
            <a:endParaRPr lang="en-US" sz="1100" dirty="0"/>
          </a:p>
        </p:txBody>
      </p:sp>
      <p:sp>
        <p:nvSpPr>
          <p:cNvPr id="34" name="Text 32"/>
          <p:cNvSpPr txBox="1"/>
          <p:nvPr/>
        </p:nvSpPr>
        <p:spPr>
          <a:xfrm>
            <a:off x="5321808" y="2633472"/>
            <a:ext cx="1188720" cy="292608"/>
          </a:xfrm>
          <a:prstGeom prst="rect">
            <a:avLst/>
          </a:prstGeom>
          <a:noFill/>
          <a:ln/>
        </p:spPr>
        <p:txBody>
          <a:bodyPr wrap="square" lIns="0" tIns="0" rIns="0" bIns="0" rtlCol="0" anchor="t"/>
          <a:lstStyle/>
          <a:p>
            <a:pPr indent="0" marL="0">
              <a:buNone/>
            </a:pPr>
            <a:r>
              <a:rPr lang="en-US" sz="1300" b="1" dirty="0">
                <a:solidFill>
                  <a:schemeClr val="accent3"/>
                </a:solidFill>
              </a:rPr>
              <a:t>Undo</a:t>
            </a:r>
            <a:endParaRPr lang="en-US" sz="1300" dirty="0"/>
          </a:p>
        </p:txBody>
      </p:sp>
      <p:sp>
        <p:nvSpPr>
          <p:cNvPr id="35" name="Text 33"/>
          <p:cNvSpPr txBox="1"/>
          <p:nvPr/>
        </p:nvSpPr>
        <p:spPr>
          <a:xfrm>
            <a:off x="4892040" y="3017520"/>
            <a:ext cx="1600200" cy="457200"/>
          </a:xfrm>
          <a:prstGeom prst="rect">
            <a:avLst/>
          </a:prstGeom>
          <a:noFill/>
          <a:ln/>
        </p:spPr>
        <p:txBody>
          <a:bodyPr wrap="square" lIns="0" tIns="0" rIns="0" bIns="0" rtlCol="0" anchor="t"/>
          <a:lstStyle/>
          <a:p>
            <a:pPr indent="0" marL="0">
              <a:buNone/>
            </a:pPr>
            <a:r>
              <a:rPr lang="en-US" sz="1150" dirty="0">
                <a:solidFill>
                  <a:schemeClr val="tx1"/>
                </a:solidFill>
              </a:rPr>
              <a:t>Inventory restores 9 to 10</a:t>
            </a:r>
            <a:endParaRPr lang="en-US" sz="1150" dirty="0"/>
          </a:p>
        </p:txBody>
      </p:sp>
      <p:sp>
        <p:nvSpPr>
          <p:cNvPr id="36" name="Shape 34"/>
          <p:cNvSpPr/>
          <p:nvPr/>
        </p:nvSpPr>
        <p:spPr>
          <a:xfrm>
            <a:off x="6903720" y="2468880"/>
            <a:ext cx="1783080" cy="1051560"/>
          </a:xfrm>
          <a:prstGeom prst="roundRect">
            <a:avLst>
              <a:gd name="adj" fmla="val 6957"/>
            </a:avLst>
          </a:prstGeom>
          <a:solidFill>
            <a:schemeClr val="bg1"/>
          </a:solidFill>
          <a:ln w="12700">
            <a:solidFill>
              <a:schemeClr val="accent3"/>
            </a:solidFill>
            <a:prstDash val="solid"/>
          </a:ln>
        </p:spPr>
      </p:sp>
      <p:sp>
        <p:nvSpPr>
          <p:cNvPr id="37" name="Text 35"/>
          <p:cNvSpPr txBox="1"/>
          <p:nvPr/>
        </p:nvSpPr>
        <p:spPr>
          <a:xfrm>
            <a:off x="7040880" y="2542032"/>
            <a:ext cx="1554480" cy="256032"/>
          </a:xfrm>
          <a:prstGeom prst="rect">
            <a:avLst/>
          </a:prstGeom>
          <a:noFill/>
          <a:ln/>
        </p:spPr>
        <p:txBody>
          <a:bodyPr wrap="square" lIns="0" tIns="0" rIns="0" bIns="0" rtlCol="0" anchor="t"/>
          <a:lstStyle/>
          <a:p>
            <a:pPr indent="0" marL="0">
              <a:buNone/>
            </a:pPr>
            <a:r>
              <a:rPr lang="en-US" sz="1200" b="1" dirty="0">
                <a:solidFill>
                  <a:schemeClr val="accent3"/>
                </a:solidFill>
              </a:rPr>
              <a:t>Final state</a:t>
            </a:r>
            <a:endParaRPr lang="en-US" sz="1200" dirty="0"/>
          </a:p>
        </p:txBody>
      </p:sp>
      <p:sp>
        <p:nvSpPr>
          <p:cNvPr id="38" name="Text 36"/>
          <p:cNvSpPr txBox="1"/>
          <p:nvPr/>
        </p:nvSpPr>
        <p:spPr>
          <a:xfrm>
            <a:off x="7040880" y="2816352"/>
            <a:ext cx="1600200" cy="658368"/>
          </a:xfrm>
          <a:prstGeom prst="rect">
            <a:avLst/>
          </a:prstGeom>
          <a:noFill/>
          <a:ln/>
        </p:spPr>
        <p:txBody>
          <a:bodyPr wrap="square" lIns="0" tIns="0" rIns="0" bIns="0" rtlCol="0" anchor="t"/>
          <a:lstStyle/>
          <a:p>
            <a:pPr indent="0" marL="0">
              <a:buNone/>
            </a:pPr>
            <a:r>
              <a:rPr lang="en-US" sz="1150" dirty="0">
                <a:solidFill>
                  <a:schemeClr val="tx1"/>
                </a:solidFill>
              </a:rPr>
              <a:t>Stock: 10</a:t>
            </a:r>
            <a:endParaRPr lang="en-US" sz="1150" dirty="0"/>
          </a:p>
          <a:p>
            <a:pPr indent="0" marL="0">
              <a:buNone/>
            </a:pPr>
            <a:r>
              <a:rPr lang="en-US" sz="1150" dirty="0">
                <a:solidFill>
                  <a:schemeClr val="tx1"/>
                </a:solidFill>
              </a:rPr>
              <a:t>Payment: none</a:t>
            </a:r>
            <a:endParaRPr lang="en-US" sz="1150" dirty="0"/>
          </a:p>
          <a:p>
            <a:pPr indent="0" marL="0">
              <a:buNone/>
            </a:pPr>
            <a:r>
              <a:rPr lang="en-US" sz="1150" dirty="0">
                <a:solidFill>
                  <a:schemeClr val="tx1"/>
                </a:solidFill>
              </a:rPr>
              <a:t>Order: not confirmed</a:t>
            </a:r>
            <a:endParaRPr lang="en-US" sz="1150" dirty="0"/>
          </a:p>
        </p:txBody>
      </p:sp>
      <p:sp>
        <p:nvSpPr>
          <p:cNvPr id="39" name="Shape 37"/>
          <p:cNvSpPr/>
          <p:nvPr/>
        </p:nvSpPr>
        <p:spPr>
          <a:xfrm>
            <a:off x="457200" y="3886200"/>
            <a:ext cx="8229600" cy="685800"/>
          </a:xfrm>
          <a:prstGeom prst="roundRect">
            <a:avLst>
              <a:gd name="adj" fmla="val 13333"/>
            </a:avLst>
          </a:prstGeom>
          <a:solidFill>
            <a:srgbClr val="FDF3E2"/>
          </a:solidFill>
          <a:ln w="6350">
            <a:solidFill>
              <a:srgbClr val="FDF3E2"/>
            </a:solidFill>
            <a:prstDash val="solid"/>
          </a:ln>
        </p:spPr>
      </p:sp>
      <p:sp>
        <p:nvSpPr>
          <p:cNvPr id="40" name="Text 38"/>
          <p:cNvSpPr txBox="1"/>
          <p:nvPr/>
        </p:nvSpPr>
        <p:spPr>
          <a:xfrm>
            <a:off x="685800" y="3950208"/>
            <a:ext cx="7772400" cy="548640"/>
          </a:xfrm>
          <a:prstGeom prst="rect">
            <a:avLst/>
          </a:prstGeom>
          <a:noFill/>
          <a:ln/>
        </p:spPr>
        <p:txBody>
          <a:bodyPr wrap="square" lIns="0" tIns="0" rIns="0" bIns="0" rtlCol="0" anchor="ctr"/>
          <a:lstStyle/>
          <a:p>
            <a:pPr indent="0" marL="0">
              <a:buNone/>
            </a:pPr>
            <a:r>
              <a:rPr lang="en-US" sz="1250" b="1" dirty="0">
                <a:solidFill>
                  <a:schemeClr val="accent4"/>
                </a:solidFill>
              </a:rPr>
              <a:t>Real payment gateways: </a:t>
            </a:r>
            <a:pPr indent="0" marL="0">
              <a:buNone/>
            </a:pPr>
            <a:r>
              <a:rPr lang="en-US" sz="1250" dirty="0">
                <a:solidFill>
                  <a:schemeClr val="tx1"/>
                </a:solidFill>
              </a:rPr>
              <a:t>an external card or bank charge cannot be undone by undo_log. It needs a refund or compensation step (TCC or Saga).</a:t>
            </a:r>
            <a:endParaRPr lang="en-US" sz="125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Where Seata plugs in: little code change</a:t>
            </a:r>
            <a:endParaRPr lang="en-US" sz="2400" dirty="0"/>
          </a:p>
        </p:txBody>
      </p:sp>
      <p:sp>
        <p:nvSpPr>
          <p:cNvPr id="3" name="Shape 1"/>
          <p:cNvSpPr/>
          <p:nvPr/>
        </p:nvSpPr>
        <p:spPr>
          <a:xfrm>
            <a:off x="457200" y="1097280"/>
            <a:ext cx="2606040" cy="2331720"/>
          </a:xfrm>
          <a:prstGeom prst="roundRect">
            <a:avLst>
              <a:gd name="adj" fmla="val 3922"/>
            </a:avLst>
          </a:prstGeom>
          <a:solidFill>
            <a:srgbClr val="E3F2F1"/>
          </a:solidFill>
          <a:ln w="6350">
            <a:solidFill>
              <a:srgbClr val="E3F2F1"/>
            </a:solidFill>
            <a:prstDash val="solid"/>
          </a:ln>
        </p:spPr>
      </p:sp>
      <p:sp>
        <p:nvSpPr>
          <p:cNvPr id="4" name="Text 2"/>
          <p:cNvSpPr/>
          <p:nvPr/>
        </p:nvSpPr>
        <p:spPr>
          <a:xfrm>
            <a:off x="685800" y="1280160"/>
            <a:ext cx="548640" cy="548640"/>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500" b="1" dirty="0">
                <a:solidFill>
                  <a:schemeClr val="bg1"/>
                </a:solidFill>
              </a:rPr>
              <a:t>TM</a:t>
            </a:r>
            <a:endParaRPr lang="en-US" sz="1500" dirty="0"/>
          </a:p>
        </p:txBody>
      </p:sp>
      <p:sp>
        <p:nvSpPr>
          <p:cNvPr id="5" name="Text 3"/>
          <p:cNvSpPr txBox="1"/>
          <p:nvPr/>
        </p:nvSpPr>
        <p:spPr>
          <a:xfrm>
            <a:off x="1371600" y="1389888"/>
            <a:ext cx="1645920" cy="320040"/>
          </a:xfrm>
          <a:prstGeom prst="rect">
            <a:avLst/>
          </a:prstGeom>
          <a:noFill/>
          <a:ln/>
        </p:spPr>
        <p:txBody>
          <a:bodyPr wrap="square" lIns="0" tIns="0" rIns="0" bIns="0" rtlCol="0" anchor="t"/>
          <a:lstStyle/>
          <a:p>
            <a:pPr indent="0" marL="0">
              <a:buNone/>
            </a:pPr>
            <a:r>
              <a:rPr lang="en-US" sz="1450" b="1" dirty="0">
                <a:solidFill>
                  <a:schemeClr val="tx1"/>
                </a:solidFill>
              </a:rPr>
              <a:t>Order service</a:t>
            </a:r>
            <a:endParaRPr lang="en-US" sz="1450" dirty="0"/>
          </a:p>
        </p:txBody>
      </p:sp>
      <p:sp>
        <p:nvSpPr>
          <p:cNvPr id="6" name="Text 4"/>
          <p:cNvSpPr txBox="1"/>
          <p:nvPr/>
        </p:nvSpPr>
        <p:spPr>
          <a:xfrm>
            <a:off x="685800" y="2011680"/>
            <a:ext cx="2194560" cy="822960"/>
          </a:xfrm>
          <a:prstGeom prst="rect">
            <a:avLst/>
          </a:prstGeom>
          <a:noFill/>
          <a:ln/>
        </p:spPr>
        <p:txBody>
          <a:bodyPr wrap="square" lIns="0" tIns="0" rIns="0" bIns="0" rtlCol="0" anchor="t"/>
          <a:lstStyle/>
          <a:p>
            <a:pPr indent="0" marL="0">
              <a:buNone/>
            </a:pPr>
            <a:r>
              <a:rPr lang="en-US" sz="1250" dirty="0">
                <a:solidFill>
                  <a:schemeClr val="tx1"/>
                </a:solidFill>
              </a:rPr>
              <a:t>Add one annotation, @GlobalTransactional, on the method that starts the business flow.</a:t>
            </a:r>
            <a:endParaRPr lang="en-US" sz="1250" dirty="0"/>
          </a:p>
        </p:txBody>
      </p:sp>
      <p:sp>
        <p:nvSpPr>
          <p:cNvPr id="7" name="Text 5"/>
          <p:cNvSpPr txBox="1"/>
          <p:nvPr/>
        </p:nvSpPr>
        <p:spPr>
          <a:xfrm>
            <a:off x="685800" y="2926080"/>
            <a:ext cx="2194560" cy="365760"/>
          </a:xfrm>
          <a:prstGeom prst="rect">
            <a:avLst/>
          </a:prstGeom>
          <a:noFill/>
          <a:ln/>
        </p:spPr>
        <p:txBody>
          <a:bodyPr wrap="square" lIns="0" tIns="0" rIns="0" bIns="0" rtlCol="0" anchor="t"/>
          <a:lstStyle/>
          <a:p>
            <a:pPr indent="0" marL="0">
              <a:buNone/>
            </a:pPr>
            <a:r>
              <a:rPr lang="en-US" sz="1150" i="1" dirty="0">
                <a:solidFill>
                  <a:schemeClr val="accent1"/>
                </a:solidFill>
              </a:rPr>
              <a:t>Business logic stays the same</a:t>
            </a:r>
            <a:endParaRPr lang="en-US" sz="1150" dirty="0"/>
          </a:p>
        </p:txBody>
      </p:sp>
      <p:sp>
        <p:nvSpPr>
          <p:cNvPr id="8" name="Shape 6"/>
          <p:cNvSpPr/>
          <p:nvPr/>
        </p:nvSpPr>
        <p:spPr>
          <a:xfrm>
            <a:off x="3268980" y="1097280"/>
            <a:ext cx="2606040" cy="2331720"/>
          </a:xfrm>
          <a:prstGeom prst="roundRect">
            <a:avLst>
              <a:gd name="adj" fmla="val 3922"/>
            </a:avLst>
          </a:prstGeom>
          <a:solidFill>
            <a:srgbClr val="E3F2F1"/>
          </a:solidFill>
          <a:ln w="6350">
            <a:solidFill>
              <a:srgbClr val="E3F2F1"/>
            </a:solidFill>
            <a:prstDash val="solid"/>
          </a:ln>
        </p:spPr>
      </p:sp>
      <p:sp>
        <p:nvSpPr>
          <p:cNvPr id="9" name="Text 7"/>
          <p:cNvSpPr/>
          <p:nvPr/>
        </p:nvSpPr>
        <p:spPr>
          <a:xfrm>
            <a:off x="3497580" y="1280160"/>
            <a:ext cx="548640" cy="548640"/>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500" b="1" dirty="0">
                <a:solidFill>
                  <a:schemeClr val="bg1"/>
                </a:solidFill>
              </a:rPr>
              <a:t>RM</a:t>
            </a:r>
            <a:endParaRPr lang="en-US" sz="1500" dirty="0"/>
          </a:p>
        </p:txBody>
      </p:sp>
      <p:sp>
        <p:nvSpPr>
          <p:cNvPr id="10" name="Text 8"/>
          <p:cNvSpPr txBox="1"/>
          <p:nvPr/>
        </p:nvSpPr>
        <p:spPr>
          <a:xfrm>
            <a:off x="4183380" y="1389888"/>
            <a:ext cx="1645920" cy="320040"/>
          </a:xfrm>
          <a:prstGeom prst="rect">
            <a:avLst/>
          </a:prstGeom>
          <a:noFill/>
          <a:ln/>
        </p:spPr>
        <p:txBody>
          <a:bodyPr wrap="square" lIns="0" tIns="0" rIns="0" bIns="0" rtlCol="0" anchor="t"/>
          <a:lstStyle/>
          <a:p>
            <a:pPr indent="0" marL="0">
              <a:buNone/>
            </a:pPr>
            <a:r>
              <a:rPr lang="en-US" sz="1450" b="1" dirty="0">
                <a:solidFill>
                  <a:schemeClr val="tx1"/>
                </a:solidFill>
              </a:rPr>
              <a:t>Inventory, Payment</a:t>
            </a:r>
            <a:endParaRPr lang="en-US" sz="1450" dirty="0"/>
          </a:p>
        </p:txBody>
      </p:sp>
      <p:sp>
        <p:nvSpPr>
          <p:cNvPr id="11" name="Text 9"/>
          <p:cNvSpPr txBox="1"/>
          <p:nvPr/>
        </p:nvSpPr>
        <p:spPr>
          <a:xfrm>
            <a:off x="3497580" y="2011680"/>
            <a:ext cx="2194560" cy="822960"/>
          </a:xfrm>
          <a:prstGeom prst="rect">
            <a:avLst/>
          </a:prstGeom>
          <a:noFill/>
          <a:ln/>
        </p:spPr>
        <p:txBody>
          <a:bodyPr wrap="square" lIns="0" tIns="0" rIns="0" bIns="0" rtlCol="0" anchor="t"/>
          <a:lstStyle/>
          <a:p>
            <a:pPr indent="0" marL="0">
              <a:buNone/>
            </a:pPr>
            <a:r>
              <a:rPr lang="en-US" sz="1250" dirty="0">
                <a:solidFill>
                  <a:schemeClr val="tx1"/>
                </a:solidFill>
              </a:rPr>
              <a:t>Add the Seata starter. It wraps the DataSource with a proxy.</a:t>
            </a:r>
            <a:endParaRPr lang="en-US" sz="1250" dirty="0"/>
          </a:p>
        </p:txBody>
      </p:sp>
      <p:sp>
        <p:nvSpPr>
          <p:cNvPr id="12" name="Text 10"/>
          <p:cNvSpPr txBox="1"/>
          <p:nvPr/>
        </p:nvSpPr>
        <p:spPr>
          <a:xfrm>
            <a:off x="3497580" y="2926080"/>
            <a:ext cx="2194560" cy="365760"/>
          </a:xfrm>
          <a:prstGeom prst="rect">
            <a:avLst/>
          </a:prstGeom>
          <a:noFill/>
          <a:ln/>
        </p:spPr>
        <p:txBody>
          <a:bodyPr wrap="square" lIns="0" tIns="0" rIns="0" bIns="0" rtlCol="0" anchor="t"/>
          <a:lstStyle/>
          <a:p>
            <a:pPr indent="0" marL="0">
              <a:buNone/>
            </a:pPr>
            <a:r>
              <a:rPr lang="en-US" sz="1150" i="1" dirty="0">
                <a:solidFill>
                  <a:schemeClr val="accent1"/>
                </a:solidFill>
              </a:rPr>
              <a:t>Normal local transactions, same code</a:t>
            </a:r>
            <a:endParaRPr lang="en-US" sz="1150" dirty="0"/>
          </a:p>
        </p:txBody>
      </p:sp>
      <p:sp>
        <p:nvSpPr>
          <p:cNvPr id="13" name="Shape 11"/>
          <p:cNvSpPr/>
          <p:nvPr/>
        </p:nvSpPr>
        <p:spPr>
          <a:xfrm>
            <a:off x="6080760" y="1097280"/>
            <a:ext cx="2606040" cy="2331720"/>
          </a:xfrm>
          <a:prstGeom prst="roundRect">
            <a:avLst>
              <a:gd name="adj" fmla="val 3922"/>
            </a:avLst>
          </a:prstGeom>
          <a:solidFill>
            <a:srgbClr val="ECECFB"/>
          </a:solidFill>
          <a:ln w="6350">
            <a:solidFill>
              <a:srgbClr val="ECECFB"/>
            </a:solidFill>
            <a:prstDash val="solid"/>
          </a:ln>
        </p:spPr>
      </p:sp>
      <p:sp>
        <p:nvSpPr>
          <p:cNvPr id="14" name="Text 12"/>
          <p:cNvSpPr/>
          <p:nvPr/>
        </p:nvSpPr>
        <p:spPr>
          <a:xfrm>
            <a:off x="6309360" y="1280160"/>
            <a:ext cx="548640" cy="548640"/>
          </a:xfrm>
          <a:prstGeom prst="ellipse">
            <a:avLst/>
          </a:prstGeom>
          <a:solidFill>
            <a:schemeClr val="accent5"/>
          </a:solidFill>
          <a:ln w="6350">
            <a:solidFill>
              <a:schemeClr val="accent5"/>
            </a:solidFill>
          </a:ln>
        </p:spPr>
        <p:txBody>
          <a:bodyPr wrap="square" lIns="0" tIns="0" rIns="0" bIns="0" rtlCol="0" anchor="ctr"/>
          <a:lstStyle/>
          <a:p>
            <a:pPr algn="ctr" indent="0" marL="0">
              <a:buNone/>
            </a:pPr>
            <a:r>
              <a:rPr lang="en-US" sz="1500" b="1" dirty="0">
                <a:solidFill>
                  <a:schemeClr val="bg1"/>
                </a:solidFill>
              </a:rPr>
              <a:t>TC</a:t>
            </a:r>
            <a:endParaRPr lang="en-US" sz="1500" dirty="0"/>
          </a:p>
        </p:txBody>
      </p:sp>
      <p:sp>
        <p:nvSpPr>
          <p:cNvPr id="15" name="Text 13"/>
          <p:cNvSpPr txBox="1"/>
          <p:nvPr/>
        </p:nvSpPr>
        <p:spPr>
          <a:xfrm>
            <a:off x="6995160" y="1389888"/>
            <a:ext cx="1645920" cy="320040"/>
          </a:xfrm>
          <a:prstGeom prst="rect">
            <a:avLst/>
          </a:prstGeom>
          <a:noFill/>
          <a:ln/>
        </p:spPr>
        <p:txBody>
          <a:bodyPr wrap="square" lIns="0" tIns="0" rIns="0" bIns="0" rtlCol="0" anchor="t"/>
          <a:lstStyle/>
          <a:p>
            <a:pPr indent="0" marL="0">
              <a:buNone/>
            </a:pPr>
            <a:r>
              <a:rPr lang="en-US" sz="1450" b="1" dirty="0">
                <a:solidFill>
                  <a:schemeClr val="tx1"/>
                </a:solidFill>
              </a:rPr>
              <a:t>Seata server</a:t>
            </a:r>
            <a:endParaRPr lang="en-US" sz="1450" dirty="0"/>
          </a:p>
        </p:txBody>
      </p:sp>
      <p:sp>
        <p:nvSpPr>
          <p:cNvPr id="16" name="Text 14"/>
          <p:cNvSpPr txBox="1"/>
          <p:nvPr/>
        </p:nvSpPr>
        <p:spPr>
          <a:xfrm>
            <a:off x="6309360" y="2011680"/>
            <a:ext cx="2194560" cy="822960"/>
          </a:xfrm>
          <a:prstGeom prst="rect">
            <a:avLst/>
          </a:prstGeom>
          <a:noFill/>
          <a:ln/>
        </p:spPr>
        <p:txBody>
          <a:bodyPr wrap="square" lIns="0" tIns="0" rIns="0" bIns="0" rtlCol="0" anchor="t"/>
          <a:lstStyle/>
          <a:p>
            <a:pPr indent="0" marL="0">
              <a:buNone/>
            </a:pPr>
            <a:r>
              <a:rPr lang="en-US" sz="1250" dirty="0">
                <a:solidFill>
                  <a:schemeClr val="tx1"/>
                </a:solidFill>
              </a:rPr>
              <a:t>Run it as its own Docker container with a pinned version.</a:t>
            </a:r>
            <a:endParaRPr lang="en-US" sz="1250" dirty="0"/>
          </a:p>
        </p:txBody>
      </p:sp>
      <p:sp>
        <p:nvSpPr>
          <p:cNvPr id="17" name="Text 15"/>
          <p:cNvSpPr txBox="1"/>
          <p:nvPr/>
        </p:nvSpPr>
        <p:spPr>
          <a:xfrm>
            <a:off x="6309360" y="2926080"/>
            <a:ext cx="2194560" cy="365760"/>
          </a:xfrm>
          <a:prstGeom prst="rect">
            <a:avLst/>
          </a:prstGeom>
          <a:noFill/>
          <a:ln/>
        </p:spPr>
        <p:txBody>
          <a:bodyPr wrap="square" lIns="0" tIns="0" rIns="0" bIns="0" rtlCol="0" anchor="t"/>
          <a:lstStyle/>
          <a:p>
            <a:pPr indent="0" marL="0">
              <a:buNone/>
            </a:pPr>
            <a:r>
              <a:rPr lang="en-US" sz="1150" i="1" dirty="0">
                <a:solidFill>
                  <a:schemeClr val="accent5"/>
                </a:solidFill>
              </a:rPr>
              <a:t>Services find it by transaction group</a:t>
            </a:r>
            <a:endParaRPr lang="en-US" sz="1150" dirty="0"/>
          </a:p>
        </p:txBody>
      </p:sp>
      <p:sp>
        <p:nvSpPr>
          <p:cNvPr id="18" name="Shape 16"/>
          <p:cNvSpPr/>
          <p:nvPr/>
        </p:nvSpPr>
        <p:spPr>
          <a:xfrm>
            <a:off x="457200" y="3657600"/>
            <a:ext cx="8229600" cy="914400"/>
          </a:xfrm>
          <a:prstGeom prst="roundRect">
            <a:avLst>
              <a:gd name="adj" fmla="val 10000"/>
            </a:avLst>
          </a:prstGeom>
          <a:solidFill>
            <a:schemeClr val="bg2"/>
          </a:solidFill>
          <a:ln w="6350">
            <a:solidFill>
              <a:srgbClr val="E1E6EB"/>
            </a:solidFill>
            <a:prstDash val="solid"/>
          </a:ln>
        </p:spPr>
      </p:sp>
      <p:sp>
        <p:nvSpPr>
          <p:cNvPr id="19" name="Text 17"/>
          <p:cNvSpPr txBox="1"/>
          <p:nvPr/>
        </p:nvSpPr>
        <p:spPr>
          <a:xfrm>
            <a:off x="685800" y="3749040"/>
            <a:ext cx="4206240" cy="731520"/>
          </a:xfrm>
          <a:prstGeom prst="rect">
            <a:avLst/>
          </a:prstGeom>
          <a:noFill/>
          <a:ln/>
        </p:spPr>
        <p:txBody>
          <a:bodyPr wrap="square" lIns="0" tIns="0" rIns="0" bIns="0" rtlCol="0" anchor="ctr"/>
          <a:lstStyle/>
          <a:p>
            <a:pPr indent="0" marL="0">
              <a:buNone/>
            </a:pPr>
            <a:r>
              <a:rPr lang="en-US" sz="1300" b="1" dirty="0">
                <a:solidFill>
                  <a:schemeClr val="tx1"/>
                </a:solidFill>
              </a:rPr>
              <a:t>Each participant's proxy mode decides how its branch works</a:t>
            </a:r>
            <a:endParaRPr lang="en-US" sz="1300" dirty="0"/>
          </a:p>
        </p:txBody>
      </p:sp>
      <p:sp>
        <p:nvSpPr>
          <p:cNvPr id="20" name="Text 18"/>
          <p:cNvSpPr/>
          <p:nvPr/>
        </p:nvSpPr>
        <p:spPr>
          <a:xfrm>
            <a:off x="5120640" y="3794760"/>
            <a:ext cx="1600200" cy="640080"/>
          </a:xfrm>
          <a:prstGeom prst="roundRect">
            <a:avLst>
              <a:gd name="adj" fmla="val 11429"/>
            </a:avLst>
          </a:prstGeom>
          <a:solidFill>
            <a:schemeClr val="bg1"/>
          </a:solidFill>
          <a:ln w="12700">
            <a:solidFill>
              <a:schemeClr val="accent4"/>
            </a:solidFill>
          </a:ln>
        </p:spPr>
        <p:txBody>
          <a:bodyPr wrap="square" lIns="63500" tIns="63500" rIns="63500" bIns="63500" rtlCol="0" anchor="ctr"/>
          <a:lstStyle/>
          <a:p>
            <a:pPr algn="ctr" indent="0" marL="0">
              <a:buNone/>
            </a:pPr>
            <a:r>
              <a:rPr lang="en-US" sz="1300" b="1" dirty="0">
                <a:solidFill>
                  <a:schemeClr val="tx1"/>
                </a:solidFill>
              </a:rPr>
              <a:t>AT</a:t>
            </a:r>
            <a:endParaRPr lang="en-US" sz="1300" dirty="0"/>
          </a:p>
          <a:p>
            <a:pPr algn="ctr" indent="0" marL="0">
              <a:buNone/>
            </a:pPr>
            <a:r>
              <a:rPr lang="en-US" sz="1100" dirty="0">
                <a:solidFill>
                  <a:schemeClr val="tx2"/>
                </a:solidFill>
              </a:rPr>
              <a:t>commit + undo log</a:t>
            </a:r>
            <a:endParaRPr lang="en-US" sz="1300" dirty="0"/>
          </a:p>
        </p:txBody>
      </p:sp>
      <p:sp>
        <p:nvSpPr>
          <p:cNvPr id="21" name="Text 19"/>
          <p:cNvSpPr/>
          <p:nvPr/>
        </p:nvSpPr>
        <p:spPr>
          <a:xfrm>
            <a:off x="6903720" y="3794760"/>
            <a:ext cx="1600200" cy="640080"/>
          </a:xfrm>
          <a:prstGeom prst="roundRect">
            <a:avLst>
              <a:gd name="adj" fmla="val 11429"/>
            </a:avLst>
          </a:prstGeom>
          <a:solidFill>
            <a:schemeClr val="bg1"/>
          </a:solidFill>
          <a:ln w="12700">
            <a:solidFill>
              <a:schemeClr val="accent1"/>
            </a:solidFill>
          </a:ln>
        </p:spPr>
        <p:txBody>
          <a:bodyPr wrap="square" lIns="63500" tIns="63500" rIns="63500" bIns="63500" rtlCol="0" anchor="ctr"/>
          <a:lstStyle/>
          <a:p>
            <a:pPr algn="ctr" indent="0" marL="0">
              <a:buNone/>
            </a:pPr>
            <a:r>
              <a:rPr lang="en-US" sz="1300" b="1" dirty="0">
                <a:solidFill>
                  <a:schemeClr val="tx1"/>
                </a:solidFill>
              </a:rPr>
              <a:t>XA</a:t>
            </a:r>
            <a:endParaRPr lang="en-US" sz="1300" dirty="0"/>
          </a:p>
          <a:p>
            <a:pPr algn="ctr" indent="0" marL="0">
              <a:buNone/>
            </a:pPr>
            <a:r>
              <a:rPr lang="en-US" sz="1100" dirty="0">
                <a:solidFill>
                  <a:schemeClr val="tx2"/>
                </a:solidFill>
              </a:rPr>
              <a:t>prepare, then commit</a:t>
            </a:r>
            <a:endParaRPr lang="en-US" sz="13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One example, two requirements</a:t>
            </a:r>
            <a:endParaRPr lang="en-US" sz="2400" dirty="0"/>
          </a:p>
        </p:txBody>
      </p:sp>
      <p:sp>
        <p:nvSpPr>
          <p:cNvPr id="3" name="Text 1"/>
          <p:cNvSpPr/>
          <p:nvPr/>
        </p:nvSpPr>
        <p:spPr>
          <a:xfrm>
            <a:off x="457200" y="1097280"/>
            <a:ext cx="1737360" cy="685800"/>
          </a:xfrm>
          <a:prstGeom prst="roundRect">
            <a:avLst>
              <a:gd name="adj" fmla="val 10667"/>
            </a:avLst>
          </a:prstGeom>
          <a:solidFill>
            <a:schemeClr val="bg2"/>
          </a:solidFill>
          <a:ln w="9525">
            <a:solidFill>
              <a:srgbClr val="D5DCE3"/>
            </a:solidFill>
          </a:ln>
        </p:spPr>
        <p:txBody>
          <a:bodyPr wrap="square" lIns="63500" tIns="63500" rIns="63500" bIns="63500" rtlCol="0" anchor="ctr"/>
          <a:lstStyle/>
          <a:p>
            <a:pPr algn="ctr" indent="0" marL="0">
              <a:buNone/>
            </a:pPr>
            <a:r>
              <a:rPr lang="en-US" sz="1300" b="1" dirty="0">
                <a:solidFill>
                  <a:schemeClr val="tx1"/>
                </a:solidFill>
              </a:rPr>
              <a:t>Account A</a:t>
            </a:r>
            <a:endParaRPr lang="en-US" sz="1300" dirty="0"/>
          </a:p>
          <a:p>
            <a:pPr algn="ctr" indent="0" marL="0">
              <a:buNone/>
            </a:pPr>
            <a:r>
              <a:rPr lang="en-US" sz="1200" dirty="0">
                <a:solidFill>
                  <a:schemeClr val="tx2"/>
                </a:solidFill>
              </a:rPr>
              <a:t>5,000 Tk</a:t>
            </a:r>
            <a:endParaRPr lang="en-US" sz="1300" dirty="0"/>
          </a:p>
        </p:txBody>
      </p:sp>
      <p:sp>
        <p:nvSpPr>
          <p:cNvPr id="4" name="Text 2"/>
          <p:cNvSpPr/>
          <p:nvPr/>
        </p:nvSpPr>
        <p:spPr>
          <a:xfrm>
            <a:off x="2606040" y="1097280"/>
            <a:ext cx="1371600" cy="685800"/>
          </a:xfrm>
          <a:prstGeom prst="roundRect">
            <a:avLst>
              <a:gd name="adj" fmla="val 10667"/>
            </a:avLst>
          </a:prstGeom>
          <a:solidFill>
            <a:srgbClr val="E3F2F1"/>
          </a:solidFill>
          <a:ln w="9525">
            <a:solidFill>
              <a:schemeClr val="accent1"/>
            </a:solidFill>
          </a:ln>
        </p:spPr>
        <p:txBody>
          <a:bodyPr wrap="square" lIns="63500" tIns="63500" rIns="63500" bIns="63500" rtlCol="0" anchor="ctr"/>
          <a:lstStyle/>
          <a:p>
            <a:pPr algn="ctr" indent="0" marL="0">
              <a:buNone/>
            </a:pPr>
            <a:r>
              <a:rPr lang="en-US" sz="1300" b="1" dirty="0">
                <a:solidFill>
                  <a:schemeClr val="tx1"/>
                </a:solidFill>
              </a:rPr>
              <a:t>Transfer</a:t>
            </a:r>
            <a:endParaRPr lang="en-US" sz="1300" dirty="0"/>
          </a:p>
          <a:p>
            <a:pPr algn="ctr" indent="0" marL="0">
              <a:buNone/>
            </a:pPr>
            <a:r>
              <a:rPr lang="en-US" sz="1200" b="1" dirty="0">
                <a:solidFill>
                  <a:schemeClr val="accent1"/>
                </a:solidFill>
              </a:rPr>
              <a:t>1,000 Tk</a:t>
            </a:r>
            <a:endParaRPr lang="en-US" sz="1300" dirty="0"/>
          </a:p>
        </p:txBody>
      </p:sp>
      <p:sp>
        <p:nvSpPr>
          <p:cNvPr id="5" name="Text 3"/>
          <p:cNvSpPr/>
          <p:nvPr/>
        </p:nvSpPr>
        <p:spPr>
          <a:xfrm>
            <a:off x="4389120" y="1097280"/>
            <a:ext cx="1737360" cy="685800"/>
          </a:xfrm>
          <a:prstGeom prst="roundRect">
            <a:avLst>
              <a:gd name="adj" fmla="val 10667"/>
            </a:avLst>
          </a:prstGeom>
          <a:solidFill>
            <a:schemeClr val="bg2"/>
          </a:solidFill>
          <a:ln w="9525">
            <a:solidFill>
              <a:srgbClr val="D5DCE3"/>
            </a:solidFill>
          </a:ln>
        </p:spPr>
        <p:txBody>
          <a:bodyPr wrap="square" lIns="63500" tIns="63500" rIns="63500" bIns="63500" rtlCol="0" anchor="ctr"/>
          <a:lstStyle/>
          <a:p>
            <a:pPr algn="ctr" indent="0" marL="0">
              <a:buNone/>
            </a:pPr>
            <a:r>
              <a:rPr lang="en-US" sz="1300" b="1" dirty="0">
                <a:solidFill>
                  <a:schemeClr val="tx1"/>
                </a:solidFill>
              </a:rPr>
              <a:t>Account B</a:t>
            </a:r>
            <a:endParaRPr lang="en-US" sz="1300" dirty="0"/>
          </a:p>
          <a:p>
            <a:pPr algn="ctr" indent="0" marL="0">
              <a:buNone/>
            </a:pPr>
            <a:r>
              <a:rPr lang="en-US" sz="1200" dirty="0">
                <a:solidFill>
                  <a:schemeClr val="tx2"/>
                </a:solidFill>
              </a:rPr>
              <a:t>2,000 Tk</a:t>
            </a:r>
            <a:endParaRPr lang="en-US" sz="1300" dirty="0"/>
          </a:p>
        </p:txBody>
      </p:sp>
      <p:sp>
        <p:nvSpPr>
          <p:cNvPr id="6" name="Shape 4"/>
          <p:cNvSpPr/>
          <p:nvPr/>
        </p:nvSpPr>
        <p:spPr>
          <a:xfrm>
            <a:off x="2212848" y="1440180"/>
            <a:ext cx="365760" cy="0"/>
          </a:xfrm>
          <a:prstGeom prst="line">
            <a:avLst/>
          </a:prstGeom>
          <a:noFill/>
          <a:ln w="15875">
            <a:solidFill>
              <a:schemeClr val="accent6"/>
            </a:solidFill>
            <a:prstDash val="solid"/>
            <a:tailEnd type="triangle"/>
          </a:ln>
        </p:spPr>
      </p:sp>
      <p:sp>
        <p:nvSpPr>
          <p:cNvPr id="7" name="Shape 5"/>
          <p:cNvSpPr/>
          <p:nvPr/>
        </p:nvSpPr>
        <p:spPr>
          <a:xfrm>
            <a:off x="3995928" y="1440180"/>
            <a:ext cx="365760" cy="0"/>
          </a:xfrm>
          <a:prstGeom prst="line">
            <a:avLst/>
          </a:prstGeom>
          <a:noFill/>
          <a:ln w="15875">
            <a:solidFill>
              <a:schemeClr val="accent6"/>
            </a:solidFill>
            <a:prstDash val="solid"/>
            <a:tailEnd type="triangle"/>
          </a:ln>
        </p:spPr>
      </p:sp>
      <p:sp>
        <p:nvSpPr>
          <p:cNvPr id="8" name="Text 6"/>
          <p:cNvSpPr/>
          <p:nvPr/>
        </p:nvSpPr>
        <p:spPr>
          <a:xfrm>
            <a:off x="6492240" y="1097280"/>
            <a:ext cx="2194560" cy="685800"/>
          </a:xfrm>
          <a:prstGeom prst="roundRect">
            <a:avLst>
              <a:gd name="adj" fmla="val 10667"/>
            </a:avLst>
          </a:prstGeom>
          <a:solidFill>
            <a:srgbClr val="E6F4EC"/>
          </a:solidFill>
          <a:ln w="6350">
            <a:solidFill>
              <a:srgbClr val="E6F4EC"/>
            </a:solidFill>
          </a:ln>
        </p:spPr>
        <p:txBody>
          <a:bodyPr wrap="square" lIns="63500" tIns="63500" rIns="63500" bIns="63500" rtlCol="0" anchor="ctr"/>
          <a:lstStyle/>
          <a:p>
            <a:pPr algn="ctr" indent="0" marL="0">
              <a:buNone/>
            </a:pPr>
            <a:r>
              <a:rPr lang="en-US" sz="1300" b="1" dirty="0">
                <a:solidFill>
                  <a:schemeClr val="accent3"/>
                </a:solidFill>
              </a:rPr>
              <a:t>Correct end</a:t>
            </a:r>
            <a:endParaRPr lang="en-US" sz="1300" dirty="0"/>
          </a:p>
          <a:p>
            <a:pPr algn="ctr" indent="0" marL="0">
              <a:buNone/>
            </a:pPr>
            <a:r>
              <a:rPr lang="en-US" sz="1200" dirty="0">
                <a:solidFill>
                  <a:schemeClr val="tx1"/>
                </a:solidFill>
              </a:rPr>
              <a:t>A 4,000  |  B 3,000</a:t>
            </a:r>
            <a:endParaRPr lang="en-US" sz="1300" dirty="0"/>
          </a:p>
        </p:txBody>
      </p:sp>
      <p:sp>
        <p:nvSpPr>
          <p:cNvPr id="9" name="Text 7"/>
          <p:cNvSpPr txBox="1"/>
          <p:nvPr/>
        </p:nvSpPr>
        <p:spPr>
          <a:xfrm>
            <a:off x="457200" y="2011680"/>
            <a:ext cx="8229600" cy="320040"/>
          </a:xfrm>
          <a:prstGeom prst="rect">
            <a:avLst/>
          </a:prstGeom>
          <a:noFill/>
          <a:ln/>
        </p:spPr>
        <p:txBody>
          <a:bodyPr wrap="square" lIns="0" tIns="0" rIns="0" bIns="0" rtlCol="0" anchor="t"/>
          <a:lstStyle/>
          <a:p>
            <a:pPr indent="0" marL="0">
              <a:buNone/>
            </a:pPr>
            <a:r>
              <a:rPr lang="en-US" sz="1600" b="1" dirty="0">
                <a:solidFill>
                  <a:schemeClr val="tx1"/>
                </a:solidFill>
              </a:rPr>
              <a:t>Two separate requirements</a:t>
            </a:r>
            <a:endParaRPr lang="en-US" sz="1600" dirty="0"/>
          </a:p>
        </p:txBody>
      </p:sp>
      <p:sp>
        <p:nvSpPr>
          <p:cNvPr id="10" name="Shape 8"/>
          <p:cNvSpPr/>
          <p:nvPr/>
        </p:nvSpPr>
        <p:spPr>
          <a:xfrm>
            <a:off x="457200" y="2423160"/>
            <a:ext cx="3977640" cy="2148840"/>
          </a:xfrm>
          <a:prstGeom prst="roundRect">
            <a:avLst>
              <a:gd name="adj" fmla="val 4255"/>
            </a:avLst>
          </a:prstGeom>
          <a:solidFill>
            <a:srgbClr val="E3F2F1"/>
          </a:solidFill>
          <a:ln w="6350">
            <a:solidFill>
              <a:srgbClr val="E3F2F1"/>
            </a:solidFill>
            <a:prstDash val="solid"/>
          </a:ln>
        </p:spPr>
      </p:sp>
      <p:sp>
        <p:nvSpPr>
          <p:cNvPr id="11" name="Text 9"/>
          <p:cNvSpPr/>
          <p:nvPr/>
        </p:nvSpPr>
        <p:spPr>
          <a:xfrm>
            <a:off x="685800" y="2606040"/>
            <a:ext cx="457200" cy="457200"/>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2" name="Text 10"/>
          <p:cNvSpPr txBox="1"/>
          <p:nvPr/>
        </p:nvSpPr>
        <p:spPr>
          <a:xfrm>
            <a:off x="1280160" y="2679192"/>
            <a:ext cx="2926080" cy="320040"/>
          </a:xfrm>
          <a:prstGeom prst="rect">
            <a:avLst/>
          </a:prstGeom>
          <a:noFill/>
          <a:ln/>
        </p:spPr>
        <p:txBody>
          <a:bodyPr wrap="square" lIns="0" tIns="0" rIns="0" bIns="0" rtlCol="0" anchor="t"/>
          <a:lstStyle/>
          <a:p>
            <a:pPr indent="0" marL="0">
              <a:buNone/>
            </a:pPr>
            <a:r>
              <a:rPr lang="en-US" sz="1600" b="1" dirty="0">
                <a:solidFill>
                  <a:schemeClr val="accent1"/>
                </a:solidFill>
              </a:rPr>
              <a:t>Atomic outcome</a:t>
            </a:r>
            <a:endParaRPr lang="en-US" sz="1600" dirty="0"/>
          </a:p>
        </p:txBody>
      </p:sp>
      <p:sp>
        <p:nvSpPr>
          <p:cNvPr id="13" name="Text 11"/>
          <p:cNvSpPr txBox="1"/>
          <p:nvPr/>
        </p:nvSpPr>
        <p:spPr>
          <a:xfrm>
            <a:off x="685800" y="3246120"/>
            <a:ext cx="3520440" cy="777240"/>
          </a:xfrm>
          <a:prstGeom prst="rect">
            <a:avLst/>
          </a:prstGeom>
          <a:noFill/>
          <a:ln/>
        </p:spPr>
        <p:txBody>
          <a:bodyPr wrap="square" lIns="0" tIns="0" rIns="0" bIns="0" rtlCol="0" anchor="t"/>
          <a:lstStyle/>
          <a:p>
            <a:pPr indent="0" marL="0">
              <a:buNone/>
            </a:pPr>
            <a:r>
              <a:rPr lang="en-US" sz="1300" dirty="0">
                <a:solidFill>
                  <a:schemeClr val="tx1"/>
                </a:solidFill>
              </a:rPr>
              <a:t>The transfer is never left permanently half-done. Both changes happen, or neither does.</a:t>
            </a:r>
            <a:endParaRPr lang="en-US" sz="1300" dirty="0"/>
          </a:p>
        </p:txBody>
      </p:sp>
      <p:sp>
        <p:nvSpPr>
          <p:cNvPr id="14" name="Text 12"/>
          <p:cNvSpPr txBox="1"/>
          <p:nvPr/>
        </p:nvSpPr>
        <p:spPr>
          <a:xfrm>
            <a:off x="685800" y="4114800"/>
            <a:ext cx="3520440" cy="320040"/>
          </a:xfrm>
          <a:prstGeom prst="rect">
            <a:avLst/>
          </a:prstGeom>
          <a:noFill/>
          <a:ln/>
        </p:spPr>
        <p:txBody>
          <a:bodyPr wrap="square" lIns="0" tIns="0" rIns="0" bIns="0" rtlCol="0" anchor="t"/>
          <a:lstStyle/>
          <a:p>
            <a:pPr indent="0" marL="0">
              <a:buNone/>
            </a:pPr>
            <a:r>
              <a:rPr lang="en-US" sz="1200" i="1" dirty="0">
                <a:solidFill>
                  <a:schemeClr val="accent1"/>
                </a:solidFill>
              </a:rPr>
              <a:t>Every Seata mode aims for this</a:t>
            </a:r>
            <a:endParaRPr lang="en-US" sz="1200" dirty="0"/>
          </a:p>
        </p:txBody>
      </p:sp>
      <p:sp>
        <p:nvSpPr>
          <p:cNvPr id="15" name="Shape 13"/>
          <p:cNvSpPr/>
          <p:nvPr/>
        </p:nvSpPr>
        <p:spPr>
          <a:xfrm>
            <a:off x="4709160" y="2423160"/>
            <a:ext cx="3977640" cy="2148840"/>
          </a:xfrm>
          <a:prstGeom prst="roundRect">
            <a:avLst>
              <a:gd name="adj" fmla="val 4255"/>
            </a:avLst>
          </a:prstGeom>
          <a:solidFill>
            <a:srgbClr val="ECECFB"/>
          </a:solidFill>
          <a:ln w="6350">
            <a:solidFill>
              <a:srgbClr val="ECECFB"/>
            </a:solidFill>
            <a:prstDash val="solid"/>
          </a:ln>
        </p:spPr>
      </p:sp>
      <p:sp>
        <p:nvSpPr>
          <p:cNvPr id="16" name="Text 14"/>
          <p:cNvSpPr/>
          <p:nvPr/>
        </p:nvSpPr>
        <p:spPr>
          <a:xfrm>
            <a:off x="4937760" y="2606040"/>
            <a:ext cx="457200" cy="457200"/>
          </a:xfrm>
          <a:prstGeom prst="ellipse">
            <a:avLst/>
          </a:prstGeom>
          <a:solidFill>
            <a:schemeClr val="accent5"/>
          </a:solidFill>
          <a:ln w="6350">
            <a:solidFill>
              <a:schemeClr val="accent5"/>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7" name="Text 15"/>
          <p:cNvSpPr txBox="1"/>
          <p:nvPr/>
        </p:nvSpPr>
        <p:spPr>
          <a:xfrm>
            <a:off x="5532120" y="2679192"/>
            <a:ext cx="2926080" cy="320040"/>
          </a:xfrm>
          <a:prstGeom prst="rect">
            <a:avLst/>
          </a:prstGeom>
          <a:noFill/>
          <a:ln/>
        </p:spPr>
        <p:txBody>
          <a:bodyPr wrap="square" lIns="0" tIns="0" rIns="0" bIns="0" rtlCol="0" anchor="t"/>
          <a:lstStyle/>
          <a:p>
            <a:pPr indent="0" marL="0">
              <a:buNone/>
            </a:pPr>
            <a:r>
              <a:rPr lang="en-US" sz="1600" b="1" dirty="0">
                <a:solidFill>
                  <a:schemeClr val="accent5"/>
                </a:solidFill>
              </a:rPr>
              <a:t>Strict isolation</a:t>
            </a:r>
            <a:endParaRPr lang="en-US" sz="1600" dirty="0"/>
          </a:p>
        </p:txBody>
      </p:sp>
      <p:sp>
        <p:nvSpPr>
          <p:cNvPr id="18" name="Text 16"/>
          <p:cNvSpPr txBox="1"/>
          <p:nvPr/>
        </p:nvSpPr>
        <p:spPr>
          <a:xfrm>
            <a:off x="4937760" y="3246120"/>
            <a:ext cx="3520440" cy="777240"/>
          </a:xfrm>
          <a:prstGeom prst="rect">
            <a:avLst/>
          </a:prstGeom>
          <a:noFill/>
          <a:ln/>
        </p:spPr>
        <p:txBody>
          <a:bodyPr wrap="square" lIns="0" tIns="0" rIns="0" bIns="0" rtlCol="0" anchor="t"/>
          <a:lstStyle/>
          <a:p>
            <a:pPr indent="0" marL="0">
              <a:buNone/>
            </a:pPr>
            <a:r>
              <a:rPr lang="en-US" sz="1300" dirty="0">
                <a:solidFill>
                  <a:schemeClr val="tx1"/>
                </a:solidFill>
              </a:rPr>
              <a:t>Nobody reads A = 4,000 while B is still 2,000. No one acts on the in-between state.</a:t>
            </a:r>
            <a:endParaRPr lang="en-US" sz="1300" dirty="0"/>
          </a:p>
        </p:txBody>
      </p:sp>
      <p:sp>
        <p:nvSpPr>
          <p:cNvPr id="19" name="Text 17"/>
          <p:cNvSpPr txBox="1"/>
          <p:nvPr/>
        </p:nvSpPr>
        <p:spPr>
          <a:xfrm>
            <a:off x="4937760" y="4114800"/>
            <a:ext cx="3520440" cy="320040"/>
          </a:xfrm>
          <a:prstGeom prst="rect">
            <a:avLst/>
          </a:prstGeom>
          <a:noFill/>
          <a:ln/>
        </p:spPr>
        <p:txBody>
          <a:bodyPr wrap="square" lIns="0" tIns="0" rIns="0" bIns="0" rtlCol="0" anchor="t"/>
          <a:lstStyle/>
          <a:p>
            <a:pPr indent="0" marL="0">
              <a:buNone/>
            </a:pPr>
            <a:r>
              <a:rPr lang="en-US" sz="1200" i="1" dirty="0">
                <a:solidFill>
                  <a:schemeClr val="accent5"/>
                </a:solidFill>
              </a:rPr>
              <a:t>This is where the modes differ</a:t>
            </a:r>
            <a:endParaRPr lang="en-US" sz="12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Requirement 1: atomic outcome</a:t>
            </a:r>
            <a:endParaRPr lang="en-US" sz="2400" dirty="0"/>
          </a:p>
        </p:txBody>
      </p:sp>
      <p:sp>
        <p:nvSpPr>
          <p:cNvPr id="3" name="Text 1"/>
          <p:cNvSpPr/>
          <p:nvPr/>
        </p:nvSpPr>
        <p:spPr>
          <a:xfrm>
            <a:off x="457200" y="1097280"/>
            <a:ext cx="2468880" cy="777240"/>
          </a:xfrm>
          <a:prstGeom prst="roundRect">
            <a:avLst>
              <a:gd name="adj" fmla="val 9412"/>
            </a:avLst>
          </a:prstGeom>
          <a:solidFill>
            <a:srgbClr val="E6F4EC"/>
          </a:solidFill>
          <a:ln w="6350">
            <a:solidFill>
              <a:srgbClr val="E6F4EC"/>
            </a:solidFill>
          </a:ln>
        </p:spPr>
        <p:txBody>
          <a:bodyPr wrap="square" lIns="63500" tIns="63500" rIns="63500" bIns="63500" rtlCol="0" anchor="ctr"/>
          <a:lstStyle/>
          <a:p>
            <a:pPr algn="ctr" indent="0" marL="0">
              <a:buNone/>
            </a:pPr>
            <a:r>
              <a:rPr lang="en-US" sz="1300" b="1" dirty="0">
                <a:solidFill>
                  <a:schemeClr val="accent3"/>
                </a:solidFill>
              </a:rPr>
              <a:t>Step 1: debit A</a:t>
            </a:r>
            <a:endParaRPr lang="en-US" sz="1300" dirty="0"/>
          </a:p>
          <a:p>
            <a:pPr algn="ctr" indent="0" marL="0">
              <a:buNone/>
            </a:pPr>
            <a:r>
              <a:rPr lang="en-US" sz="1150" dirty="0">
                <a:solidFill>
                  <a:schemeClr val="tx1"/>
                </a:solidFill>
              </a:rPr>
              <a:t>5,000 to 4,000, done</a:t>
            </a:r>
            <a:endParaRPr lang="en-US" sz="1300" dirty="0"/>
          </a:p>
        </p:txBody>
      </p:sp>
      <p:sp>
        <p:nvSpPr>
          <p:cNvPr id="4" name="Text 2"/>
          <p:cNvSpPr/>
          <p:nvPr/>
        </p:nvSpPr>
        <p:spPr>
          <a:xfrm>
            <a:off x="3337560" y="1097280"/>
            <a:ext cx="2468880" cy="777240"/>
          </a:xfrm>
          <a:prstGeom prst="roundRect">
            <a:avLst>
              <a:gd name="adj" fmla="val 9412"/>
            </a:avLst>
          </a:prstGeom>
          <a:solidFill>
            <a:srgbClr val="FBE9EC"/>
          </a:solidFill>
          <a:ln w="6350">
            <a:solidFill>
              <a:srgbClr val="FBE9EC"/>
            </a:solidFill>
          </a:ln>
        </p:spPr>
        <p:txBody>
          <a:bodyPr wrap="square" lIns="63500" tIns="63500" rIns="63500" bIns="63500" rtlCol="0" anchor="ctr"/>
          <a:lstStyle/>
          <a:p>
            <a:pPr algn="ctr" indent="0" marL="0">
              <a:buNone/>
            </a:pPr>
            <a:r>
              <a:rPr lang="en-US" sz="1300" b="1" dirty="0">
                <a:solidFill>
                  <a:schemeClr val="accent2"/>
                </a:solidFill>
              </a:rPr>
              <a:t>Step 2: credit B</a:t>
            </a:r>
            <a:endParaRPr lang="en-US" sz="1300" dirty="0"/>
          </a:p>
          <a:p>
            <a:pPr algn="ctr" indent="0" marL="0">
              <a:buNone/>
            </a:pPr>
            <a:r>
              <a:rPr lang="en-US" sz="1150" dirty="0">
                <a:solidFill>
                  <a:schemeClr val="tx1"/>
                </a:solidFill>
              </a:rPr>
              <a:t>Server crashes, B stays 2,000</a:t>
            </a:r>
            <a:endParaRPr lang="en-US" sz="1300" dirty="0"/>
          </a:p>
        </p:txBody>
      </p:sp>
      <p:sp>
        <p:nvSpPr>
          <p:cNvPr id="5" name="Text 3"/>
          <p:cNvSpPr/>
          <p:nvPr/>
        </p:nvSpPr>
        <p:spPr>
          <a:xfrm>
            <a:off x="6217920" y="1097280"/>
            <a:ext cx="2468880" cy="777240"/>
          </a:xfrm>
          <a:prstGeom prst="roundRect">
            <a:avLst>
              <a:gd name="adj" fmla="val 9412"/>
            </a:avLst>
          </a:prstGeom>
          <a:solidFill>
            <a:schemeClr val="bg1"/>
          </a:solidFill>
          <a:ln w="15875">
            <a:solidFill>
              <a:schemeClr val="accent2"/>
            </a:solidFill>
          </a:ln>
        </p:spPr>
        <p:txBody>
          <a:bodyPr wrap="square" lIns="63500" tIns="63500" rIns="63500" bIns="63500" rtlCol="0" anchor="ctr"/>
          <a:lstStyle/>
          <a:p>
            <a:pPr algn="ctr" indent="0" marL="0">
              <a:buNone/>
            </a:pPr>
            <a:r>
              <a:rPr lang="en-US" sz="1300" b="1" dirty="0">
                <a:solidFill>
                  <a:schemeClr val="accent2"/>
                </a:solidFill>
              </a:rPr>
              <a:t>Half-completed</a:t>
            </a:r>
            <a:endParaRPr lang="en-US" sz="1300" dirty="0"/>
          </a:p>
          <a:p>
            <a:pPr algn="ctr" indent="0" marL="0">
              <a:buNone/>
            </a:pPr>
            <a:r>
              <a:rPr lang="en-US" sz="1150" dirty="0">
                <a:solidFill>
                  <a:schemeClr val="tx1"/>
                </a:solidFill>
              </a:rPr>
              <a:t>4,000 + 2,000 = 6,000 Tk</a:t>
            </a:r>
            <a:endParaRPr lang="en-US" sz="1300" dirty="0"/>
          </a:p>
        </p:txBody>
      </p:sp>
      <p:sp>
        <p:nvSpPr>
          <p:cNvPr id="6" name="Shape 4"/>
          <p:cNvSpPr/>
          <p:nvPr/>
        </p:nvSpPr>
        <p:spPr>
          <a:xfrm>
            <a:off x="2944368" y="1485900"/>
            <a:ext cx="365760" cy="0"/>
          </a:xfrm>
          <a:prstGeom prst="line">
            <a:avLst/>
          </a:prstGeom>
          <a:noFill/>
          <a:ln w="15875">
            <a:solidFill>
              <a:schemeClr val="tx2"/>
            </a:solidFill>
            <a:prstDash val="solid"/>
            <a:tailEnd type="triangle"/>
          </a:ln>
        </p:spPr>
      </p:sp>
      <p:sp>
        <p:nvSpPr>
          <p:cNvPr id="7" name="Shape 5"/>
          <p:cNvSpPr/>
          <p:nvPr/>
        </p:nvSpPr>
        <p:spPr>
          <a:xfrm>
            <a:off x="5824728" y="1485900"/>
            <a:ext cx="365760" cy="0"/>
          </a:xfrm>
          <a:prstGeom prst="line">
            <a:avLst/>
          </a:prstGeom>
          <a:noFill/>
          <a:ln w="15875">
            <a:solidFill>
              <a:schemeClr val="tx2"/>
            </a:solidFill>
            <a:prstDash val="solid"/>
            <a:tailEnd type="triangle"/>
          </a:ln>
        </p:spPr>
      </p:sp>
      <p:sp>
        <p:nvSpPr>
          <p:cNvPr id="8" name="Text 6"/>
          <p:cNvSpPr txBox="1"/>
          <p:nvPr/>
        </p:nvSpPr>
        <p:spPr>
          <a:xfrm>
            <a:off x="457200" y="2103120"/>
            <a:ext cx="8229600" cy="320040"/>
          </a:xfrm>
          <a:prstGeom prst="rect">
            <a:avLst/>
          </a:prstGeom>
          <a:noFill/>
          <a:ln/>
        </p:spPr>
        <p:txBody>
          <a:bodyPr wrap="square" lIns="0" tIns="0" rIns="0" bIns="0" rtlCol="0" anchor="t"/>
          <a:lstStyle/>
          <a:p>
            <a:pPr indent="0" marL="0">
              <a:buNone/>
            </a:pPr>
            <a:r>
              <a:rPr lang="en-US" sz="1500" b="1" dirty="0">
                <a:solidFill>
                  <a:schemeClr val="tx1"/>
                </a:solidFill>
              </a:rPr>
              <a:t>Only two final results are acceptable</a:t>
            </a:r>
            <a:endParaRPr lang="en-US" sz="1500" dirty="0"/>
          </a:p>
        </p:txBody>
      </p:sp>
      <p:sp>
        <p:nvSpPr>
          <p:cNvPr id="9" name="Shape 7"/>
          <p:cNvSpPr/>
          <p:nvPr/>
        </p:nvSpPr>
        <p:spPr>
          <a:xfrm>
            <a:off x="457200" y="2514600"/>
            <a:ext cx="3977640" cy="868680"/>
          </a:xfrm>
          <a:prstGeom prst="roundRect">
            <a:avLst>
              <a:gd name="adj" fmla="val 8421"/>
            </a:avLst>
          </a:prstGeom>
          <a:solidFill>
            <a:srgbClr val="E6F4EC"/>
          </a:solidFill>
          <a:ln w="6350">
            <a:solidFill>
              <a:srgbClr val="E6F4EC"/>
            </a:solidFill>
            <a:prstDash val="solid"/>
          </a:ln>
        </p:spPr>
      </p:sp>
      <p:sp>
        <p:nvSpPr>
          <p:cNvPr id="10" name="Text 8"/>
          <p:cNvSpPr txBox="1"/>
          <p:nvPr/>
        </p:nvSpPr>
        <p:spPr>
          <a:xfrm>
            <a:off x="685800" y="2606040"/>
            <a:ext cx="3566160" cy="274320"/>
          </a:xfrm>
          <a:prstGeom prst="rect">
            <a:avLst/>
          </a:prstGeom>
          <a:noFill/>
          <a:ln/>
        </p:spPr>
        <p:txBody>
          <a:bodyPr wrap="square" lIns="0" tIns="0" rIns="0" bIns="0" rtlCol="0" anchor="t"/>
          <a:lstStyle/>
          <a:p>
            <a:pPr indent="0" marL="0">
              <a:buNone/>
            </a:pPr>
            <a:r>
              <a:rPr lang="en-US" sz="1300" b="1" dirty="0">
                <a:solidFill>
                  <a:schemeClr val="accent3"/>
                </a:solidFill>
              </a:rPr>
              <a:t>Success</a:t>
            </a:r>
            <a:endParaRPr lang="en-US" sz="1300" dirty="0"/>
          </a:p>
        </p:txBody>
      </p:sp>
      <p:sp>
        <p:nvSpPr>
          <p:cNvPr id="11" name="Text 9"/>
          <p:cNvSpPr txBox="1"/>
          <p:nvPr/>
        </p:nvSpPr>
        <p:spPr>
          <a:xfrm>
            <a:off x="685800" y="2926080"/>
            <a:ext cx="3566160" cy="347472"/>
          </a:xfrm>
          <a:prstGeom prst="rect">
            <a:avLst/>
          </a:prstGeom>
          <a:noFill/>
          <a:ln/>
        </p:spPr>
        <p:txBody>
          <a:bodyPr wrap="square" lIns="0" tIns="0" rIns="0" bIns="0" rtlCol="0" anchor="t"/>
          <a:lstStyle/>
          <a:p>
            <a:pPr indent="0" marL="0">
              <a:buNone/>
            </a:pPr>
            <a:r>
              <a:rPr lang="en-US" sz="1700" b="1" dirty="0">
                <a:solidFill>
                  <a:schemeClr val="tx1"/>
                </a:solidFill>
              </a:rPr>
              <a:t>A 4,000  |  B 3,000</a:t>
            </a:r>
            <a:endParaRPr lang="en-US" sz="1700" dirty="0"/>
          </a:p>
        </p:txBody>
      </p:sp>
      <p:sp>
        <p:nvSpPr>
          <p:cNvPr id="12" name="Shape 10"/>
          <p:cNvSpPr/>
          <p:nvPr/>
        </p:nvSpPr>
        <p:spPr>
          <a:xfrm>
            <a:off x="4709160" y="2514600"/>
            <a:ext cx="3977640" cy="868680"/>
          </a:xfrm>
          <a:prstGeom prst="roundRect">
            <a:avLst>
              <a:gd name="adj" fmla="val 8421"/>
            </a:avLst>
          </a:prstGeom>
          <a:solidFill>
            <a:srgbClr val="E3F2F1"/>
          </a:solidFill>
          <a:ln w="6350">
            <a:solidFill>
              <a:srgbClr val="E3F2F1"/>
            </a:solidFill>
            <a:prstDash val="solid"/>
          </a:ln>
        </p:spPr>
      </p:sp>
      <p:sp>
        <p:nvSpPr>
          <p:cNvPr id="13" name="Text 11"/>
          <p:cNvSpPr txBox="1"/>
          <p:nvPr/>
        </p:nvSpPr>
        <p:spPr>
          <a:xfrm>
            <a:off x="4937760" y="2606040"/>
            <a:ext cx="3566160" cy="274320"/>
          </a:xfrm>
          <a:prstGeom prst="rect">
            <a:avLst/>
          </a:prstGeom>
          <a:noFill/>
          <a:ln/>
        </p:spPr>
        <p:txBody>
          <a:bodyPr wrap="square" lIns="0" tIns="0" rIns="0" bIns="0" rtlCol="0" anchor="t"/>
          <a:lstStyle/>
          <a:p>
            <a:pPr indent="0" marL="0">
              <a:buNone/>
            </a:pPr>
            <a:r>
              <a:rPr lang="en-US" sz="1300" b="1" dirty="0">
                <a:solidFill>
                  <a:schemeClr val="accent1"/>
                </a:solidFill>
              </a:rPr>
              <a:t>Failure + full rollback</a:t>
            </a:r>
            <a:endParaRPr lang="en-US" sz="1300" dirty="0"/>
          </a:p>
        </p:txBody>
      </p:sp>
      <p:sp>
        <p:nvSpPr>
          <p:cNvPr id="14" name="Text 12"/>
          <p:cNvSpPr txBox="1"/>
          <p:nvPr/>
        </p:nvSpPr>
        <p:spPr>
          <a:xfrm>
            <a:off x="4937760" y="2926080"/>
            <a:ext cx="3566160" cy="347472"/>
          </a:xfrm>
          <a:prstGeom prst="rect">
            <a:avLst/>
          </a:prstGeom>
          <a:noFill/>
          <a:ln/>
        </p:spPr>
        <p:txBody>
          <a:bodyPr wrap="square" lIns="0" tIns="0" rIns="0" bIns="0" rtlCol="0" anchor="t"/>
          <a:lstStyle/>
          <a:p>
            <a:pPr indent="0" marL="0">
              <a:buNone/>
            </a:pPr>
            <a:r>
              <a:rPr lang="en-US" sz="1700" b="1" dirty="0">
                <a:solidFill>
                  <a:schemeClr val="tx1"/>
                </a:solidFill>
              </a:rPr>
              <a:t>A 5,000  |  B 2,000</a:t>
            </a:r>
            <a:endParaRPr lang="en-US" sz="1700" dirty="0"/>
          </a:p>
        </p:txBody>
      </p:sp>
      <p:sp>
        <p:nvSpPr>
          <p:cNvPr id="15" name="Shape 13"/>
          <p:cNvSpPr/>
          <p:nvPr/>
        </p:nvSpPr>
        <p:spPr>
          <a:xfrm>
            <a:off x="457200" y="3611880"/>
            <a:ext cx="8229600" cy="960120"/>
          </a:xfrm>
          <a:prstGeom prst="roundRect">
            <a:avLst>
              <a:gd name="adj" fmla="val 9524"/>
            </a:avLst>
          </a:prstGeom>
          <a:solidFill>
            <a:schemeClr val="bg2"/>
          </a:solidFill>
          <a:ln w="6350">
            <a:solidFill>
              <a:srgbClr val="E1E6EB"/>
            </a:solidFill>
            <a:prstDash val="solid"/>
          </a:ln>
        </p:spPr>
      </p:sp>
      <p:sp>
        <p:nvSpPr>
          <p:cNvPr id="16" name="Text 14"/>
          <p:cNvSpPr txBox="1"/>
          <p:nvPr/>
        </p:nvSpPr>
        <p:spPr>
          <a:xfrm>
            <a:off x="685800" y="3685032"/>
            <a:ext cx="7772400" cy="822960"/>
          </a:xfrm>
          <a:prstGeom prst="rect">
            <a:avLst/>
          </a:prstGeom>
          <a:noFill/>
          <a:ln/>
        </p:spPr>
        <p:txBody>
          <a:bodyPr wrap="square" lIns="0" tIns="0" rIns="0" bIns="0" rtlCol="0" anchor="ctr"/>
          <a:lstStyle/>
          <a:p>
            <a:pPr indent="0" marL="0">
              <a:buNone/>
            </a:pPr>
            <a:r>
              <a:rPr lang="en-US" sz="1250" b="1" dirty="0">
                <a:solidFill>
                  <a:schemeClr val="accent1"/>
                </a:solidFill>
              </a:rPr>
              <a:t>Key question: </a:t>
            </a:r>
            <a:pPr indent="0" marL="0">
              <a:buNone/>
            </a:pPr>
            <a:r>
              <a:rPr lang="en-US" sz="1250" b="1" dirty="0">
                <a:solidFill>
                  <a:schemeClr val="tx1"/>
                </a:solidFill>
              </a:rPr>
              <a:t>did money get lost in the middle?</a:t>
            </a:r>
            <a:endParaRPr lang="en-US" sz="1250" dirty="0"/>
          </a:p>
          <a:p>
            <a:pPr indent="0" marL="0">
              <a:buNone/>
            </a:pPr>
            <a:r>
              <a:rPr lang="en-US" sz="1250" dirty="0">
                <a:solidFill>
                  <a:schemeClr val="tx2"/>
                </a:solidFill>
              </a:rPr>
              <a:t>Atomic does not mean every server changes at the same instant. A short in-between state can exist, but it must never become permanent, and recovery must exist.</a:t>
            </a:r>
            <a:endParaRPr lang="en-US" sz="125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Requirement 2: strict isolation, the problem</a:t>
            </a:r>
            <a:endParaRPr lang="en-US" sz="2400" dirty="0"/>
          </a:p>
        </p:txBody>
      </p:sp>
      <p:sp>
        <p:nvSpPr>
          <p:cNvPr id="3" name="Text 1"/>
          <p:cNvSpPr/>
          <p:nvPr/>
        </p:nvSpPr>
        <p:spPr>
          <a:xfrm>
            <a:off x="457200" y="1508760"/>
            <a:ext cx="1645920" cy="868680"/>
          </a:xfrm>
          <a:prstGeom prst="roundRect">
            <a:avLst>
              <a:gd name="adj" fmla="val 8421"/>
            </a:avLst>
          </a:prstGeom>
          <a:solidFill>
            <a:srgbClr val="E3F2F1"/>
          </a:solidFill>
          <a:ln w="9525">
            <a:solidFill>
              <a:schemeClr val="accent1"/>
            </a:solidFill>
          </a:ln>
        </p:spPr>
        <p:txBody>
          <a:bodyPr wrap="square" lIns="63500" tIns="63500" rIns="63500" bIns="63500" rtlCol="0" anchor="ctr"/>
          <a:lstStyle/>
          <a:p>
            <a:pPr algn="ctr" indent="0" marL="0">
              <a:buNone/>
            </a:pPr>
            <a:r>
              <a:rPr lang="en-US" sz="1300" b="1" dirty="0">
                <a:solidFill>
                  <a:schemeClr val="tx1"/>
                </a:solidFill>
              </a:rPr>
              <a:t>Account A</a:t>
            </a:r>
            <a:endParaRPr lang="en-US" sz="1300" dirty="0"/>
          </a:p>
          <a:p>
            <a:pPr algn="ctr" indent="0" marL="0">
              <a:buNone/>
            </a:pPr>
            <a:r>
              <a:rPr lang="en-US" sz="1500" b="1" dirty="0">
                <a:solidFill>
                  <a:schemeClr val="accent1"/>
                </a:solidFill>
              </a:rPr>
              <a:t>1,000 Tk</a:t>
            </a:r>
            <a:endParaRPr lang="en-US" sz="1300" dirty="0"/>
          </a:p>
        </p:txBody>
      </p:sp>
      <p:sp>
        <p:nvSpPr>
          <p:cNvPr id="4" name="Text 2"/>
          <p:cNvSpPr/>
          <p:nvPr/>
        </p:nvSpPr>
        <p:spPr>
          <a:xfrm>
            <a:off x="2606040" y="1097280"/>
            <a:ext cx="3017520" cy="731520"/>
          </a:xfrm>
          <a:prstGeom prst="roundRect">
            <a:avLst>
              <a:gd name="adj" fmla="val 10000"/>
            </a:avLst>
          </a:prstGeom>
          <a:solidFill>
            <a:schemeClr val="bg2"/>
          </a:solidFill>
          <a:ln w="9525">
            <a:solidFill>
              <a:srgbClr val="D5DCE3"/>
            </a:solidFill>
          </a:ln>
        </p:spPr>
        <p:txBody>
          <a:bodyPr wrap="square" lIns="63500" tIns="63500" rIns="63500" bIns="63500" rtlCol="0" anchor="ctr"/>
          <a:lstStyle/>
          <a:p>
            <a:pPr algn="ctr" indent="0" marL="0">
              <a:buNone/>
            </a:pPr>
            <a:r>
              <a:rPr lang="en-US" sz="1300" b="1" dirty="0">
                <a:solidFill>
                  <a:schemeClr val="tx1"/>
                </a:solidFill>
              </a:rPr>
              <a:t>Transaction 1: A to B, 1,000</a:t>
            </a:r>
            <a:endParaRPr lang="en-US" sz="1300" dirty="0"/>
          </a:p>
          <a:p>
            <a:pPr algn="ctr" indent="0" marL="0">
              <a:buNone/>
            </a:pPr>
            <a:r>
              <a:rPr lang="en-US" sz="1150" dirty="0">
                <a:solidFill>
                  <a:schemeClr val="tx2"/>
                </a:solidFill>
              </a:rPr>
              <a:t>In progress, A temporarily shows 0</a:t>
            </a:r>
            <a:endParaRPr lang="en-US" sz="1300" dirty="0"/>
          </a:p>
        </p:txBody>
      </p:sp>
      <p:sp>
        <p:nvSpPr>
          <p:cNvPr id="5" name="Text 3"/>
          <p:cNvSpPr/>
          <p:nvPr/>
        </p:nvSpPr>
        <p:spPr>
          <a:xfrm>
            <a:off x="2606040" y="2057400"/>
            <a:ext cx="3017520" cy="731520"/>
          </a:xfrm>
          <a:prstGeom prst="roundRect">
            <a:avLst>
              <a:gd name="adj" fmla="val 10000"/>
            </a:avLst>
          </a:prstGeom>
          <a:solidFill>
            <a:srgbClr val="FBE9EC"/>
          </a:solidFill>
          <a:ln w="6350">
            <a:solidFill>
              <a:srgbClr val="FBE9EC"/>
            </a:solidFill>
          </a:ln>
        </p:spPr>
        <p:txBody>
          <a:bodyPr wrap="square" lIns="63500" tIns="63500" rIns="63500" bIns="63500" rtlCol="0" anchor="ctr"/>
          <a:lstStyle/>
          <a:p>
            <a:pPr algn="ctr" indent="0" marL="0">
              <a:buNone/>
            </a:pPr>
            <a:r>
              <a:rPr lang="en-US" sz="1300" b="1" dirty="0">
                <a:solidFill>
                  <a:schemeClr val="tx1"/>
                </a:solidFill>
              </a:rPr>
              <a:t>Transaction 2: A to C, 800</a:t>
            </a:r>
            <a:endParaRPr lang="en-US" sz="1300" dirty="0"/>
          </a:p>
          <a:p>
            <a:pPr algn="ctr" indent="0" marL="0">
              <a:buNone/>
            </a:pPr>
            <a:r>
              <a:rPr lang="en-US" sz="1150" dirty="0">
                <a:solidFill>
                  <a:schemeClr val="accent2"/>
                </a:solidFill>
              </a:rPr>
              <a:t>Reads stale 1,000 and approves</a:t>
            </a:r>
            <a:endParaRPr lang="en-US" sz="1300" dirty="0"/>
          </a:p>
        </p:txBody>
      </p:sp>
      <p:sp>
        <p:nvSpPr>
          <p:cNvPr id="6" name="Shape 4"/>
          <p:cNvSpPr/>
          <p:nvPr/>
        </p:nvSpPr>
        <p:spPr>
          <a:xfrm>
            <a:off x="2121408" y="1783080"/>
            <a:ext cx="457200" cy="-320040"/>
          </a:xfrm>
          <a:prstGeom prst="line">
            <a:avLst/>
          </a:prstGeom>
          <a:noFill/>
          <a:ln w="15875">
            <a:solidFill>
              <a:schemeClr val="tx2"/>
            </a:solidFill>
            <a:prstDash val="solid"/>
            <a:tailEnd type="triangle"/>
          </a:ln>
        </p:spPr>
      </p:sp>
      <p:sp>
        <p:nvSpPr>
          <p:cNvPr id="7" name="Shape 5"/>
          <p:cNvSpPr/>
          <p:nvPr/>
        </p:nvSpPr>
        <p:spPr>
          <a:xfrm>
            <a:off x="2121408" y="2103120"/>
            <a:ext cx="457200" cy="320040"/>
          </a:xfrm>
          <a:prstGeom prst="line">
            <a:avLst/>
          </a:prstGeom>
          <a:noFill/>
          <a:ln w="15875">
            <a:solidFill>
              <a:schemeClr val="tx2"/>
            </a:solidFill>
            <a:prstDash val="solid"/>
            <a:tailEnd type="triangle"/>
          </a:ln>
        </p:spPr>
      </p:sp>
      <p:sp>
        <p:nvSpPr>
          <p:cNvPr id="8" name="Text 6"/>
          <p:cNvSpPr/>
          <p:nvPr/>
        </p:nvSpPr>
        <p:spPr>
          <a:xfrm>
            <a:off x="6172200" y="1325880"/>
            <a:ext cx="2514600" cy="1234440"/>
          </a:xfrm>
          <a:prstGeom prst="roundRect">
            <a:avLst>
              <a:gd name="adj" fmla="val 5926"/>
            </a:avLst>
          </a:prstGeom>
          <a:solidFill>
            <a:schemeClr val="bg1"/>
          </a:solidFill>
          <a:ln w="15875">
            <a:solidFill>
              <a:schemeClr val="accent2"/>
            </a:solidFill>
          </a:ln>
        </p:spPr>
        <p:txBody>
          <a:bodyPr wrap="square" lIns="63500" tIns="63500" rIns="63500" bIns="63500" rtlCol="0" anchor="ctr"/>
          <a:lstStyle/>
          <a:p>
            <a:pPr algn="ctr" indent="0" marL="0">
              <a:buNone/>
            </a:pPr>
            <a:r>
              <a:rPr lang="en-US" sz="1700" b="1" dirty="0">
                <a:solidFill>
                  <a:schemeClr val="accent2"/>
                </a:solidFill>
              </a:rPr>
              <a:t>1,800 Tk sent</a:t>
            </a:r>
            <a:endParaRPr lang="en-US" sz="1300" dirty="0"/>
          </a:p>
          <a:p>
            <a:pPr algn="ctr" indent="0" marL="0">
              <a:buNone/>
            </a:pPr>
            <a:r>
              <a:rPr lang="en-US" sz="1200" dirty="0">
                <a:solidFill>
                  <a:schemeClr val="tx1"/>
                </a:solidFill>
              </a:rPr>
              <a:t>from a 1,000 Tk account</a:t>
            </a:r>
            <a:endParaRPr lang="en-US" sz="1300" dirty="0"/>
          </a:p>
          <a:p>
            <a:pPr algn="ctr" indent="0" marL="0">
              <a:buNone/>
            </a:pPr>
            <a:r>
              <a:rPr lang="en-US" sz="1200" b="1" dirty="0">
                <a:solidFill>
                  <a:schemeClr val="accent2"/>
                </a:solidFill>
              </a:rPr>
              <a:t>Rule broken</a:t>
            </a:r>
            <a:endParaRPr lang="en-US" sz="1300" dirty="0"/>
          </a:p>
        </p:txBody>
      </p:sp>
      <p:sp>
        <p:nvSpPr>
          <p:cNvPr id="9" name="Shape 7"/>
          <p:cNvSpPr/>
          <p:nvPr/>
        </p:nvSpPr>
        <p:spPr>
          <a:xfrm>
            <a:off x="5641848" y="1463040"/>
            <a:ext cx="512064" cy="320040"/>
          </a:xfrm>
          <a:prstGeom prst="line">
            <a:avLst/>
          </a:prstGeom>
          <a:noFill/>
          <a:ln w="15875">
            <a:solidFill>
              <a:schemeClr val="tx2"/>
            </a:solidFill>
            <a:prstDash val="solid"/>
            <a:tailEnd type="triangle"/>
          </a:ln>
        </p:spPr>
      </p:sp>
      <p:sp>
        <p:nvSpPr>
          <p:cNvPr id="10" name="Shape 8"/>
          <p:cNvSpPr/>
          <p:nvPr/>
        </p:nvSpPr>
        <p:spPr>
          <a:xfrm>
            <a:off x="5641848" y="2423160"/>
            <a:ext cx="512064" cy="-320040"/>
          </a:xfrm>
          <a:prstGeom prst="line">
            <a:avLst/>
          </a:prstGeom>
          <a:noFill/>
          <a:ln w="15875">
            <a:solidFill>
              <a:schemeClr val="tx2"/>
            </a:solidFill>
            <a:prstDash val="solid"/>
            <a:tailEnd type="triangle"/>
          </a:ln>
        </p:spPr>
      </p:sp>
      <p:sp>
        <p:nvSpPr>
          <p:cNvPr id="11" name="Shape 9"/>
          <p:cNvSpPr/>
          <p:nvPr/>
        </p:nvSpPr>
        <p:spPr>
          <a:xfrm>
            <a:off x="457200" y="3063240"/>
            <a:ext cx="3977640" cy="1051560"/>
          </a:xfrm>
          <a:prstGeom prst="roundRect">
            <a:avLst>
              <a:gd name="adj" fmla="val 6957"/>
            </a:avLst>
          </a:prstGeom>
          <a:solidFill>
            <a:srgbClr val="FDF3E2"/>
          </a:solidFill>
          <a:ln w="6350">
            <a:solidFill>
              <a:srgbClr val="FDF3E2"/>
            </a:solidFill>
            <a:prstDash val="solid"/>
          </a:ln>
        </p:spPr>
      </p:sp>
      <p:sp>
        <p:nvSpPr>
          <p:cNvPr id="12" name="Text 10"/>
          <p:cNvSpPr txBox="1"/>
          <p:nvPr/>
        </p:nvSpPr>
        <p:spPr>
          <a:xfrm>
            <a:off x="685800" y="3154680"/>
            <a:ext cx="3566160" cy="274320"/>
          </a:xfrm>
          <a:prstGeom prst="rect">
            <a:avLst/>
          </a:prstGeom>
          <a:noFill/>
          <a:ln/>
        </p:spPr>
        <p:txBody>
          <a:bodyPr wrap="square" lIns="0" tIns="0" rIns="0" bIns="0" rtlCol="0" anchor="t"/>
          <a:lstStyle/>
          <a:p>
            <a:pPr indent="0" marL="0">
              <a:buNone/>
            </a:pPr>
            <a:r>
              <a:rPr lang="en-US" sz="1300" b="1" dirty="0">
                <a:solidFill>
                  <a:schemeClr val="accent4"/>
                </a:solidFill>
              </a:rPr>
              <a:t>Bank rule</a:t>
            </a:r>
            <a:endParaRPr lang="en-US" sz="1300" dirty="0"/>
          </a:p>
        </p:txBody>
      </p:sp>
      <p:sp>
        <p:nvSpPr>
          <p:cNvPr id="13" name="Text 11"/>
          <p:cNvSpPr txBox="1"/>
          <p:nvPr/>
        </p:nvSpPr>
        <p:spPr>
          <a:xfrm>
            <a:off x="685800" y="3456432"/>
            <a:ext cx="3566160" cy="594360"/>
          </a:xfrm>
          <a:prstGeom prst="rect">
            <a:avLst/>
          </a:prstGeom>
          <a:noFill/>
          <a:ln/>
        </p:spPr>
        <p:txBody>
          <a:bodyPr wrap="square" lIns="0" tIns="0" rIns="0" bIns="0" rtlCol="0" anchor="t"/>
          <a:lstStyle/>
          <a:p>
            <a:pPr indent="0" marL="0">
              <a:buNone/>
            </a:pPr>
            <a:r>
              <a:rPr lang="en-US" sz="1250" dirty="0">
                <a:solidFill>
                  <a:schemeClr val="tx1"/>
                </a:solidFill>
              </a:rPr>
              <a:t>You cannot send more money than the account balance.</a:t>
            </a:r>
            <a:endParaRPr lang="en-US" sz="1250" dirty="0"/>
          </a:p>
        </p:txBody>
      </p:sp>
      <p:sp>
        <p:nvSpPr>
          <p:cNvPr id="14" name="Shape 12"/>
          <p:cNvSpPr/>
          <p:nvPr/>
        </p:nvSpPr>
        <p:spPr>
          <a:xfrm>
            <a:off x="4709160" y="3063240"/>
            <a:ext cx="3977640" cy="1051560"/>
          </a:xfrm>
          <a:prstGeom prst="roundRect">
            <a:avLst>
              <a:gd name="adj" fmla="val 6957"/>
            </a:avLst>
          </a:prstGeom>
          <a:solidFill>
            <a:srgbClr val="ECECFB"/>
          </a:solidFill>
          <a:ln w="6350">
            <a:solidFill>
              <a:srgbClr val="ECECFB"/>
            </a:solidFill>
            <a:prstDash val="solid"/>
          </a:ln>
        </p:spPr>
      </p:sp>
      <p:sp>
        <p:nvSpPr>
          <p:cNvPr id="15" name="Text 13"/>
          <p:cNvSpPr txBox="1"/>
          <p:nvPr/>
        </p:nvSpPr>
        <p:spPr>
          <a:xfrm>
            <a:off x="4937760" y="3154680"/>
            <a:ext cx="3566160" cy="274320"/>
          </a:xfrm>
          <a:prstGeom prst="rect">
            <a:avLst/>
          </a:prstGeom>
          <a:noFill/>
          <a:ln/>
        </p:spPr>
        <p:txBody>
          <a:bodyPr wrap="square" lIns="0" tIns="0" rIns="0" bIns="0" rtlCol="0" anchor="t"/>
          <a:lstStyle/>
          <a:p>
            <a:pPr indent="0" marL="0">
              <a:buNone/>
            </a:pPr>
            <a:r>
              <a:rPr lang="en-US" sz="1300" b="1" dirty="0">
                <a:solidFill>
                  <a:schemeClr val="accent5"/>
                </a:solidFill>
              </a:rPr>
              <a:t>The real problem</a:t>
            </a:r>
            <a:endParaRPr lang="en-US" sz="1300" dirty="0"/>
          </a:p>
        </p:txBody>
      </p:sp>
      <p:sp>
        <p:nvSpPr>
          <p:cNvPr id="16" name="Text 14"/>
          <p:cNvSpPr txBox="1"/>
          <p:nvPr/>
        </p:nvSpPr>
        <p:spPr>
          <a:xfrm>
            <a:off x="4937760" y="3456432"/>
            <a:ext cx="3566160" cy="594360"/>
          </a:xfrm>
          <a:prstGeom prst="rect">
            <a:avLst/>
          </a:prstGeom>
          <a:noFill/>
          <a:ln/>
        </p:spPr>
        <p:txBody>
          <a:bodyPr wrap="square" lIns="0" tIns="0" rIns="0" bIns="0" rtlCol="0" anchor="t"/>
          <a:lstStyle/>
          <a:p>
            <a:pPr indent="0" marL="0">
              <a:buNone/>
            </a:pPr>
            <a:r>
              <a:rPr lang="en-US" sz="1250" dirty="0">
                <a:solidFill>
                  <a:schemeClr val="tx1"/>
                </a:solidFill>
              </a:rPr>
              <a:t>No money was lost. Transaction 2 made a wrong decision based on an unsafe in-between state.</a:t>
            </a:r>
            <a:endParaRPr lang="en-US" sz="1250" dirty="0"/>
          </a:p>
        </p:txBody>
      </p:sp>
      <p:sp>
        <p:nvSpPr>
          <p:cNvPr id="17" name="Text 15"/>
          <p:cNvSpPr txBox="1"/>
          <p:nvPr/>
        </p:nvSpPr>
        <p:spPr>
          <a:xfrm>
            <a:off x="457200" y="4251960"/>
            <a:ext cx="8229600" cy="320040"/>
          </a:xfrm>
          <a:prstGeom prst="rect">
            <a:avLst/>
          </a:prstGeom>
          <a:noFill/>
          <a:ln/>
        </p:spPr>
        <p:txBody>
          <a:bodyPr wrap="square" lIns="0" tIns="0" rIns="0" bIns="0" rtlCol="0" anchor="t"/>
          <a:lstStyle/>
          <a:p>
            <a:pPr indent="0" marL="0">
              <a:buNone/>
            </a:pPr>
            <a:r>
              <a:rPr lang="en-US" sz="1300" b="1" dirty="0">
                <a:solidFill>
                  <a:schemeClr val="accent5"/>
                </a:solidFill>
              </a:rPr>
              <a:t>Key question: </a:t>
            </a:r>
            <a:pPr indent="0" marL="0">
              <a:buNone/>
            </a:pPr>
            <a:r>
              <a:rPr lang="en-US" sz="1300" dirty="0">
                <a:solidFill>
                  <a:schemeClr val="tx1"/>
                </a:solidFill>
              </a:rPr>
              <a:t>did another transfer use a wrong balance?</a:t>
            </a:r>
            <a:endParaRPr lang="en-US" sz="13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Strict isolation: how it protects the rule</a:t>
            </a:r>
            <a:endParaRPr lang="en-US" sz="2400" dirty="0"/>
          </a:p>
        </p:txBody>
      </p:sp>
      <p:sp>
        <p:nvSpPr>
          <p:cNvPr id="3" name="Shape 1"/>
          <p:cNvSpPr/>
          <p:nvPr/>
        </p:nvSpPr>
        <p:spPr>
          <a:xfrm>
            <a:off x="457200" y="1097280"/>
            <a:ext cx="2606040" cy="1371600"/>
          </a:xfrm>
          <a:prstGeom prst="roundRect">
            <a:avLst>
              <a:gd name="adj" fmla="val 6667"/>
            </a:avLst>
          </a:prstGeom>
          <a:solidFill>
            <a:srgbClr val="ECECFB"/>
          </a:solidFill>
          <a:ln w="6350">
            <a:solidFill>
              <a:srgbClr val="ECECFB"/>
            </a:solidFill>
            <a:prstDash val="solid"/>
          </a:ln>
        </p:spPr>
      </p:sp>
      <p:sp>
        <p:nvSpPr>
          <p:cNvPr id="4" name="Text 2"/>
          <p:cNvSpPr/>
          <p:nvPr/>
        </p:nvSpPr>
        <p:spPr>
          <a:xfrm>
            <a:off x="685800" y="1261872"/>
            <a:ext cx="411480" cy="411480"/>
          </a:xfrm>
          <a:prstGeom prst="ellipse">
            <a:avLst/>
          </a:prstGeom>
          <a:solidFill>
            <a:schemeClr val="accent5"/>
          </a:solidFill>
          <a:ln w="6350">
            <a:solidFill>
              <a:schemeClr val="accent5"/>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5" name="Text 3"/>
          <p:cNvSpPr txBox="1"/>
          <p:nvPr/>
        </p:nvSpPr>
        <p:spPr>
          <a:xfrm>
            <a:off x="1234440" y="1325880"/>
            <a:ext cx="1737360" cy="292608"/>
          </a:xfrm>
          <a:prstGeom prst="rect">
            <a:avLst/>
          </a:prstGeom>
          <a:noFill/>
          <a:ln/>
        </p:spPr>
        <p:txBody>
          <a:bodyPr wrap="square" lIns="0" tIns="0" rIns="0" bIns="0" rtlCol="0" anchor="t"/>
          <a:lstStyle/>
          <a:p>
            <a:pPr indent="0" marL="0">
              <a:buNone/>
            </a:pPr>
            <a:r>
              <a:rPr lang="en-US" sz="1400" b="1" dirty="0">
                <a:solidFill>
                  <a:schemeClr val="accent5"/>
                </a:solidFill>
              </a:rPr>
              <a:t>Run in order</a:t>
            </a:r>
            <a:endParaRPr lang="en-US" sz="1400" dirty="0"/>
          </a:p>
        </p:txBody>
      </p:sp>
      <p:sp>
        <p:nvSpPr>
          <p:cNvPr id="6" name="Text 4"/>
          <p:cNvSpPr txBox="1"/>
          <p:nvPr/>
        </p:nvSpPr>
        <p:spPr>
          <a:xfrm>
            <a:off x="685800" y="1810512"/>
            <a:ext cx="2194560" cy="594360"/>
          </a:xfrm>
          <a:prstGeom prst="rect">
            <a:avLst/>
          </a:prstGeom>
          <a:noFill/>
          <a:ln/>
        </p:spPr>
        <p:txBody>
          <a:bodyPr wrap="square" lIns="0" tIns="0" rIns="0" bIns="0" rtlCol="0" anchor="t"/>
          <a:lstStyle/>
          <a:p>
            <a:pPr indent="0" marL="0">
              <a:buNone/>
            </a:pPr>
            <a:r>
              <a:rPr lang="en-US" sz="1200" dirty="0">
                <a:solidFill>
                  <a:schemeClr val="tx1"/>
                </a:solidFill>
              </a:rPr>
              <a:t>Conflicting updates on the same account run one after another.</a:t>
            </a:r>
            <a:endParaRPr lang="en-US" sz="1200" dirty="0"/>
          </a:p>
        </p:txBody>
      </p:sp>
      <p:sp>
        <p:nvSpPr>
          <p:cNvPr id="7" name="Shape 5"/>
          <p:cNvSpPr/>
          <p:nvPr/>
        </p:nvSpPr>
        <p:spPr>
          <a:xfrm>
            <a:off x="3268980" y="1097280"/>
            <a:ext cx="2606040" cy="1371600"/>
          </a:xfrm>
          <a:prstGeom prst="roundRect">
            <a:avLst>
              <a:gd name="adj" fmla="val 6667"/>
            </a:avLst>
          </a:prstGeom>
          <a:solidFill>
            <a:srgbClr val="ECECFB"/>
          </a:solidFill>
          <a:ln w="6350">
            <a:solidFill>
              <a:srgbClr val="ECECFB"/>
            </a:solidFill>
            <a:prstDash val="solid"/>
          </a:ln>
        </p:spPr>
      </p:sp>
      <p:sp>
        <p:nvSpPr>
          <p:cNvPr id="8" name="Text 6"/>
          <p:cNvSpPr/>
          <p:nvPr/>
        </p:nvSpPr>
        <p:spPr>
          <a:xfrm>
            <a:off x="3497580" y="1261872"/>
            <a:ext cx="411480" cy="411480"/>
          </a:xfrm>
          <a:prstGeom prst="ellipse">
            <a:avLst/>
          </a:prstGeom>
          <a:solidFill>
            <a:schemeClr val="accent5"/>
          </a:solidFill>
          <a:ln w="6350">
            <a:solidFill>
              <a:schemeClr val="accent5"/>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 7"/>
          <p:cNvSpPr txBox="1"/>
          <p:nvPr/>
        </p:nvSpPr>
        <p:spPr>
          <a:xfrm>
            <a:off x="4046220" y="1325880"/>
            <a:ext cx="1737360" cy="292608"/>
          </a:xfrm>
          <a:prstGeom prst="rect">
            <a:avLst/>
          </a:prstGeom>
          <a:noFill/>
          <a:ln/>
        </p:spPr>
        <p:txBody>
          <a:bodyPr wrap="square" lIns="0" tIns="0" rIns="0" bIns="0" rtlCol="0" anchor="t"/>
          <a:lstStyle/>
          <a:p>
            <a:pPr indent="0" marL="0">
              <a:buNone/>
            </a:pPr>
            <a:r>
              <a:rPr lang="en-US" sz="1400" b="1" dirty="0">
                <a:solidFill>
                  <a:schemeClr val="accent5"/>
                </a:solidFill>
              </a:rPr>
              <a:t>Make it wait</a:t>
            </a:r>
            <a:endParaRPr lang="en-US" sz="1400" dirty="0"/>
          </a:p>
        </p:txBody>
      </p:sp>
      <p:sp>
        <p:nvSpPr>
          <p:cNvPr id="10" name="Text 8"/>
          <p:cNvSpPr txBox="1"/>
          <p:nvPr/>
        </p:nvSpPr>
        <p:spPr>
          <a:xfrm>
            <a:off x="3497580" y="1810512"/>
            <a:ext cx="2194560" cy="594360"/>
          </a:xfrm>
          <a:prstGeom prst="rect">
            <a:avLst/>
          </a:prstGeom>
          <a:noFill/>
          <a:ln/>
        </p:spPr>
        <p:txBody>
          <a:bodyPr wrap="square" lIns="0" tIns="0" rIns="0" bIns="0" rtlCol="0" anchor="t"/>
          <a:lstStyle/>
          <a:p>
            <a:pPr indent="0" marL="0">
              <a:buNone/>
            </a:pPr>
            <a:r>
              <a:rPr lang="en-US" sz="1200" dirty="0">
                <a:solidFill>
                  <a:schemeClr val="tx1"/>
                </a:solidFill>
              </a:rPr>
              <a:t>Transaction 2 waits until transaction 1 finishes.</a:t>
            </a:r>
            <a:endParaRPr lang="en-US" sz="1200" dirty="0"/>
          </a:p>
        </p:txBody>
      </p:sp>
      <p:sp>
        <p:nvSpPr>
          <p:cNvPr id="11" name="Shape 9"/>
          <p:cNvSpPr/>
          <p:nvPr/>
        </p:nvSpPr>
        <p:spPr>
          <a:xfrm>
            <a:off x="6080760" y="1097280"/>
            <a:ext cx="2606040" cy="1371600"/>
          </a:xfrm>
          <a:prstGeom prst="roundRect">
            <a:avLst>
              <a:gd name="adj" fmla="val 6667"/>
            </a:avLst>
          </a:prstGeom>
          <a:solidFill>
            <a:srgbClr val="ECECFB"/>
          </a:solidFill>
          <a:ln w="6350">
            <a:solidFill>
              <a:srgbClr val="ECECFB"/>
            </a:solidFill>
            <a:prstDash val="solid"/>
          </a:ln>
        </p:spPr>
      </p:sp>
      <p:sp>
        <p:nvSpPr>
          <p:cNvPr id="12" name="Text 10"/>
          <p:cNvSpPr/>
          <p:nvPr/>
        </p:nvSpPr>
        <p:spPr>
          <a:xfrm>
            <a:off x="6309360" y="1261872"/>
            <a:ext cx="411480" cy="411480"/>
          </a:xfrm>
          <a:prstGeom prst="ellipse">
            <a:avLst/>
          </a:prstGeom>
          <a:solidFill>
            <a:schemeClr val="accent5"/>
          </a:solidFill>
          <a:ln w="6350">
            <a:solidFill>
              <a:schemeClr val="accent5"/>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Text 11"/>
          <p:cNvSpPr txBox="1"/>
          <p:nvPr/>
        </p:nvSpPr>
        <p:spPr>
          <a:xfrm>
            <a:off x="6858000" y="1325880"/>
            <a:ext cx="1737360" cy="292608"/>
          </a:xfrm>
          <a:prstGeom prst="rect">
            <a:avLst/>
          </a:prstGeom>
          <a:noFill/>
          <a:ln/>
        </p:spPr>
        <p:txBody>
          <a:bodyPr wrap="square" lIns="0" tIns="0" rIns="0" bIns="0" rtlCol="0" anchor="t"/>
          <a:lstStyle/>
          <a:p>
            <a:pPr indent="0" marL="0">
              <a:buNone/>
            </a:pPr>
            <a:r>
              <a:rPr lang="en-US" sz="1400" b="1" dirty="0">
                <a:solidFill>
                  <a:schemeClr val="accent5"/>
                </a:solidFill>
              </a:rPr>
              <a:t>Detect and fail</a:t>
            </a:r>
            <a:endParaRPr lang="en-US" sz="1400" dirty="0"/>
          </a:p>
        </p:txBody>
      </p:sp>
      <p:sp>
        <p:nvSpPr>
          <p:cNvPr id="14" name="Text 12"/>
          <p:cNvSpPr txBox="1"/>
          <p:nvPr/>
        </p:nvSpPr>
        <p:spPr>
          <a:xfrm>
            <a:off x="6309360" y="1810512"/>
            <a:ext cx="2194560" cy="594360"/>
          </a:xfrm>
          <a:prstGeom prst="rect">
            <a:avLst/>
          </a:prstGeom>
          <a:noFill/>
          <a:ln/>
        </p:spPr>
        <p:txBody>
          <a:bodyPr wrap="square" lIns="0" tIns="0" rIns="0" bIns="0" rtlCol="0" anchor="t"/>
          <a:lstStyle/>
          <a:p>
            <a:pPr indent="0" marL="0">
              <a:buNone/>
            </a:pPr>
            <a:r>
              <a:rPr lang="en-US" sz="1200" dirty="0">
                <a:solidFill>
                  <a:schemeClr val="tx1"/>
                </a:solidFill>
              </a:rPr>
              <a:t>The conflict is detected; one transaction fails and can retry.</a:t>
            </a:r>
            <a:endParaRPr lang="en-US" sz="1200" dirty="0"/>
          </a:p>
        </p:txBody>
      </p:sp>
      <p:sp>
        <p:nvSpPr>
          <p:cNvPr id="15" name="Text 13"/>
          <p:cNvSpPr txBox="1"/>
          <p:nvPr/>
        </p:nvSpPr>
        <p:spPr>
          <a:xfrm>
            <a:off x="457200" y="2651760"/>
            <a:ext cx="8229600" cy="292608"/>
          </a:xfrm>
          <a:prstGeom prst="rect">
            <a:avLst/>
          </a:prstGeom>
          <a:noFill/>
          <a:ln/>
        </p:spPr>
        <p:txBody>
          <a:bodyPr wrap="square" lIns="0" tIns="0" rIns="0" bIns="0" rtlCol="0" anchor="t"/>
          <a:lstStyle/>
          <a:p>
            <a:pPr indent="0" marL="0">
              <a:buNone/>
            </a:pPr>
            <a:r>
              <a:rPr lang="en-US" sz="1500" b="1" dirty="0">
                <a:solidFill>
                  <a:schemeClr val="tx1"/>
                </a:solidFill>
              </a:rPr>
              <a:t>The correct result</a:t>
            </a:r>
            <a:endParaRPr lang="en-US" sz="1500" dirty="0"/>
          </a:p>
        </p:txBody>
      </p:sp>
      <p:sp>
        <p:nvSpPr>
          <p:cNvPr id="16" name="Text 14"/>
          <p:cNvSpPr/>
          <p:nvPr/>
        </p:nvSpPr>
        <p:spPr>
          <a:xfrm>
            <a:off x="457200" y="3017520"/>
            <a:ext cx="2468880" cy="685800"/>
          </a:xfrm>
          <a:prstGeom prst="roundRect">
            <a:avLst>
              <a:gd name="adj" fmla="val 10667"/>
            </a:avLst>
          </a:prstGeom>
          <a:solidFill>
            <a:srgbClr val="E6F4EC"/>
          </a:solidFill>
          <a:ln w="6350">
            <a:solidFill>
              <a:srgbClr val="E6F4EC"/>
            </a:solidFill>
          </a:ln>
        </p:spPr>
        <p:txBody>
          <a:bodyPr wrap="square" lIns="63500" tIns="63500" rIns="63500" bIns="63500" rtlCol="0" anchor="ctr"/>
          <a:lstStyle/>
          <a:p>
            <a:pPr algn="ctr" indent="0" marL="0">
              <a:buNone/>
            </a:pPr>
            <a:r>
              <a:rPr lang="en-US" sz="1300" b="1" dirty="0">
                <a:solidFill>
                  <a:schemeClr val="tx1"/>
                </a:solidFill>
              </a:rPr>
              <a:t>Transaction 1 completes</a:t>
            </a:r>
            <a:endParaRPr lang="en-US" sz="1300" dirty="0"/>
          </a:p>
          <a:p>
            <a:pPr algn="ctr" indent="0" marL="0">
              <a:buNone/>
            </a:pPr>
            <a:r>
              <a:rPr lang="en-US" sz="1150" dirty="0">
                <a:solidFill>
                  <a:schemeClr val="tx2"/>
                </a:solidFill>
              </a:rPr>
              <a:t>A to B, 1,000</a:t>
            </a:r>
            <a:endParaRPr lang="en-US" sz="1300" dirty="0"/>
          </a:p>
        </p:txBody>
      </p:sp>
      <p:sp>
        <p:nvSpPr>
          <p:cNvPr id="17" name="Text 15"/>
          <p:cNvSpPr/>
          <p:nvPr/>
        </p:nvSpPr>
        <p:spPr>
          <a:xfrm>
            <a:off x="3337560" y="3017520"/>
            <a:ext cx="2468880" cy="685800"/>
          </a:xfrm>
          <a:prstGeom prst="roundRect">
            <a:avLst>
              <a:gd name="adj" fmla="val 10667"/>
            </a:avLst>
          </a:prstGeom>
          <a:solidFill>
            <a:schemeClr val="bg2"/>
          </a:solidFill>
          <a:ln w="9525">
            <a:solidFill>
              <a:srgbClr val="D5DCE3"/>
            </a:solidFill>
          </a:ln>
        </p:spPr>
        <p:txBody>
          <a:bodyPr wrap="square" lIns="63500" tIns="63500" rIns="63500" bIns="63500" rtlCol="0" anchor="ctr"/>
          <a:lstStyle/>
          <a:p>
            <a:pPr algn="ctr" indent="0" marL="0">
              <a:buNone/>
            </a:pPr>
            <a:r>
              <a:rPr lang="en-US" sz="1300" b="1" dirty="0">
                <a:solidFill>
                  <a:schemeClr val="tx1"/>
                </a:solidFill>
              </a:rPr>
              <a:t>A balance = 0</a:t>
            </a:r>
            <a:endParaRPr lang="en-US" sz="1300" dirty="0"/>
          </a:p>
          <a:p>
            <a:pPr algn="ctr" indent="0" marL="0">
              <a:buNone/>
            </a:pPr>
            <a:r>
              <a:rPr lang="en-US" sz="1150" dirty="0">
                <a:solidFill>
                  <a:schemeClr val="tx2"/>
                </a:solidFill>
              </a:rPr>
              <a:t>the true value</a:t>
            </a:r>
            <a:endParaRPr lang="en-US" sz="1300" dirty="0"/>
          </a:p>
        </p:txBody>
      </p:sp>
      <p:sp>
        <p:nvSpPr>
          <p:cNvPr id="18" name="Text 16"/>
          <p:cNvSpPr/>
          <p:nvPr/>
        </p:nvSpPr>
        <p:spPr>
          <a:xfrm>
            <a:off x="6217920" y="3017520"/>
            <a:ext cx="2468880" cy="685800"/>
          </a:xfrm>
          <a:prstGeom prst="roundRect">
            <a:avLst>
              <a:gd name="adj" fmla="val 10667"/>
            </a:avLst>
          </a:prstGeom>
          <a:solidFill>
            <a:srgbClr val="FBE9EC"/>
          </a:solidFill>
          <a:ln w="6350">
            <a:solidFill>
              <a:srgbClr val="FBE9EC"/>
            </a:solidFill>
          </a:ln>
        </p:spPr>
        <p:txBody>
          <a:bodyPr wrap="square" lIns="63500" tIns="63500" rIns="63500" bIns="63500" rtlCol="0" anchor="ctr"/>
          <a:lstStyle/>
          <a:p>
            <a:pPr algn="ctr" indent="0" marL="0">
              <a:buNone/>
            </a:pPr>
            <a:r>
              <a:rPr lang="en-US" sz="1300" b="1" dirty="0">
                <a:solidFill>
                  <a:schemeClr val="accent2"/>
                </a:solidFill>
              </a:rPr>
              <a:t>Transaction 2 rejected</a:t>
            </a:r>
            <a:endParaRPr lang="en-US" sz="1300" dirty="0"/>
          </a:p>
          <a:p>
            <a:pPr algn="ctr" indent="0" marL="0">
              <a:buNone/>
            </a:pPr>
            <a:r>
              <a:rPr lang="en-US" sz="1150" dirty="0">
                <a:solidFill>
                  <a:schemeClr val="tx2"/>
                </a:solidFill>
              </a:rPr>
              <a:t>800 &gt; 0, insufficient balance</a:t>
            </a:r>
            <a:endParaRPr lang="en-US" sz="1300" dirty="0"/>
          </a:p>
        </p:txBody>
      </p:sp>
      <p:sp>
        <p:nvSpPr>
          <p:cNvPr id="19" name="Shape 17"/>
          <p:cNvSpPr/>
          <p:nvPr/>
        </p:nvSpPr>
        <p:spPr>
          <a:xfrm>
            <a:off x="2944368" y="3360420"/>
            <a:ext cx="365760" cy="0"/>
          </a:xfrm>
          <a:prstGeom prst="line">
            <a:avLst/>
          </a:prstGeom>
          <a:noFill/>
          <a:ln w="15875">
            <a:solidFill>
              <a:schemeClr val="tx2"/>
            </a:solidFill>
            <a:prstDash val="solid"/>
            <a:tailEnd type="triangle"/>
          </a:ln>
        </p:spPr>
      </p:sp>
      <p:sp>
        <p:nvSpPr>
          <p:cNvPr id="20" name="Shape 18"/>
          <p:cNvSpPr/>
          <p:nvPr/>
        </p:nvSpPr>
        <p:spPr>
          <a:xfrm>
            <a:off x="5824728" y="3360420"/>
            <a:ext cx="365760" cy="0"/>
          </a:xfrm>
          <a:prstGeom prst="line">
            <a:avLst/>
          </a:prstGeom>
          <a:noFill/>
          <a:ln w="15875">
            <a:solidFill>
              <a:schemeClr val="tx2"/>
            </a:solidFill>
            <a:prstDash val="solid"/>
            <a:tailEnd type="triangle"/>
          </a:ln>
        </p:spPr>
      </p:sp>
      <p:sp>
        <p:nvSpPr>
          <p:cNvPr id="21" name="Shape 19"/>
          <p:cNvSpPr/>
          <p:nvPr/>
        </p:nvSpPr>
        <p:spPr>
          <a:xfrm>
            <a:off x="457200" y="3931920"/>
            <a:ext cx="8229600" cy="640080"/>
          </a:xfrm>
          <a:prstGeom prst="roundRect">
            <a:avLst>
              <a:gd name="adj" fmla="val 11429"/>
            </a:avLst>
          </a:prstGeom>
          <a:solidFill>
            <a:schemeClr val="bg2"/>
          </a:solidFill>
          <a:ln w="6350">
            <a:solidFill>
              <a:srgbClr val="E1E6EB"/>
            </a:solidFill>
            <a:prstDash val="solid"/>
          </a:ln>
        </p:spPr>
      </p:sp>
      <p:sp>
        <p:nvSpPr>
          <p:cNvPr id="22" name="Text 20"/>
          <p:cNvSpPr txBox="1"/>
          <p:nvPr/>
        </p:nvSpPr>
        <p:spPr>
          <a:xfrm>
            <a:off x="685800" y="3977640"/>
            <a:ext cx="7772400" cy="548640"/>
          </a:xfrm>
          <a:prstGeom prst="rect">
            <a:avLst/>
          </a:prstGeom>
          <a:noFill/>
          <a:ln/>
        </p:spPr>
        <p:txBody>
          <a:bodyPr wrap="square" lIns="0" tIns="0" rIns="0" bIns="0" rtlCol="0" anchor="ctr"/>
          <a:lstStyle/>
          <a:p>
            <a:pPr indent="0" marL="0">
              <a:buNone/>
            </a:pPr>
            <a:r>
              <a:rPr lang="en-US" sz="1250" b="1" dirty="0">
                <a:solidFill>
                  <a:schemeClr val="accent5"/>
                </a:solidFill>
              </a:rPr>
              <a:t>Note: </a:t>
            </a:r>
            <a:pPr indent="0" marL="0">
              <a:buNone/>
            </a:pPr>
            <a:r>
              <a:rPr lang="en-US" sz="1250" dirty="0">
                <a:solidFill>
                  <a:schemeClr val="tx1"/>
                </a:solidFill>
              </a:rPr>
              <a:t>isolation does not mean nobody can read. It means allowed reads and writes can never break the bank's rules.</a:t>
            </a:r>
            <a:endParaRPr lang="en-US" sz="125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Atomicity vs isolation, and where Seata fits</a:t>
            </a:r>
            <a:endParaRPr lang="en-US" sz="2400" dirty="0"/>
          </a:p>
        </p:txBody>
      </p:sp>
      <p:sp>
        <p:nvSpPr>
          <p:cNvPr id="3" name="Shape 1"/>
          <p:cNvSpPr/>
          <p:nvPr/>
        </p:nvSpPr>
        <p:spPr>
          <a:xfrm>
            <a:off x="457200" y="1097280"/>
            <a:ext cx="3977640" cy="1920240"/>
          </a:xfrm>
          <a:prstGeom prst="roundRect">
            <a:avLst>
              <a:gd name="adj" fmla="val 4762"/>
            </a:avLst>
          </a:prstGeom>
          <a:solidFill>
            <a:srgbClr val="E3F2F1"/>
          </a:solidFill>
          <a:ln w="6350">
            <a:solidFill>
              <a:srgbClr val="E3F2F1"/>
            </a:solidFill>
            <a:prstDash val="solid"/>
          </a:ln>
        </p:spPr>
      </p:sp>
      <p:sp>
        <p:nvSpPr>
          <p:cNvPr id="4" name="Text 2"/>
          <p:cNvSpPr txBox="1"/>
          <p:nvPr/>
        </p:nvSpPr>
        <p:spPr>
          <a:xfrm>
            <a:off x="685800" y="1207008"/>
            <a:ext cx="3566160" cy="292608"/>
          </a:xfrm>
          <a:prstGeom prst="rect">
            <a:avLst/>
          </a:prstGeom>
          <a:noFill/>
          <a:ln/>
        </p:spPr>
        <p:txBody>
          <a:bodyPr wrap="square" lIns="0" tIns="0" rIns="0" bIns="0" rtlCol="0" anchor="t"/>
          <a:lstStyle/>
          <a:p>
            <a:pPr indent="0" marL="0">
              <a:buNone/>
            </a:pPr>
            <a:r>
              <a:rPr lang="en-US" sz="1500" b="1" dirty="0">
                <a:solidFill>
                  <a:schemeClr val="accent1"/>
                </a:solidFill>
              </a:rPr>
              <a:t>Atomic outcome</a:t>
            </a:r>
            <a:endParaRPr lang="en-US" sz="1500" dirty="0"/>
          </a:p>
        </p:txBody>
      </p:sp>
      <p:sp>
        <p:nvSpPr>
          <p:cNvPr id="5" name="Text 3"/>
          <p:cNvSpPr txBox="1"/>
          <p:nvPr/>
        </p:nvSpPr>
        <p:spPr>
          <a:xfrm>
            <a:off x="685800" y="1600200"/>
            <a:ext cx="3566160" cy="548640"/>
          </a:xfrm>
          <a:prstGeom prst="rect">
            <a:avLst/>
          </a:prstGeom>
          <a:noFill/>
          <a:ln/>
        </p:spPr>
        <p:txBody>
          <a:bodyPr wrap="square" lIns="0" tIns="0" rIns="0" bIns="0" rtlCol="0" anchor="t"/>
          <a:lstStyle/>
          <a:p>
            <a:pPr indent="0" marL="0">
              <a:buNone/>
            </a:pPr>
            <a:r>
              <a:rPr lang="en-US" sz="1600" b="1" dirty="0">
                <a:solidFill>
                  <a:schemeClr val="tx1"/>
                </a:solidFill>
              </a:rPr>
              <a:t>Did money get lost in the middle?</a:t>
            </a:r>
            <a:endParaRPr lang="en-US" sz="1600" dirty="0"/>
          </a:p>
        </p:txBody>
      </p:sp>
      <p:sp>
        <p:nvSpPr>
          <p:cNvPr id="6" name="Text 4"/>
          <p:cNvSpPr txBox="1"/>
          <p:nvPr/>
        </p:nvSpPr>
        <p:spPr>
          <a:xfrm>
            <a:off x="685800" y="2240280"/>
            <a:ext cx="3566160" cy="256032"/>
          </a:xfrm>
          <a:prstGeom prst="rect">
            <a:avLst/>
          </a:prstGeom>
          <a:noFill/>
          <a:ln/>
        </p:spPr>
        <p:txBody>
          <a:bodyPr wrap="square" lIns="0" tIns="0" rIns="0" bIns="0" rtlCol="0" anchor="t"/>
          <a:lstStyle/>
          <a:p>
            <a:pPr indent="0" marL="0">
              <a:buNone/>
            </a:pPr>
            <a:r>
              <a:rPr lang="en-US" sz="1200" i="1" dirty="0">
                <a:solidFill>
                  <a:schemeClr val="accent1"/>
                </a:solidFill>
              </a:rPr>
              <a:t>Looks at the final result</a:t>
            </a:r>
            <a:endParaRPr lang="en-US" sz="1200" dirty="0"/>
          </a:p>
        </p:txBody>
      </p:sp>
      <p:sp>
        <p:nvSpPr>
          <p:cNvPr id="7" name="Text 5"/>
          <p:cNvSpPr txBox="1"/>
          <p:nvPr/>
        </p:nvSpPr>
        <p:spPr>
          <a:xfrm>
            <a:off x="685800" y="2542032"/>
            <a:ext cx="3566160" cy="365760"/>
          </a:xfrm>
          <a:prstGeom prst="rect">
            <a:avLst/>
          </a:prstGeom>
          <a:noFill/>
          <a:ln/>
        </p:spPr>
        <p:txBody>
          <a:bodyPr wrap="square" lIns="0" tIns="0" rIns="0" bIns="0" rtlCol="0" anchor="t"/>
          <a:lstStyle/>
          <a:p>
            <a:pPr indent="0" marL="0">
              <a:buNone/>
            </a:pPr>
            <a:r>
              <a:rPr lang="en-US" sz="1250" dirty="0">
                <a:solidFill>
                  <a:schemeClr val="tx1"/>
                </a:solidFill>
              </a:rPr>
              <a:t>No transfer stays half-done forever.</a:t>
            </a:r>
            <a:endParaRPr lang="en-US" sz="1250" dirty="0"/>
          </a:p>
        </p:txBody>
      </p:sp>
      <p:sp>
        <p:nvSpPr>
          <p:cNvPr id="8" name="Shape 6"/>
          <p:cNvSpPr/>
          <p:nvPr/>
        </p:nvSpPr>
        <p:spPr>
          <a:xfrm>
            <a:off x="4709160" y="1097280"/>
            <a:ext cx="3977640" cy="1920240"/>
          </a:xfrm>
          <a:prstGeom prst="roundRect">
            <a:avLst>
              <a:gd name="adj" fmla="val 4762"/>
            </a:avLst>
          </a:prstGeom>
          <a:solidFill>
            <a:srgbClr val="ECECFB"/>
          </a:solidFill>
          <a:ln w="6350">
            <a:solidFill>
              <a:srgbClr val="ECECFB"/>
            </a:solidFill>
            <a:prstDash val="solid"/>
          </a:ln>
        </p:spPr>
      </p:sp>
      <p:sp>
        <p:nvSpPr>
          <p:cNvPr id="9" name="Text 7"/>
          <p:cNvSpPr txBox="1"/>
          <p:nvPr/>
        </p:nvSpPr>
        <p:spPr>
          <a:xfrm>
            <a:off x="4937760" y="1207008"/>
            <a:ext cx="3566160" cy="292608"/>
          </a:xfrm>
          <a:prstGeom prst="rect">
            <a:avLst/>
          </a:prstGeom>
          <a:noFill/>
          <a:ln/>
        </p:spPr>
        <p:txBody>
          <a:bodyPr wrap="square" lIns="0" tIns="0" rIns="0" bIns="0" rtlCol="0" anchor="t"/>
          <a:lstStyle/>
          <a:p>
            <a:pPr indent="0" marL="0">
              <a:buNone/>
            </a:pPr>
            <a:r>
              <a:rPr lang="en-US" sz="1500" b="1" dirty="0">
                <a:solidFill>
                  <a:schemeClr val="accent5"/>
                </a:solidFill>
              </a:rPr>
              <a:t>Strict isolation</a:t>
            </a:r>
            <a:endParaRPr lang="en-US" sz="1500" dirty="0"/>
          </a:p>
        </p:txBody>
      </p:sp>
      <p:sp>
        <p:nvSpPr>
          <p:cNvPr id="10" name="Text 8"/>
          <p:cNvSpPr txBox="1"/>
          <p:nvPr/>
        </p:nvSpPr>
        <p:spPr>
          <a:xfrm>
            <a:off x="4937760" y="1600200"/>
            <a:ext cx="3566160" cy="548640"/>
          </a:xfrm>
          <a:prstGeom prst="rect">
            <a:avLst/>
          </a:prstGeom>
          <a:noFill/>
          <a:ln/>
        </p:spPr>
        <p:txBody>
          <a:bodyPr wrap="square" lIns="0" tIns="0" rIns="0" bIns="0" rtlCol="0" anchor="t"/>
          <a:lstStyle/>
          <a:p>
            <a:pPr indent="0" marL="0">
              <a:buNone/>
            </a:pPr>
            <a:r>
              <a:rPr lang="en-US" sz="1600" b="1" dirty="0">
                <a:solidFill>
                  <a:schemeClr val="tx1"/>
                </a:solidFill>
              </a:rPr>
              <a:t>Did another transfer use a wrong balance?</a:t>
            </a:r>
            <a:endParaRPr lang="en-US" sz="1600" dirty="0"/>
          </a:p>
        </p:txBody>
      </p:sp>
      <p:sp>
        <p:nvSpPr>
          <p:cNvPr id="11" name="Text 9"/>
          <p:cNvSpPr txBox="1"/>
          <p:nvPr/>
        </p:nvSpPr>
        <p:spPr>
          <a:xfrm>
            <a:off x="4937760" y="2240280"/>
            <a:ext cx="3566160" cy="256032"/>
          </a:xfrm>
          <a:prstGeom prst="rect">
            <a:avLst/>
          </a:prstGeom>
          <a:noFill/>
          <a:ln/>
        </p:spPr>
        <p:txBody>
          <a:bodyPr wrap="square" lIns="0" tIns="0" rIns="0" bIns="0" rtlCol="0" anchor="t"/>
          <a:lstStyle/>
          <a:p>
            <a:pPr indent="0" marL="0">
              <a:buNone/>
            </a:pPr>
            <a:r>
              <a:rPr lang="en-US" sz="1200" i="1" dirty="0">
                <a:solidFill>
                  <a:schemeClr val="accent5"/>
                </a:solidFill>
              </a:rPr>
              <a:t>Looks at what happens during the transfer</a:t>
            </a:r>
            <a:endParaRPr lang="en-US" sz="1200" dirty="0"/>
          </a:p>
        </p:txBody>
      </p:sp>
      <p:sp>
        <p:nvSpPr>
          <p:cNvPr id="12" name="Text 10"/>
          <p:cNvSpPr txBox="1"/>
          <p:nvPr/>
        </p:nvSpPr>
        <p:spPr>
          <a:xfrm>
            <a:off x="4937760" y="2542032"/>
            <a:ext cx="3566160" cy="365760"/>
          </a:xfrm>
          <a:prstGeom prst="rect">
            <a:avLst/>
          </a:prstGeom>
          <a:noFill/>
          <a:ln/>
        </p:spPr>
        <p:txBody>
          <a:bodyPr wrap="square" lIns="0" tIns="0" rIns="0" bIns="0" rtlCol="0" anchor="t"/>
          <a:lstStyle/>
          <a:p>
            <a:pPr indent="0" marL="0">
              <a:buNone/>
            </a:pPr>
            <a:r>
              <a:rPr lang="en-US" sz="1250" dirty="0">
                <a:solidFill>
                  <a:schemeClr val="tx1"/>
                </a:solidFill>
              </a:rPr>
              <a:t>Concurrent transfers never decide on an unsafe state.</a:t>
            </a:r>
            <a:endParaRPr lang="en-US" sz="1250" dirty="0"/>
          </a:p>
        </p:txBody>
      </p:sp>
      <p:sp>
        <p:nvSpPr>
          <p:cNvPr id="13" name="Shape 11"/>
          <p:cNvSpPr/>
          <p:nvPr/>
        </p:nvSpPr>
        <p:spPr>
          <a:xfrm>
            <a:off x="457200" y="3246120"/>
            <a:ext cx="8229600" cy="566928"/>
          </a:xfrm>
          <a:prstGeom prst="roundRect">
            <a:avLst>
              <a:gd name="adj" fmla="val 12903"/>
            </a:avLst>
          </a:prstGeom>
          <a:solidFill>
            <a:schemeClr val="bg2"/>
          </a:solidFill>
          <a:ln w="6350">
            <a:solidFill>
              <a:srgbClr val="E1E6EB"/>
            </a:solidFill>
            <a:prstDash val="solid"/>
          </a:ln>
        </p:spPr>
      </p:sp>
      <p:sp>
        <p:nvSpPr>
          <p:cNvPr id="14" name="Text 12"/>
          <p:cNvSpPr txBox="1"/>
          <p:nvPr/>
        </p:nvSpPr>
        <p:spPr>
          <a:xfrm>
            <a:off x="685800" y="3291840"/>
            <a:ext cx="7772400" cy="475488"/>
          </a:xfrm>
          <a:prstGeom prst="rect">
            <a:avLst/>
          </a:prstGeom>
          <a:noFill/>
          <a:ln/>
        </p:spPr>
        <p:txBody>
          <a:bodyPr wrap="square" lIns="0" tIns="0" rIns="0" bIns="0" rtlCol="0" anchor="ctr"/>
          <a:lstStyle/>
          <a:p>
            <a:pPr indent="0" marL="0">
              <a:buNone/>
            </a:pPr>
            <a:r>
              <a:rPr lang="en-US" sz="1250" b="1" dirty="0">
                <a:solidFill>
                  <a:schemeClr val="accent1"/>
                </a:solidFill>
              </a:rPr>
              <a:t>Seata global transaction + rollback: </a:t>
            </a:r>
            <a:pPr indent="0" marL="0">
              <a:buNone/>
            </a:pPr>
            <a:r>
              <a:rPr lang="en-US" sz="1250" dirty="0">
                <a:solidFill>
                  <a:schemeClr val="tx1"/>
                </a:solidFill>
              </a:rPr>
              <a:t>helps achieve the atomic outcome</a:t>
            </a:r>
            <a:endParaRPr lang="en-US" sz="1250" dirty="0"/>
          </a:p>
        </p:txBody>
      </p:sp>
      <p:sp>
        <p:nvSpPr>
          <p:cNvPr id="15" name="Shape 13"/>
          <p:cNvSpPr/>
          <p:nvPr/>
        </p:nvSpPr>
        <p:spPr>
          <a:xfrm>
            <a:off x="457200" y="3931920"/>
            <a:ext cx="8229600" cy="566928"/>
          </a:xfrm>
          <a:prstGeom prst="roundRect">
            <a:avLst>
              <a:gd name="adj" fmla="val 12903"/>
            </a:avLst>
          </a:prstGeom>
          <a:solidFill>
            <a:schemeClr val="bg2"/>
          </a:solidFill>
          <a:ln w="6350">
            <a:solidFill>
              <a:srgbClr val="E1E6EB"/>
            </a:solidFill>
            <a:prstDash val="solid"/>
          </a:ln>
        </p:spPr>
      </p:sp>
      <p:sp>
        <p:nvSpPr>
          <p:cNvPr id="16" name="Text 14"/>
          <p:cNvSpPr txBox="1"/>
          <p:nvPr/>
        </p:nvSpPr>
        <p:spPr>
          <a:xfrm>
            <a:off x="685800" y="3977640"/>
            <a:ext cx="7772400" cy="475488"/>
          </a:xfrm>
          <a:prstGeom prst="rect">
            <a:avLst/>
          </a:prstGeom>
          <a:noFill/>
          <a:ln/>
        </p:spPr>
        <p:txBody>
          <a:bodyPr wrap="square" lIns="0" tIns="0" rIns="0" bIns="0" rtlCol="0" anchor="ctr"/>
          <a:lstStyle/>
          <a:p>
            <a:pPr indent="0" marL="0">
              <a:buNone/>
            </a:pPr>
            <a:r>
              <a:rPr lang="en-US" sz="1250" b="1" dirty="0">
                <a:solidFill>
                  <a:schemeClr val="accent4"/>
                </a:solidFill>
              </a:rPr>
              <a:t>Isolation needs more: </a:t>
            </a:r>
            <a:pPr indent="0" marL="0">
              <a:buNone/>
            </a:pPr>
            <a:r>
              <a:rPr lang="en-US" sz="1250" dirty="0">
                <a:solidFill>
                  <a:schemeClr val="tx1"/>
                </a:solidFill>
              </a:rPr>
              <a:t>the Seata mode, DB isolation level and locking. AT alone does not give strict isolation.</a:t>
            </a:r>
            <a:endParaRPr lang="en-US" sz="125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Four modes at a glance</a:t>
            </a:r>
            <a:endParaRPr lang="en-US" sz="2400" dirty="0"/>
          </a:p>
        </p:txBody>
      </p:sp>
      <p:sp>
        <p:nvSpPr>
          <p:cNvPr id="3" name="Shape 1"/>
          <p:cNvSpPr/>
          <p:nvPr/>
        </p:nvSpPr>
        <p:spPr>
          <a:xfrm>
            <a:off x="457200" y="1097280"/>
            <a:ext cx="1920240" cy="2834640"/>
          </a:xfrm>
          <a:prstGeom prst="roundRect">
            <a:avLst>
              <a:gd name="adj" fmla="val 4762"/>
            </a:avLst>
          </a:prstGeom>
          <a:solidFill>
            <a:srgbClr val="FDF3E2"/>
          </a:solidFill>
          <a:ln w="6350">
            <a:solidFill>
              <a:srgbClr val="FDF3E2"/>
            </a:solidFill>
            <a:prstDash val="solid"/>
          </a:ln>
        </p:spPr>
      </p:sp>
      <p:sp>
        <p:nvSpPr>
          <p:cNvPr id="4" name="Text 2"/>
          <p:cNvSpPr/>
          <p:nvPr/>
        </p:nvSpPr>
        <p:spPr>
          <a:xfrm>
            <a:off x="960120" y="1280160"/>
            <a:ext cx="914400" cy="914400"/>
          </a:xfrm>
          <a:prstGeom prst="ellipse">
            <a:avLst/>
          </a:prstGeom>
          <a:solidFill>
            <a:schemeClr val="accent4"/>
          </a:solidFill>
          <a:ln w="6350">
            <a:solidFill>
              <a:schemeClr val="accent4"/>
            </a:solidFill>
          </a:ln>
        </p:spPr>
        <p:txBody>
          <a:bodyPr wrap="square" lIns="0" tIns="0" rIns="0" bIns="0" rtlCol="0" anchor="ctr"/>
          <a:lstStyle/>
          <a:p>
            <a:pPr algn="ctr" indent="0" marL="0">
              <a:buNone/>
            </a:pPr>
            <a:r>
              <a:rPr lang="en-US" sz="1800" b="1" dirty="0">
                <a:solidFill>
                  <a:schemeClr val="bg1"/>
                </a:solidFill>
              </a:rPr>
              <a:t>AT</a:t>
            </a:r>
            <a:endParaRPr lang="en-US" sz="1800" dirty="0"/>
          </a:p>
        </p:txBody>
      </p:sp>
      <p:sp>
        <p:nvSpPr>
          <p:cNvPr id="5" name="Text 3"/>
          <p:cNvSpPr txBox="1"/>
          <p:nvPr/>
        </p:nvSpPr>
        <p:spPr>
          <a:xfrm>
            <a:off x="640080" y="2377440"/>
            <a:ext cx="1554480" cy="822960"/>
          </a:xfrm>
          <a:prstGeom prst="rect">
            <a:avLst/>
          </a:prstGeom>
          <a:noFill/>
          <a:ln/>
        </p:spPr>
        <p:txBody>
          <a:bodyPr wrap="square" lIns="0" tIns="0" rIns="0" bIns="0" rtlCol="0" anchor="t"/>
          <a:lstStyle/>
          <a:p>
            <a:pPr algn="ctr" indent="0" marL="0">
              <a:buNone/>
            </a:pPr>
            <a:r>
              <a:rPr lang="en-US" sz="1300" b="1" dirty="0">
                <a:solidFill>
                  <a:schemeClr val="tx1"/>
                </a:solidFill>
              </a:rPr>
              <a:t>Seata handles rollback with an undo log</a:t>
            </a:r>
            <a:endParaRPr lang="en-US" sz="1300" dirty="0"/>
          </a:p>
        </p:txBody>
      </p:sp>
      <p:sp>
        <p:nvSpPr>
          <p:cNvPr id="6" name="Text 4"/>
          <p:cNvSpPr txBox="1"/>
          <p:nvPr/>
        </p:nvSpPr>
        <p:spPr>
          <a:xfrm>
            <a:off x="640080" y="3291840"/>
            <a:ext cx="1554480" cy="502920"/>
          </a:xfrm>
          <a:prstGeom prst="rect">
            <a:avLst/>
          </a:prstGeom>
          <a:noFill/>
          <a:ln/>
        </p:spPr>
        <p:txBody>
          <a:bodyPr wrap="square" lIns="0" tIns="0" rIns="0" bIns="0" rtlCol="0" anchor="t"/>
          <a:lstStyle/>
          <a:p>
            <a:pPr algn="ctr" indent="0" marL="0">
              <a:buNone/>
            </a:pPr>
            <a:r>
              <a:rPr lang="en-US" sz="1150" i="1" dirty="0">
                <a:solidFill>
                  <a:schemeClr val="accent4"/>
                </a:solidFill>
              </a:rPr>
              <a:t>Less business code</a:t>
            </a:r>
            <a:endParaRPr lang="en-US" sz="1150" dirty="0"/>
          </a:p>
        </p:txBody>
      </p:sp>
      <p:sp>
        <p:nvSpPr>
          <p:cNvPr id="7" name="Shape 5"/>
          <p:cNvSpPr/>
          <p:nvPr/>
        </p:nvSpPr>
        <p:spPr>
          <a:xfrm>
            <a:off x="2560320" y="1097280"/>
            <a:ext cx="1920240" cy="2834640"/>
          </a:xfrm>
          <a:prstGeom prst="roundRect">
            <a:avLst>
              <a:gd name="adj" fmla="val 4762"/>
            </a:avLst>
          </a:prstGeom>
          <a:solidFill>
            <a:srgbClr val="FDF3E2"/>
          </a:solidFill>
          <a:ln w="6350">
            <a:solidFill>
              <a:srgbClr val="FDF3E2"/>
            </a:solidFill>
            <a:prstDash val="solid"/>
          </a:ln>
        </p:spPr>
      </p:sp>
      <p:sp>
        <p:nvSpPr>
          <p:cNvPr id="8" name="Text 6"/>
          <p:cNvSpPr/>
          <p:nvPr/>
        </p:nvSpPr>
        <p:spPr>
          <a:xfrm>
            <a:off x="3063240" y="1280160"/>
            <a:ext cx="914400" cy="914400"/>
          </a:xfrm>
          <a:prstGeom prst="ellipse">
            <a:avLst/>
          </a:prstGeom>
          <a:solidFill>
            <a:schemeClr val="accent4"/>
          </a:solidFill>
          <a:ln w="6350">
            <a:solidFill>
              <a:schemeClr val="accent4"/>
            </a:solidFill>
          </a:ln>
        </p:spPr>
        <p:txBody>
          <a:bodyPr wrap="square" lIns="0" tIns="0" rIns="0" bIns="0" rtlCol="0" anchor="ctr"/>
          <a:lstStyle/>
          <a:p>
            <a:pPr algn="ctr" indent="0" marL="0">
              <a:buNone/>
            </a:pPr>
            <a:r>
              <a:rPr lang="en-US" sz="1500" b="1" dirty="0">
                <a:solidFill>
                  <a:schemeClr val="bg1"/>
                </a:solidFill>
              </a:rPr>
              <a:t>TCC</a:t>
            </a:r>
            <a:endParaRPr lang="en-US" sz="1500" dirty="0"/>
          </a:p>
        </p:txBody>
      </p:sp>
      <p:sp>
        <p:nvSpPr>
          <p:cNvPr id="9" name="Text 7"/>
          <p:cNvSpPr txBox="1"/>
          <p:nvPr/>
        </p:nvSpPr>
        <p:spPr>
          <a:xfrm>
            <a:off x="2743200" y="2377440"/>
            <a:ext cx="1554480" cy="822960"/>
          </a:xfrm>
          <a:prstGeom prst="rect">
            <a:avLst/>
          </a:prstGeom>
          <a:noFill/>
          <a:ln/>
        </p:spPr>
        <p:txBody>
          <a:bodyPr wrap="square" lIns="0" tIns="0" rIns="0" bIns="0" rtlCol="0" anchor="t"/>
          <a:lstStyle/>
          <a:p>
            <a:pPr algn="ctr" indent="0" marL="0">
              <a:buNone/>
            </a:pPr>
            <a:r>
              <a:rPr lang="en-US" sz="1300" b="1" dirty="0">
                <a:solidFill>
                  <a:schemeClr val="tx1"/>
                </a:solidFill>
              </a:rPr>
              <a:t>Reserve first, then confirm or cancel</a:t>
            </a:r>
            <a:endParaRPr lang="en-US" sz="1300" dirty="0"/>
          </a:p>
        </p:txBody>
      </p:sp>
      <p:sp>
        <p:nvSpPr>
          <p:cNvPr id="10" name="Text 8"/>
          <p:cNvSpPr txBox="1"/>
          <p:nvPr/>
        </p:nvSpPr>
        <p:spPr>
          <a:xfrm>
            <a:off x="2743200" y="3291840"/>
            <a:ext cx="1554480" cy="502920"/>
          </a:xfrm>
          <a:prstGeom prst="rect">
            <a:avLst/>
          </a:prstGeom>
          <a:noFill/>
          <a:ln/>
        </p:spPr>
        <p:txBody>
          <a:bodyPr wrap="square" lIns="0" tIns="0" rIns="0" bIns="0" rtlCol="0" anchor="t"/>
          <a:lstStyle/>
          <a:p>
            <a:pPr algn="ctr" indent="0" marL="0">
              <a:buNone/>
            </a:pPr>
            <a:r>
              <a:rPr lang="en-US" sz="1150" i="1" dirty="0">
                <a:solidFill>
                  <a:schemeClr val="accent4"/>
                </a:solidFill>
              </a:rPr>
              <a:t>More control, more complex</a:t>
            </a:r>
            <a:endParaRPr lang="en-US" sz="1150" dirty="0"/>
          </a:p>
        </p:txBody>
      </p:sp>
      <p:sp>
        <p:nvSpPr>
          <p:cNvPr id="11" name="Shape 9"/>
          <p:cNvSpPr/>
          <p:nvPr/>
        </p:nvSpPr>
        <p:spPr>
          <a:xfrm>
            <a:off x="4663440" y="1097280"/>
            <a:ext cx="1920240" cy="2834640"/>
          </a:xfrm>
          <a:prstGeom prst="roundRect">
            <a:avLst>
              <a:gd name="adj" fmla="val 4762"/>
            </a:avLst>
          </a:prstGeom>
          <a:solidFill>
            <a:srgbClr val="ECECFB"/>
          </a:solidFill>
          <a:ln w="6350">
            <a:solidFill>
              <a:srgbClr val="ECECFB"/>
            </a:solidFill>
            <a:prstDash val="solid"/>
          </a:ln>
        </p:spPr>
      </p:sp>
      <p:sp>
        <p:nvSpPr>
          <p:cNvPr id="12" name="Text 10"/>
          <p:cNvSpPr/>
          <p:nvPr/>
        </p:nvSpPr>
        <p:spPr>
          <a:xfrm>
            <a:off x="5166360" y="1280160"/>
            <a:ext cx="914400" cy="914400"/>
          </a:xfrm>
          <a:prstGeom prst="ellipse">
            <a:avLst/>
          </a:prstGeom>
          <a:solidFill>
            <a:schemeClr val="accent5"/>
          </a:solidFill>
          <a:ln w="6350">
            <a:solidFill>
              <a:schemeClr val="accent5"/>
            </a:solidFill>
          </a:ln>
        </p:spPr>
        <p:txBody>
          <a:bodyPr wrap="square" lIns="0" tIns="0" rIns="0" bIns="0" rtlCol="0" anchor="ctr"/>
          <a:lstStyle/>
          <a:p>
            <a:pPr algn="ctr" indent="0" marL="0">
              <a:buNone/>
            </a:pPr>
            <a:r>
              <a:rPr lang="en-US" sz="1500" b="1" dirty="0">
                <a:solidFill>
                  <a:schemeClr val="bg1"/>
                </a:solidFill>
              </a:rPr>
              <a:t>Saga</a:t>
            </a:r>
            <a:endParaRPr lang="en-US" sz="1500" dirty="0"/>
          </a:p>
        </p:txBody>
      </p:sp>
      <p:sp>
        <p:nvSpPr>
          <p:cNvPr id="13" name="Text 11"/>
          <p:cNvSpPr txBox="1"/>
          <p:nvPr/>
        </p:nvSpPr>
        <p:spPr>
          <a:xfrm>
            <a:off x="4846320" y="2377440"/>
            <a:ext cx="1554480" cy="822960"/>
          </a:xfrm>
          <a:prstGeom prst="rect">
            <a:avLst/>
          </a:prstGeom>
          <a:noFill/>
          <a:ln/>
        </p:spPr>
        <p:txBody>
          <a:bodyPr wrap="square" lIns="0" tIns="0" rIns="0" bIns="0" rtlCol="0" anchor="t"/>
          <a:lstStyle/>
          <a:p>
            <a:pPr algn="ctr" indent="0" marL="0">
              <a:buNone/>
            </a:pPr>
            <a:r>
              <a:rPr lang="en-US" sz="1300" b="1" dirty="0">
                <a:solidFill>
                  <a:schemeClr val="tx1"/>
                </a:solidFill>
              </a:rPr>
              <a:t>Commit step by step, compensate on failure</a:t>
            </a:r>
            <a:endParaRPr lang="en-US" sz="1300" dirty="0"/>
          </a:p>
        </p:txBody>
      </p:sp>
      <p:sp>
        <p:nvSpPr>
          <p:cNvPr id="14" name="Text 12"/>
          <p:cNvSpPr txBox="1"/>
          <p:nvPr/>
        </p:nvSpPr>
        <p:spPr>
          <a:xfrm>
            <a:off x="4846320" y="3291840"/>
            <a:ext cx="1554480" cy="502920"/>
          </a:xfrm>
          <a:prstGeom prst="rect">
            <a:avLst/>
          </a:prstGeom>
          <a:noFill/>
          <a:ln/>
        </p:spPr>
        <p:txBody>
          <a:bodyPr wrap="square" lIns="0" tIns="0" rIns="0" bIns="0" rtlCol="0" anchor="t"/>
          <a:lstStyle/>
          <a:p>
            <a:pPr algn="ctr" indent="0" marL="0">
              <a:buNone/>
            </a:pPr>
            <a:r>
              <a:rPr lang="en-US" sz="1150" i="1" dirty="0">
                <a:solidFill>
                  <a:schemeClr val="accent5"/>
                </a:solidFill>
              </a:rPr>
              <a:t>Compensation is not a real rollback</a:t>
            </a:r>
            <a:endParaRPr lang="en-US" sz="1150" dirty="0"/>
          </a:p>
        </p:txBody>
      </p:sp>
      <p:sp>
        <p:nvSpPr>
          <p:cNvPr id="15" name="Shape 13"/>
          <p:cNvSpPr/>
          <p:nvPr/>
        </p:nvSpPr>
        <p:spPr>
          <a:xfrm>
            <a:off x="6766560" y="1097280"/>
            <a:ext cx="1920240" cy="2834640"/>
          </a:xfrm>
          <a:prstGeom prst="roundRect">
            <a:avLst>
              <a:gd name="adj" fmla="val 4762"/>
            </a:avLst>
          </a:prstGeom>
          <a:solidFill>
            <a:srgbClr val="E3F2F1"/>
          </a:solidFill>
          <a:ln w="6350">
            <a:solidFill>
              <a:srgbClr val="E3F2F1"/>
            </a:solidFill>
            <a:prstDash val="solid"/>
          </a:ln>
        </p:spPr>
      </p:sp>
      <p:sp>
        <p:nvSpPr>
          <p:cNvPr id="16" name="Text 14"/>
          <p:cNvSpPr/>
          <p:nvPr/>
        </p:nvSpPr>
        <p:spPr>
          <a:xfrm>
            <a:off x="7269480" y="1280160"/>
            <a:ext cx="914400" cy="914400"/>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800" b="1" dirty="0">
                <a:solidFill>
                  <a:schemeClr val="bg1"/>
                </a:solidFill>
              </a:rPr>
              <a:t>XA</a:t>
            </a:r>
            <a:endParaRPr lang="en-US" sz="1800" dirty="0"/>
          </a:p>
        </p:txBody>
      </p:sp>
      <p:sp>
        <p:nvSpPr>
          <p:cNvPr id="17" name="Text 15"/>
          <p:cNvSpPr txBox="1"/>
          <p:nvPr/>
        </p:nvSpPr>
        <p:spPr>
          <a:xfrm>
            <a:off x="6949440" y="2377440"/>
            <a:ext cx="1554480" cy="822960"/>
          </a:xfrm>
          <a:prstGeom prst="rect">
            <a:avLst/>
          </a:prstGeom>
          <a:noFill/>
          <a:ln/>
        </p:spPr>
        <p:txBody>
          <a:bodyPr wrap="square" lIns="0" tIns="0" rIns="0" bIns="0" rtlCol="0" anchor="t"/>
          <a:lstStyle/>
          <a:p>
            <a:pPr algn="ctr" indent="0" marL="0">
              <a:buNone/>
            </a:pPr>
            <a:r>
              <a:rPr lang="en-US" sz="1300" b="1" dirty="0">
                <a:solidFill>
                  <a:schemeClr val="tx1"/>
                </a:solidFill>
              </a:rPr>
              <a:t>Databases prepare, then commit or roll back</a:t>
            </a:r>
            <a:endParaRPr lang="en-US" sz="1300" dirty="0"/>
          </a:p>
        </p:txBody>
      </p:sp>
      <p:sp>
        <p:nvSpPr>
          <p:cNvPr id="18" name="Text 16"/>
          <p:cNvSpPr txBox="1"/>
          <p:nvPr/>
        </p:nvSpPr>
        <p:spPr>
          <a:xfrm>
            <a:off x="6949440" y="3291840"/>
            <a:ext cx="1554480" cy="502920"/>
          </a:xfrm>
          <a:prstGeom prst="rect">
            <a:avLst/>
          </a:prstGeom>
          <a:noFill/>
          <a:ln/>
        </p:spPr>
        <p:txBody>
          <a:bodyPr wrap="square" lIns="0" tIns="0" rIns="0" bIns="0" rtlCol="0" anchor="t"/>
          <a:lstStyle/>
          <a:p>
            <a:pPr algn="ctr" indent="0" marL="0">
              <a:buNone/>
            </a:pPr>
            <a:r>
              <a:rPr lang="en-US" sz="1150" i="1" dirty="0">
                <a:solidFill>
                  <a:schemeClr val="accent1"/>
                </a:solidFill>
              </a:rPr>
              <a:t>Strong consistency, may block</a:t>
            </a:r>
            <a:endParaRPr lang="en-US" sz="1150" dirty="0"/>
          </a:p>
        </p:txBody>
      </p:sp>
      <p:sp>
        <p:nvSpPr>
          <p:cNvPr id="19" name="Text 17"/>
          <p:cNvSpPr txBox="1"/>
          <p:nvPr/>
        </p:nvSpPr>
        <p:spPr>
          <a:xfrm>
            <a:off x="457200" y="4160520"/>
            <a:ext cx="8229600" cy="411480"/>
          </a:xfrm>
          <a:prstGeom prst="rect">
            <a:avLst/>
          </a:prstGeom>
          <a:noFill/>
          <a:ln/>
        </p:spPr>
        <p:txBody>
          <a:bodyPr wrap="square" lIns="0" tIns="0" rIns="0" bIns="0" rtlCol="0" anchor="t"/>
          <a:lstStyle/>
          <a:p>
            <a:pPr indent="0" marL="0">
              <a:buNone/>
            </a:pPr>
            <a:r>
              <a:rPr lang="en-US" sz="1300" i="1" dirty="0">
                <a:solidFill>
                  <a:schemeClr val="tx2"/>
                </a:solidFill>
              </a:rPr>
              <a:t>All four coordinate several microservices. They differ in how they undo work and how much isolation they give.</a:t>
            </a:r>
            <a:endParaRPr lang="en-US" sz="13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Mode 1, AT: do the work, keep an undo record</a:t>
            </a:r>
            <a:endParaRPr lang="en-US" sz="2400" dirty="0"/>
          </a:p>
        </p:txBody>
      </p:sp>
      <p:sp>
        <p:nvSpPr>
          <p:cNvPr id="3" name="Shape 1"/>
          <p:cNvSpPr/>
          <p:nvPr/>
        </p:nvSpPr>
        <p:spPr>
          <a:xfrm>
            <a:off x="457200" y="1097280"/>
            <a:ext cx="4754880" cy="621792"/>
          </a:xfrm>
          <a:prstGeom prst="roundRect">
            <a:avLst>
              <a:gd name="adj" fmla="val 11765"/>
            </a:avLst>
          </a:prstGeom>
          <a:solidFill>
            <a:srgbClr val="FDF3E2"/>
          </a:solidFill>
          <a:ln w="6350">
            <a:solidFill>
              <a:srgbClr val="FDF3E2"/>
            </a:solidFill>
            <a:prstDash val="solid"/>
          </a:ln>
        </p:spPr>
      </p:sp>
      <p:sp>
        <p:nvSpPr>
          <p:cNvPr id="4" name="Text 2"/>
          <p:cNvSpPr/>
          <p:nvPr/>
        </p:nvSpPr>
        <p:spPr>
          <a:xfrm>
            <a:off x="621792" y="1225296"/>
            <a:ext cx="365760" cy="365760"/>
          </a:xfrm>
          <a:prstGeom prst="ellipse">
            <a:avLst/>
          </a:prstGeom>
          <a:solidFill>
            <a:schemeClr val="accent4"/>
          </a:solidFill>
          <a:ln w="6350">
            <a:solidFill>
              <a:schemeClr val="accent4"/>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5" name="Text 3"/>
          <p:cNvSpPr txBox="1"/>
          <p:nvPr/>
        </p:nvSpPr>
        <p:spPr>
          <a:xfrm>
            <a:off x="1143000" y="1161288"/>
            <a:ext cx="3977640" cy="274320"/>
          </a:xfrm>
          <a:prstGeom prst="rect">
            <a:avLst/>
          </a:prstGeom>
          <a:noFill/>
          <a:ln/>
        </p:spPr>
        <p:txBody>
          <a:bodyPr wrap="square" lIns="0" tIns="0" rIns="0" bIns="0" rtlCol="0" anchor="t"/>
          <a:lstStyle/>
          <a:p>
            <a:pPr indent="0" marL="0">
              <a:buNone/>
            </a:pPr>
            <a:r>
              <a:rPr lang="en-US" sz="1350" b="1" dirty="0">
                <a:solidFill>
                  <a:schemeClr val="accent4"/>
                </a:solidFill>
              </a:rPr>
              <a:t>Account A: 5,000 to 4,000</a:t>
            </a:r>
            <a:endParaRPr lang="en-US" sz="1350" dirty="0"/>
          </a:p>
        </p:txBody>
      </p:sp>
      <p:sp>
        <p:nvSpPr>
          <p:cNvPr id="6" name="Text 4"/>
          <p:cNvSpPr txBox="1"/>
          <p:nvPr/>
        </p:nvSpPr>
        <p:spPr>
          <a:xfrm>
            <a:off x="1143000" y="1435608"/>
            <a:ext cx="3977640" cy="256032"/>
          </a:xfrm>
          <a:prstGeom prst="rect">
            <a:avLst/>
          </a:prstGeom>
          <a:noFill/>
          <a:ln/>
        </p:spPr>
        <p:txBody>
          <a:bodyPr wrap="square" lIns="0" tIns="0" rIns="0" bIns="0" rtlCol="0" anchor="t"/>
          <a:lstStyle/>
          <a:p>
            <a:pPr indent="0" marL="0">
              <a:buNone/>
            </a:pPr>
            <a:r>
              <a:rPr lang="en-US" sz="1150" dirty="0">
                <a:solidFill>
                  <a:schemeClr val="tx1"/>
                </a:solidFill>
              </a:rPr>
              <a:t>Committed locally, undo log saved</a:t>
            </a:r>
            <a:endParaRPr lang="en-US" sz="1150" dirty="0"/>
          </a:p>
        </p:txBody>
      </p:sp>
      <p:sp>
        <p:nvSpPr>
          <p:cNvPr id="7" name="Shape 5"/>
          <p:cNvSpPr/>
          <p:nvPr/>
        </p:nvSpPr>
        <p:spPr>
          <a:xfrm>
            <a:off x="2834640" y="1737360"/>
            <a:ext cx="0" cy="137160"/>
          </a:xfrm>
          <a:prstGeom prst="line">
            <a:avLst/>
          </a:prstGeom>
          <a:noFill/>
          <a:ln w="15875">
            <a:solidFill>
              <a:schemeClr val="tx2"/>
            </a:solidFill>
            <a:prstDash val="solid"/>
            <a:tailEnd type="triangle"/>
          </a:ln>
        </p:spPr>
      </p:sp>
      <p:sp>
        <p:nvSpPr>
          <p:cNvPr id="8" name="Shape 6"/>
          <p:cNvSpPr/>
          <p:nvPr/>
        </p:nvSpPr>
        <p:spPr>
          <a:xfrm>
            <a:off x="457200" y="1892808"/>
            <a:ext cx="4754880" cy="621792"/>
          </a:xfrm>
          <a:prstGeom prst="roundRect">
            <a:avLst>
              <a:gd name="adj" fmla="val 11765"/>
            </a:avLst>
          </a:prstGeom>
          <a:solidFill>
            <a:srgbClr val="FBE9EC"/>
          </a:solidFill>
          <a:ln w="6350">
            <a:solidFill>
              <a:srgbClr val="FBE9EC"/>
            </a:solidFill>
            <a:prstDash val="solid"/>
          </a:ln>
        </p:spPr>
      </p:sp>
      <p:sp>
        <p:nvSpPr>
          <p:cNvPr id="9" name="Text 7"/>
          <p:cNvSpPr/>
          <p:nvPr/>
        </p:nvSpPr>
        <p:spPr>
          <a:xfrm>
            <a:off x="621792" y="2020824"/>
            <a:ext cx="365760" cy="365760"/>
          </a:xfrm>
          <a:prstGeom prst="ellipse">
            <a:avLst/>
          </a:prstGeom>
          <a:solidFill>
            <a:schemeClr val="accent2"/>
          </a:solidFill>
          <a:ln w="6350">
            <a:solidFill>
              <a:schemeClr val="accent2"/>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0" name="Text 8"/>
          <p:cNvSpPr txBox="1"/>
          <p:nvPr/>
        </p:nvSpPr>
        <p:spPr>
          <a:xfrm>
            <a:off x="1143000" y="1956816"/>
            <a:ext cx="3977640" cy="274320"/>
          </a:xfrm>
          <a:prstGeom prst="rect">
            <a:avLst/>
          </a:prstGeom>
          <a:noFill/>
          <a:ln/>
        </p:spPr>
        <p:txBody>
          <a:bodyPr wrap="square" lIns="0" tIns="0" rIns="0" bIns="0" rtlCol="0" anchor="t"/>
          <a:lstStyle/>
          <a:p>
            <a:pPr indent="0" marL="0">
              <a:buNone/>
            </a:pPr>
            <a:r>
              <a:rPr lang="en-US" sz="1350" b="1" dirty="0">
                <a:solidFill>
                  <a:schemeClr val="accent2"/>
                </a:solidFill>
              </a:rPr>
              <a:t>Others can already read 4,000</a:t>
            </a:r>
            <a:endParaRPr lang="en-US" sz="1350" dirty="0"/>
          </a:p>
        </p:txBody>
      </p:sp>
      <p:sp>
        <p:nvSpPr>
          <p:cNvPr id="11" name="Text 9"/>
          <p:cNvSpPr txBox="1"/>
          <p:nvPr/>
        </p:nvSpPr>
        <p:spPr>
          <a:xfrm>
            <a:off x="1143000" y="2231136"/>
            <a:ext cx="3977640" cy="256032"/>
          </a:xfrm>
          <a:prstGeom prst="rect">
            <a:avLst/>
          </a:prstGeom>
          <a:noFill/>
          <a:ln/>
        </p:spPr>
        <p:txBody>
          <a:bodyPr wrap="square" lIns="0" tIns="0" rIns="0" bIns="0" rtlCol="0" anchor="t"/>
          <a:lstStyle/>
          <a:p>
            <a:pPr indent="0" marL="0">
              <a:buNone/>
            </a:pPr>
            <a:r>
              <a:rPr lang="en-US" sz="1150" dirty="0">
                <a:solidFill>
                  <a:schemeClr val="tx1"/>
                </a:solidFill>
              </a:rPr>
              <a:t>The in-between state is visible</a:t>
            </a:r>
            <a:endParaRPr lang="en-US" sz="1150" dirty="0"/>
          </a:p>
        </p:txBody>
      </p:sp>
      <p:sp>
        <p:nvSpPr>
          <p:cNvPr id="12" name="Shape 10"/>
          <p:cNvSpPr/>
          <p:nvPr/>
        </p:nvSpPr>
        <p:spPr>
          <a:xfrm>
            <a:off x="2834640" y="2532888"/>
            <a:ext cx="0" cy="137160"/>
          </a:xfrm>
          <a:prstGeom prst="line">
            <a:avLst/>
          </a:prstGeom>
          <a:noFill/>
          <a:ln w="15875">
            <a:solidFill>
              <a:schemeClr val="tx2"/>
            </a:solidFill>
            <a:prstDash val="solid"/>
            <a:tailEnd type="triangle"/>
          </a:ln>
        </p:spPr>
      </p:sp>
      <p:sp>
        <p:nvSpPr>
          <p:cNvPr id="13" name="Shape 11"/>
          <p:cNvSpPr/>
          <p:nvPr/>
        </p:nvSpPr>
        <p:spPr>
          <a:xfrm>
            <a:off x="457200" y="2688336"/>
            <a:ext cx="4754880" cy="621792"/>
          </a:xfrm>
          <a:prstGeom prst="roundRect">
            <a:avLst>
              <a:gd name="adj" fmla="val 11765"/>
            </a:avLst>
          </a:prstGeom>
          <a:solidFill>
            <a:srgbClr val="FBE9EC"/>
          </a:solidFill>
          <a:ln w="6350">
            <a:solidFill>
              <a:srgbClr val="FBE9EC"/>
            </a:solidFill>
            <a:prstDash val="solid"/>
          </a:ln>
        </p:spPr>
      </p:sp>
      <p:sp>
        <p:nvSpPr>
          <p:cNvPr id="14" name="Text 12"/>
          <p:cNvSpPr/>
          <p:nvPr/>
        </p:nvSpPr>
        <p:spPr>
          <a:xfrm>
            <a:off x="621792" y="2816352"/>
            <a:ext cx="365760" cy="365760"/>
          </a:xfrm>
          <a:prstGeom prst="ellipse">
            <a:avLst/>
          </a:prstGeom>
          <a:solidFill>
            <a:schemeClr val="accent2"/>
          </a:solidFill>
          <a:ln w="6350">
            <a:solidFill>
              <a:schemeClr val="accent2"/>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5" name="Text 13"/>
          <p:cNvSpPr txBox="1"/>
          <p:nvPr/>
        </p:nvSpPr>
        <p:spPr>
          <a:xfrm>
            <a:off x="1143000" y="2752344"/>
            <a:ext cx="3977640" cy="274320"/>
          </a:xfrm>
          <a:prstGeom prst="rect">
            <a:avLst/>
          </a:prstGeom>
          <a:noFill/>
          <a:ln/>
        </p:spPr>
        <p:txBody>
          <a:bodyPr wrap="square" lIns="0" tIns="0" rIns="0" bIns="0" rtlCol="0" anchor="t"/>
          <a:lstStyle/>
          <a:p>
            <a:pPr indent="0" marL="0">
              <a:buNone/>
            </a:pPr>
            <a:r>
              <a:rPr lang="en-US" sz="1350" b="1" dirty="0">
                <a:solidFill>
                  <a:schemeClr val="accent2"/>
                </a:solidFill>
              </a:rPr>
              <a:t>Account B: credit fails</a:t>
            </a:r>
            <a:endParaRPr lang="en-US" sz="1350" dirty="0"/>
          </a:p>
        </p:txBody>
      </p:sp>
      <p:sp>
        <p:nvSpPr>
          <p:cNvPr id="16" name="Text 14"/>
          <p:cNvSpPr txBox="1"/>
          <p:nvPr/>
        </p:nvSpPr>
        <p:spPr>
          <a:xfrm>
            <a:off x="1143000" y="3026664"/>
            <a:ext cx="3977640" cy="256032"/>
          </a:xfrm>
          <a:prstGeom prst="rect">
            <a:avLst/>
          </a:prstGeom>
          <a:noFill/>
          <a:ln/>
        </p:spPr>
        <p:txBody>
          <a:bodyPr wrap="square" lIns="0" tIns="0" rIns="0" bIns="0" rtlCol="0" anchor="t"/>
          <a:lstStyle/>
          <a:p>
            <a:pPr indent="0" marL="0">
              <a:buNone/>
            </a:pPr>
            <a:r>
              <a:rPr lang="en-US" sz="1150" dirty="0">
                <a:solidFill>
                  <a:schemeClr val="tx1"/>
                </a:solidFill>
              </a:rPr>
              <a:t>Error reaches the TM</a:t>
            </a:r>
            <a:endParaRPr lang="en-US" sz="1150" dirty="0"/>
          </a:p>
        </p:txBody>
      </p:sp>
      <p:sp>
        <p:nvSpPr>
          <p:cNvPr id="17" name="Shape 15"/>
          <p:cNvSpPr/>
          <p:nvPr/>
        </p:nvSpPr>
        <p:spPr>
          <a:xfrm>
            <a:off x="2834640" y="3328416"/>
            <a:ext cx="0" cy="137160"/>
          </a:xfrm>
          <a:prstGeom prst="line">
            <a:avLst/>
          </a:prstGeom>
          <a:noFill/>
          <a:ln w="15875">
            <a:solidFill>
              <a:schemeClr val="tx2"/>
            </a:solidFill>
            <a:prstDash val="solid"/>
            <a:tailEnd type="triangle"/>
          </a:ln>
        </p:spPr>
      </p:sp>
      <p:sp>
        <p:nvSpPr>
          <p:cNvPr id="18" name="Shape 16"/>
          <p:cNvSpPr/>
          <p:nvPr/>
        </p:nvSpPr>
        <p:spPr>
          <a:xfrm>
            <a:off x="457200" y="3483864"/>
            <a:ext cx="4754880" cy="621792"/>
          </a:xfrm>
          <a:prstGeom prst="roundRect">
            <a:avLst>
              <a:gd name="adj" fmla="val 11765"/>
            </a:avLst>
          </a:prstGeom>
          <a:solidFill>
            <a:srgbClr val="E6F4EC"/>
          </a:solidFill>
          <a:ln w="6350">
            <a:solidFill>
              <a:srgbClr val="E6F4EC"/>
            </a:solidFill>
            <a:prstDash val="solid"/>
          </a:ln>
        </p:spPr>
      </p:sp>
      <p:sp>
        <p:nvSpPr>
          <p:cNvPr id="19" name="Text 17"/>
          <p:cNvSpPr/>
          <p:nvPr/>
        </p:nvSpPr>
        <p:spPr>
          <a:xfrm>
            <a:off x="621792" y="3611880"/>
            <a:ext cx="365760" cy="365760"/>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0" name="Text 18"/>
          <p:cNvSpPr txBox="1"/>
          <p:nvPr/>
        </p:nvSpPr>
        <p:spPr>
          <a:xfrm>
            <a:off x="1143000" y="3547872"/>
            <a:ext cx="3977640" cy="274320"/>
          </a:xfrm>
          <a:prstGeom prst="rect">
            <a:avLst/>
          </a:prstGeom>
          <a:noFill/>
          <a:ln/>
        </p:spPr>
        <p:txBody>
          <a:bodyPr wrap="square" lIns="0" tIns="0" rIns="0" bIns="0" rtlCol="0" anchor="t"/>
          <a:lstStyle/>
          <a:p>
            <a:pPr indent="0" marL="0">
              <a:buNone/>
            </a:pPr>
            <a:r>
              <a:rPr lang="en-US" sz="1350" b="1" dirty="0">
                <a:solidFill>
                  <a:schemeClr val="accent3"/>
                </a:solidFill>
              </a:rPr>
              <a:t>Rollback from undo log</a:t>
            </a:r>
            <a:endParaRPr lang="en-US" sz="1350" dirty="0"/>
          </a:p>
        </p:txBody>
      </p:sp>
      <p:sp>
        <p:nvSpPr>
          <p:cNvPr id="21" name="Text 19"/>
          <p:cNvSpPr txBox="1"/>
          <p:nvPr/>
        </p:nvSpPr>
        <p:spPr>
          <a:xfrm>
            <a:off x="1143000" y="3822192"/>
            <a:ext cx="3977640" cy="256032"/>
          </a:xfrm>
          <a:prstGeom prst="rect">
            <a:avLst/>
          </a:prstGeom>
          <a:noFill/>
          <a:ln/>
        </p:spPr>
        <p:txBody>
          <a:bodyPr wrap="square" lIns="0" tIns="0" rIns="0" bIns="0" rtlCol="0" anchor="t"/>
          <a:lstStyle/>
          <a:p>
            <a:pPr indent="0" marL="0">
              <a:buNone/>
            </a:pPr>
            <a:r>
              <a:rPr lang="en-US" sz="1150" dirty="0">
                <a:solidFill>
                  <a:schemeClr val="tx1"/>
                </a:solidFill>
              </a:rPr>
              <a:t>TC orders undo: A back to 5,000</a:t>
            </a:r>
            <a:endParaRPr lang="en-US" sz="1150" dirty="0"/>
          </a:p>
        </p:txBody>
      </p:sp>
      <p:sp>
        <p:nvSpPr>
          <p:cNvPr id="22" name="Text 20"/>
          <p:cNvSpPr txBox="1"/>
          <p:nvPr/>
        </p:nvSpPr>
        <p:spPr>
          <a:xfrm>
            <a:off x="457200" y="4251960"/>
            <a:ext cx="4754880" cy="320040"/>
          </a:xfrm>
          <a:prstGeom prst="rect">
            <a:avLst/>
          </a:prstGeom>
          <a:noFill/>
          <a:ln/>
        </p:spPr>
        <p:txBody>
          <a:bodyPr wrap="square" lIns="0" tIns="0" rIns="0" bIns="0" rtlCol="0" anchor="t"/>
          <a:lstStyle/>
          <a:p>
            <a:pPr indent="0" marL="0">
              <a:buNone/>
            </a:pPr>
            <a:r>
              <a:rPr lang="en-US" sz="1300" b="1" dirty="0">
                <a:solidFill>
                  <a:schemeClr val="accent4"/>
                </a:solidFill>
              </a:rPr>
              <a:t>Atomic: yes.   Isolated: no.</a:t>
            </a:r>
            <a:endParaRPr lang="en-US" sz="1300" dirty="0"/>
          </a:p>
        </p:txBody>
      </p:sp>
      <p:sp>
        <p:nvSpPr>
          <p:cNvPr id="23" name="Shape 21"/>
          <p:cNvSpPr/>
          <p:nvPr/>
        </p:nvSpPr>
        <p:spPr>
          <a:xfrm>
            <a:off x="5486400" y="1097280"/>
            <a:ext cx="3200400" cy="960120"/>
          </a:xfrm>
          <a:prstGeom prst="roundRect">
            <a:avLst>
              <a:gd name="adj" fmla="val 7619"/>
            </a:avLst>
          </a:prstGeom>
          <a:solidFill>
            <a:schemeClr val="bg2"/>
          </a:solidFill>
          <a:ln w="6350">
            <a:solidFill>
              <a:srgbClr val="E1E6EB"/>
            </a:solidFill>
            <a:prstDash val="solid"/>
          </a:ln>
        </p:spPr>
      </p:sp>
      <p:sp>
        <p:nvSpPr>
          <p:cNvPr id="24" name="Text 22"/>
          <p:cNvSpPr txBox="1"/>
          <p:nvPr/>
        </p:nvSpPr>
        <p:spPr>
          <a:xfrm>
            <a:off x="5669280" y="1188720"/>
            <a:ext cx="2834640" cy="256032"/>
          </a:xfrm>
          <a:prstGeom prst="rect">
            <a:avLst/>
          </a:prstGeom>
          <a:noFill/>
          <a:ln/>
        </p:spPr>
        <p:txBody>
          <a:bodyPr wrap="square" lIns="0" tIns="0" rIns="0" bIns="0" rtlCol="0" anchor="t"/>
          <a:lstStyle/>
          <a:p>
            <a:pPr indent="0" marL="0">
              <a:buNone/>
            </a:pPr>
            <a:r>
              <a:rPr lang="en-US" sz="1250" b="1" dirty="0">
                <a:solidFill>
                  <a:schemeClr val="accent4"/>
                </a:solidFill>
              </a:rPr>
              <a:t>You write</a:t>
            </a:r>
            <a:endParaRPr lang="en-US" sz="1250" dirty="0"/>
          </a:p>
        </p:txBody>
      </p:sp>
      <p:sp>
        <p:nvSpPr>
          <p:cNvPr id="25" name="Text 23"/>
          <p:cNvSpPr txBox="1"/>
          <p:nvPr/>
        </p:nvSpPr>
        <p:spPr>
          <a:xfrm>
            <a:off x="5669280" y="1481328"/>
            <a:ext cx="2834640" cy="502920"/>
          </a:xfrm>
          <a:prstGeom prst="rect">
            <a:avLst/>
          </a:prstGeom>
          <a:noFill/>
          <a:ln/>
        </p:spPr>
        <p:txBody>
          <a:bodyPr wrap="square" lIns="0" tIns="0" rIns="0" bIns="0" rtlCol="0" anchor="t"/>
          <a:lstStyle/>
          <a:p>
            <a:pPr indent="0" marL="0">
              <a:buNone/>
            </a:pPr>
            <a:r>
              <a:rPr lang="en-US" sz="1150" dirty="0">
                <a:solidFill>
                  <a:schemeClr val="tx1"/>
                </a:solidFill>
              </a:rPr>
              <a:t>Mostly normal SQL / JPA code. Seata creates the undo information for you.</a:t>
            </a:r>
            <a:endParaRPr lang="en-US" sz="1150" dirty="0"/>
          </a:p>
        </p:txBody>
      </p:sp>
      <p:sp>
        <p:nvSpPr>
          <p:cNvPr id="26" name="Shape 24"/>
          <p:cNvSpPr/>
          <p:nvPr/>
        </p:nvSpPr>
        <p:spPr>
          <a:xfrm>
            <a:off x="5486400" y="2194560"/>
            <a:ext cx="3200400" cy="1143000"/>
          </a:xfrm>
          <a:prstGeom prst="roundRect">
            <a:avLst>
              <a:gd name="adj" fmla="val 6400"/>
            </a:avLst>
          </a:prstGeom>
          <a:solidFill>
            <a:schemeClr val="bg2"/>
          </a:solidFill>
          <a:ln w="6350">
            <a:solidFill>
              <a:srgbClr val="E1E6EB"/>
            </a:solidFill>
            <a:prstDash val="solid"/>
          </a:ln>
        </p:spPr>
      </p:sp>
      <p:sp>
        <p:nvSpPr>
          <p:cNvPr id="27" name="Text 25"/>
          <p:cNvSpPr txBox="1"/>
          <p:nvPr/>
        </p:nvSpPr>
        <p:spPr>
          <a:xfrm>
            <a:off x="5669280" y="2286000"/>
            <a:ext cx="2834640" cy="256032"/>
          </a:xfrm>
          <a:prstGeom prst="rect">
            <a:avLst/>
          </a:prstGeom>
          <a:noFill/>
          <a:ln/>
        </p:spPr>
        <p:txBody>
          <a:bodyPr wrap="square" lIns="0" tIns="0" rIns="0" bIns="0" rtlCol="0" anchor="t"/>
          <a:lstStyle/>
          <a:p>
            <a:pPr indent="0" marL="0">
              <a:buNone/>
            </a:pPr>
            <a:r>
              <a:rPr lang="en-US" sz="1250" b="1" dirty="0">
                <a:solidFill>
                  <a:schemeClr val="accent4"/>
                </a:solidFill>
              </a:rPr>
              <a:t>Limitation</a:t>
            </a:r>
            <a:endParaRPr lang="en-US" sz="1250" dirty="0"/>
          </a:p>
        </p:txBody>
      </p:sp>
      <p:sp>
        <p:nvSpPr>
          <p:cNvPr id="28" name="Text 26"/>
          <p:cNvSpPr txBox="1"/>
          <p:nvPr/>
        </p:nvSpPr>
        <p:spPr>
          <a:xfrm>
            <a:off x="5669280" y="2578608"/>
            <a:ext cx="2834640" cy="685800"/>
          </a:xfrm>
          <a:prstGeom prst="rect">
            <a:avLst/>
          </a:prstGeom>
          <a:noFill/>
          <a:ln/>
        </p:spPr>
        <p:txBody>
          <a:bodyPr wrap="square" lIns="0" tIns="0" rIns="0" bIns="0" rtlCol="0" anchor="t"/>
          <a:lstStyle/>
          <a:p>
            <a:pPr indent="0" marL="0">
              <a:buNone/>
            </a:pPr>
            <a:r>
              <a:rPr lang="en-US" sz="1150" dirty="0">
                <a:solidFill>
                  <a:schemeClr val="tx1"/>
                </a:solidFill>
              </a:rPr>
              <a:t>Ordinary reads can see changes before the global transaction ends. Global locks only protect conflicting writes.</a:t>
            </a:r>
            <a:endParaRPr lang="en-US" sz="1150" dirty="0"/>
          </a:p>
        </p:txBody>
      </p:sp>
      <p:sp>
        <p:nvSpPr>
          <p:cNvPr id="29" name="Shape 27"/>
          <p:cNvSpPr/>
          <p:nvPr/>
        </p:nvSpPr>
        <p:spPr>
          <a:xfrm>
            <a:off x="5486400" y="3474720"/>
            <a:ext cx="3200400" cy="1097280"/>
          </a:xfrm>
          <a:prstGeom prst="roundRect">
            <a:avLst>
              <a:gd name="adj" fmla="val 6667"/>
            </a:avLst>
          </a:prstGeom>
          <a:solidFill>
            <a:srgbClr val="FDF3E2"/>
          </a:solidFill>
          <a:ln w="9525">
            <a:solidFill>
              <a:schemeClr val="accent4"/>
            </a:solidFill>
            <a:prstDash val="solid"/>
          </a:ln>
        </p:spPr>
      </p:sp>
      <p:sp>
        <p:nvSpPr>
          <p:cNvPr id="30" name="Text 28"/>
          <p:cNvSpPr txBox="1"/>
          <p:nvPr/>
        </p:nvSpPr>
        <p:spPr>
          <a:xfrm>
            <a:off x="5669280" y="3566160"/>
            <a:ext cx="2834640" cy="256032"/>
          </a:xfrm>
          <a:prstGeom prst="rect">
            <a:avLst/>
          </a:prstGeom>
          <a:noFill/>
          <a:ln/>
        </p:spPr>
        <p:txBody>
          <a:bodyPr wrap="square" lIns="0" tIns="0" rIns="0" bIns="0" rtlCol="0" anchor="t"/>
          <a:lstStyle/>
          <a:p>
            <a:pPr indent="0" marL="0">
              <a:buNone/>
            </a:pPr>
            <a:r>
              <a:rPr lang="en-US" sz="1250" b="1" dirty="0">
                <a:solidFill>
                  <a:schemeClr val="accent4"/>
                </a:solidFill>
              </a:rPr>
              <a:t>Think of it as</a:t>
            </a:r>
            <a:endParaRPr lang="en-US" sz="1250" dirty="0"/>
          </a:p>
        </p:txBody>
      </p:sp>
      <p:sp>
        <p:nvSpPr>
          <p:cNvPr id="31" name="Text 29"/>
          <p:cNvSpPr txBox="1"/>
          <p:nvPr/>
        </p:nvSpPr>
        <p:spPr>
          <a:xfrm>
            <a:off x="5669280" y="3858768"/>
            <a:ext cx="2834640" cy="640080"/>
          </a:xfrm>
          <a:prstGeom prst="rect">
            <a:avLst/>
          </a:prstGeom>
          <a:noFill/>
          <a:ln/>
        </p:spPr>
        <p:txBody>
          <a:bodyPr wrap="square" lIns="0" tIns="0" rIns="0" bIns="0" rtlCol="0" anchor="t"/>
          <a:lstStyle/>
          <a:p>
            <a:pPr indent="0" marL="0">
              <a:buNone/>
            </a:pPr>
            <a:r>
              <a:rPr lang="en-US" sz="1250" i="1" dirty="0">
                <a:solidFill>
                  <a:schemeClr val="tx1"/>
                </a:solidFill>
              </a:rPr>
              <a:t>Perform the change, keep a note on how to undo it.</a:t>
            </a:r>
            <a:endParaRPr lang="en-US" sz="125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Mode 2, XA: prepare first, then decide</a:t>
            </a:r>
            <a:endParaRPr lang="en-US" sz="2400" dirty="0"/>
          </a:p>
        </p:txBody>
      </p:sp>
      <p:sp>
        <p:nvSpPr>
          <p:cNvPr id="3" name="Shape 1"/>
          <p:cNvSpPr/>
          <p:nvPr/>
        </p:nvSpPr>
        <p:spPr>
          <a:xfrm>
            <a:off x="457200" y="1097280"/>
            <a:ext cx="4754880" cy="1417320"/>
          </a:xfrm>
          <a:prstGeom prst="roundRect">
            <a:avLst>
              <a:gd name="adj" fmla="val 6452"/>
            </a:avLst>
          </a:prstGeom>
          <a:solidFill>
            <a:srgbClr val="ECECFB"/>
          </a:solidFill>
          <a:ln w="6350">
            <a:solidFill>
              <a:srgbClr val="ECECFB"/>
            </a:solidFill>
            <a:prstDash val="solid"/>
          </a:ln>
        </p:spPr>
      </p:sp>
      <p:sp>
        <p:nvSpPr>
          <p:cNvPr id="4" name="Text 2"/>
          <p:cNvSpPr txBox="1"/>
          <p:nvPr/>
        </p:nvSpPr>
        <p:spPr>
          <a:xfrm>
            <a:off x="640080" y="1170432"/>
            <a:ext cx="2743200" cy="274320"/>
          </a:xfrm>
          <a:prstGeom prst="rect">
            <a:avLst/>
          </a:prstGeom>
          <a:noFill/>
          <a:ln/>
        </p:spPr>
        <p:txBody>
          <a:bodyPr wrap="square" lIns="0" tIns="0" rIns="0" bIns="0" rtlCol="0" anchor="t"/>
          <a:lstStyle/>
          <a:p>
            <a:pPr indent="0" marL="0">
              <a:buNone/>
            </a:pPr>
            <a:r>
              <a:rPr lang="en-US" sz="1300" b="1" dirty="0">
                <a:solidFill>
                  <a:schemeClr val="accent5"/>
                </a:solidFill>
              </a:rPr>
              <a:t>Phase 1: prepare</a:t>
            </a:r>
            <a:endParaRPr lang="en-US" sz="1300" dirty="0"/>
          </a:p>
        </p:txBody>
      </p:sp>
      <p:sp>
        <p:nvSpPr>
          <p:cNvPr id="5" name="Text 3"/>
          <p:cNvSpPr/>
          <p:nvPr/>
        </p:nvSpPr>
        <p:spPr>
          <a:xfrm>
            <a:off x="640080" y="1508760"/>
            <a:ext cx="2103120" cy="868680"/>
          </a:xfrm>
          <a:prstGeom prst="roundRect">
            <a:avLst>
              <a:gd name="adj" fmla="val 8421"/>
            </a:avLst>
          </a:prstGeom>
          <a:solidFill>
            <a:schemeClr val="bg1"/>
          </a:solidFill>
          <a:ln w="9525">
            <a:solidFill>
              <a:srgbClr val="D5DCE3"/>
            </a:solidFill>
          </a:ln>
        </p:spPr>
        <p:txBody>
          <a:bodyPr wrap="square" lIns="63500" tIns="63500" rIns="63500" bIns="63500" rtlCol="0" anchor="ctr"/>
          <a:lstStyle/>
          <a:p>
            <a:pPr algn="ctr" indent="0" marL="0">
              <a:buNone/>
            </a:pPr>
            <a:r>
              <a:rPr lang="en-US" sz="1300" b="1" dirty="0">
                <a:solidFill>
                  <a:schemeClr val="tx1"/>
                </a:solidFill>
              </a:rPr>
              <a:t>Account A DB</a:t>
            </a:r>
            <a:endParaRPr lang="en-US" sz="1300" dirty="0"/>
          </a:p>
          <a:p>
            <a:pPr algn="ctr" indent="0" marL="0">
              <a:buNone/>
            </a:pPr>
            <a:r>
              <a:rPr lang="en-US" sz="1100" dirty="0">
                <a:solidFill>
                  <a:schemeClr val="tx2"/>
                </a:solidFill>
              </a:rPr>
              <a:t>4,000 prepared, not committed</a:t>
            </a:r>
            <a:endParaRPr lang="en-US" sz="1300" dirty="0"/>
          </a:p>
          <a:p>
            <a:pPr algn="ctr" indent="0" marL="0">
              <a:buNone/>
            </a:pPr>
            <a:r>
              <a:rPr lang="en-US" sz="1100" dirty="0">
                <a:solidFill>
                  <a:schemeClr val="accent5"/>
                </a:solidFill>
              </a:rPr>
              <a:t>row locked</a:t>
            </a:r>
            <a:endParaRPr lang="en-US" sz="1300" dirty="0"/>
          </a:p>
        </p:txBody>
      </p:sp>
      <p:sp>
        <p:nvSpPr>
          <p:cNvPr id="6" name="Text 4"/>
          <p:cNvSpPr/>
          <p:nvPr/>
        </p:nvSpPr>
        <p:spPr>
          <a:xfrm>
            <a:off x="2926080" y="1508760"/>
            <a:ext cx="2103120" cy="868680"/>
          </a:xfrm>
          <a:prstGeom prst="roundRect">
            <a:avLst>
              <a:gd name="adj" fmla="val 8421"/>
            </a:avLst>
          </a:prstGeom>
          <a:solidFill>
            <a:schemeClr val="bg1"/>
          </a:solidFill>
          <a:ln w="9525">
            <a:solidFill>
              <a:srgbClr val="D5DCE3"/>
            </a:solidFill>
          </a:ln>
        </p:spPr>
        <p:txBody>
          <a:bodyPr wrap="square" lIns="63500" tIns="63500" rIns="63500" bIns="63500" rtlCol="0" anchor="ctr"/>
          <a:lstStyle/>
          <a:p>
            <a:pPr algn="ctr" indent="0" marL="0">
              <a:buNone/>
            </a:pPr>
            <a:r>
              <a:rPr lang="en-US" sz="1300" b="1" dirty="0">
                <a:solidFill>
                  <a:schemeClr val="tx1"/>
                </a:solidFill>
              </a:rPr>
              <a:t>Account B DB</a:t>
            </a:r>
            <a:endParaRPr lang="en-US" sz="1300" dirty="0"/>
          </a:p>
          <a:p>
            <a:pPr algn="ctr" indent="0" marL="0">
              <a:buNone/>
            </a:pPr>
            <a:r>
              <a:rPr lang="en-US" sz="1100" dirty="0">
                <a:solidFill>
                  <a:schemeClr val="tx2"/>
                </a:solidFill>
              </a:rPr>
              <a:t>3,000 prepared, not committed</a:t>
            </a:r>
            <a:endParaRPr lang="en-US" sz="1300" dirty="0"/>
          </a:p>
          <a:p>
            <a:pPr algn="ctr" indent="0" marL="0">
              <a:buNone/>
            </a:pPr>
            <a:r>
              <a:rPr lang="en-US" sz="1100" dirty="0">
                <a:solidFill>
                  <a:schemeClr val="accent5"/>
                </a:solidFill>
              </a:rPr>
              <a:t>row locked</a:t>
            </a:r>
            <a:endParaRPr lang="en-US" sz="1300" dirty="0"/>
          </a:p>
        </p:txBody>
      </p:sp>
      <p:sp>
        <p:nvSpPr>
          <p:cNvPr id="7" name="Shape 5"/>
          <p:cNvSpPr/>
          <p:nvPr/>
        </p:nvSpPr>
        <p:spPr>
          <a:xfrm>
            <a:off x="2834640" y="2532888"/>
            <a:ext cx="0" cy="228600"/>
          </a:xfrm>
          <a:prstGeom prst="line">
            <a:avLst/>
          </a:prstGeom>
          <a:noFill/>
          <a:ln w="15875">
            <a:solidFill>
              <a:schemeClr val="tx2"/>
            </a:solidFill>
            <a:prstDash val="solid"/>
            <a:tailEnd type="triangle"/>
          </a:ln>
        </p:spPr>
      </p:sp>
      <p:sp>
        <p:nvSpPr>
          <p:cNvPr id="8" name="Text 6"/>
          <p:cNvSpPr/>
          <p:nvPr/>
        </p:nvSpPr>
        <p:spPr>
          <a:xfrm>
            <a:off x="1920240" y="2788920"/>
            <a:ext cx="1828800" cy="457200"/>
          </a:xfrm>
          <a:prstGeom prst="roundRect">
            <a:avLst>
              <a:gd name="adj" fmla="val 16000"/>
            </a:avLst>
          </a:prstGeom>
          <a:solidFill>
            <a:schemeClr val="bg1"/>
          </a:solidFill>
          <a:ln w="12700">
            <a:solidFill>
              <a:schemeClr val="accent5"/>
            </a:solidFill>
          </a:ln>
        </p:spPr>
        <p:txBody>
          <a:bodyPr wrap="square" lIns="63500" tIns="63500" rIns="63500" bIns="63500" rtlCol="0" anchor="ctr"/>
          <a:lstStyle/>
          <a:p>
            <a:pPr algn="ctr" indent="0" marL="0">
              <a:buNone/>
            </a:pPr>
            <a:r>
              <a:rPr lang="en-US" sz="1300" b="1" dirty="0">
                <a:solidFill>
                  <a:schemeClr val="tx1"/>
                </a:solidFill>
              </a:rPr>
              <a:t>TC decides</a:t>
            </a:r>
            <a:endParaRPr lang="en-US" sz="1300" dirty="0"/>
          </a:p>
        </p:txBody>
      </p:sp>
      <p:sp>
        <p:nvSpPr>
          <p:cNvPr id="9" name="Shape 7"/>
          <p:cNvSpPr/>
          <p:nvPr/>
        </p:nvSpPr>
        <p:spPr>
          <a:xfrm>
            <a:off x="2377440" y="3264408"/>
            <a:ext cx="-640080" cy="274320"/>
          </a:xfrm>
          <a:prstGeom prst="line">
            <a:avLst/>
          </a:prstGeom>
          <a:noFill/>
          <a:ln w="15875">
            <a:solidFill>
              <a:schemeClr val="tx2"/>
            </a:solidFill>
            <a:prstDash val="solid"/>
            <a:tailEnd type="triangle"/>
          </a:ln>
        </p:spPr>
      </p:sp>
      <p:sp>
        <p:nvSpPr>
          <p:cNvPr id="10" name="Shape 8"/>
          <p:cNvSpPr/>
          <p:nvPr/>
        </p:nvSpPr>
        <p:spPr>
          <a:xfrm>
            <a:off x="3291840" y="3264408"/>
            <a:ext cx="640080" cy="274320"/>
          </a:xfrm>
          <a:prstGeom prst="line">
            <a:avLst/>
          </a:prstGeom>
          <a:noFill/>
          <a:ln w="15875">
            <a:solidFill>
              <a:schemeClr val="tx2"/>
            </a:solidFill>
            <a:prstDash val="solid"/>
            <a:tailEnd type="triangle"/>
          </a:ln>
        </p:spPr>
      </p:sp>
      <p:sp>
        <p:nvSpPr>
          <p:cNvPr id="11" name="Text 9"/>
          <p:cNvSpPr/>
          <p:nvPr/>
        </p:nvSpPr>
        <p:spPr>
          <a:xfrm>
            <a:off x="457200" y="3566160"/>
            <a:ext cx="2286000" cy="640080"/>
          </a:xfrm>
          <a:prstGeom prst="roundRect">
            <a:avLst>
              <a:gd name="adj" fmla="val 11429"/>
            </a:avLst>
          </a:prstGeom>
          <a:solidFill>
            <a:srgbClr val="E6F4EC"/>
          </a:solidFill>
          <a:ln w="6350">
            <a:solidFill>
              <a:srgbClr val="E6F4EC"/>
            </a:solidFill>
          </a:ln>
        </p:spPr>
        <p:txBody>
          <a:bodyPr wrap="square" lIns="63500" tIns="63500" rIns="63500" bIns="63500" rtlCol="0" anchor="ctr"/>
          <a:lstStyle/>
          <a:p>
            <a:pPr algn="ctr" indent="0" marL="0">
              <a:buNone/>
            </a:pPr>
            <a:r>
              <a:rPr lang="en-US" sz="1100" dirty="0">
                <a:solidFill>
                  <a:schemeClr val="tx2"/>
                </a:solidFill>
              </a:rPr>
              <a:t>All prepared</a:t>
            </a:r>
            <a:endParaRPr lang="en-US" sz="1300" dirty="0"/>
          </a:p>
          <a:p>
            <a:pPr algn="ctr" indent="0" marL="0">
              <a:buNone/>
            </a:pPr>
            <a:r>
              <a:rPr lang="en-US" sz="1300" b="1" dirty="0">
                <a:solidFill>
                  <a:schemeClr val="accent3"/>
                </a:solidFill>
              </a:rPr>
              <a:t>Both COMMIT</a:t>
            </a:r>
            <a:endParaRPr lang="en-US" sz="1300" dirty="0"/>
          </a:p>
        </p:txBody>
      </p:sp>
      <p:sp>
        <p:nvSpPr>
          <p:cNvPr id="12" name="Text 10"/>
          <p:cNvSpPr/>
          <p:nvPr/>
        </p:nvSpPr>
        <p:spPr>
          <a:xfrm>
            <a:off x="2926080" y="3566160"/>
            <a:ext cx="2286000" cy="640080"/>
          </a:xfrm>
          <a:prstGeom prst="roundRect">
            <a:avLst>
              <a:gd name="adj" fmla="val 11429"/>
            </a:avLst>
          </a:prstGeom>
          <a:solidFill>
            <a:srgbClr val="FBE9EC"/>
          </a:solidFill>
          <a:ln w="6350">
            <a:solidFill>
              <a:srgbClr val="FBE9EC"/>
            </a:solidFill>
          </a:ln>
        </p:spPr>
        <p:txBody>
          <a:bodyPr wrap="square" lIns="63500" tIns="63500" rIns="63500" bIns="63500" rtlCol="0" anchor="ctr"/>
          <a:lstStyle/>
          <a:p>
            <a:pPr algn="ctr" indent="0" marL="0">
              <a:buNone/>
            </a:pPr>
            <a:r>
              <a:rPr lang="en-US" sz="1100" dirty="0">
                <a:solidFill>
                  <a:schemeClr val="tx2"/>
                </a:solidFill>
              </a:rPr>
              <a:t>Any failed</a:t>
            </a:r>
            <a:endParaRPr lang="en-US" sz="1300" dirty="0"/>
          </a:p>
          <a:p>
            <a:pPr algn="ctr" indent="0" marL="0">
              <a:buNone/>
            </a:pPr>
            <a:r>
              <a:rPr lang="en-US" sz="1300" b="1" dirty="0">
                <a:solidFill>
                  <a:schemeClr val="accent2"/>
                </a:solidFill>
              </a:rPr>
              <a:t>Both ROLLBACK</a:t>
            </a:r>
            <a:endParaRPr lang="en-US" sz="1300" dirty="0"/>
          </a:p>
        </p:txBody>
      </p:sp>
      <p:sp>
        <p:nvSpPr>
          <p:cNvPr id="13" name="Text 11"/>
          <p:cNvSpPr txBox="1"/>
          <p:nvPr/>
        </p:nvSpPr>
        <p:spPr>
          <a:xfrm>
            <a:off x="457200" y="4279392"/>
            <a:ext cx="4754880" cy="320040"/>
          </a:xfrm>
          <a:prstGeom prst="rect">
            <a:avLst/>
          </a:prstGeom>
          <a:noFill/>
          <a:ln/>
        </p:spPr>
        <p:txBody>
          <a:bodyPr wrap="square" lIns="0" tIns="0" rIns="0" bIns="0" rtlCol="0" anchor="t"/>
          <a:lstStyle/>
          <a:p>
            <a:pPr indent="0" marL="0">
              <a:buNone/>
            </a:pPr>
            <a:r>
              <a:rPr lang="en-US" sz="1200" b="1" dirty="0">
                <a:solidFill>
                  <a:schemeClr val="accent1"/>
                </a:solidFill>
              </a:rPr>
              <a:t>Others see 5,000 / 2,000 until commit. Atomic: yes. Isolated: yes.</a:t>
            </a:r>
            <a:endParaRPr lang="en-US" sz="1200" dirty="0"/>
          </a:p>
        </p:txBody>
      </p:sp>
      <p:sp>
        <p:nvSpPr>
          <p:cNvPr id="14" name="Shape 12"/>
          <p:cNvSpPr/>
          <p:nvPr/>
        </p:nvSpPr>
        <p:spPr>
          <a:xfrm>
            <a:off x="5486400" y="1097280"/>
            <a:ext cx="3200400" cy="960120"/>
          </a:xfrm>
          <a:prstGeom prst="roundRect">
            <a:avLst>
              <a:gd name="adj" fmla="val 7619"/>
            </a:avLst>
          </a:prstGeom>
          <a:solidFill>
            <a:schemeClr val="bg2"/>
          </a:solidFill>
          <a:ln w="6350">
            <a:solidFill>
              <a:srgbClr val="E1E6EB"/>
            </a:solidFill>
            <a:prstDash val="solid"/>
          </a:ln>
        </p:spPr>
      </p:sp>
      <p:sp>
        <p:nvSpPr>
          <p:cNvPr id="15" name="Text 13"/>
          <p:cNvSpPr txBox="1"/>
          <p:nvPr/>
        </p:nvSpPr>
        <p:spPr>
          <a:xfrm>
            <a:off x="5669280" y="1188720"/>
            <a:ext cx="2834640" cy="256032"/>
          </a:xfrm>
          <a:prstGeom prst="rect">
            <a:avLst/>
          </a:prstGeom>
          <a:noFill/>
          <a:ln/>
        </p:spPr>
        <p:txBody>
          <a:bodyPr wrap="square" lIns="0" tIns="0" rIns="0" bIns="0" rtlCol="0" anchor="t"/>
          <a:lstStyle/>
          <a:p>
            <a:pPr indent="0" marL="0">
              <a:buNone/>
            </a:pPr>
            <a:r>
              <a:rPr lang="en-US" sz="1250" b="1" dirty="0">
                <a:solidFill>
                  <a:schemeClr val="accent1"/>
                </a:solidFill>
              </a:rPr>
              <a:t>You write</a:t>
            </a:r>
            <a:endParaRPr lang="en-US" sz="1250" dirty="0"/>
          </a:p>
        </p:txBody>
      </p:sp>
      <p:sp>
        <p:nvSpPr>
          <p:cNvPr id="16" name="Text 14"/>
          <p:cNvSpPr txBox="1"/>
          <p:nvPr/>
        </p:nvSpPr>
        <p:spPr>
          <a:xfrm>
            <a:off x="5669280" y="1481328"/>
            <a:ext cx="2834640" cy="502920"/>
          </a:xfrm>
          <a:prstGeom prst="rect">
            <a:avLst/>
          </a:prstGeom>
          <a:noFill/>
          <a:ln/>
        </p:spPr>
        <p:txBody>
          <a:bodyPr wrap="square" lIns="0" tIns="0" rIns="0" bIns="0" rtlCol="0" anchor="t"/>
          <a:lstStyle/>
          <a:p>
            <a:pPr indent="0" marL="0">
              <a:buNone/>
            </a:pPr>
            <a:r>
              <a:rPr lang="en-US" sz="1150" dirty="0">
                <a:solidFill>
                  <a:schemeClr val="tx1"/>
                </a:solidFill>
              </a:rPr>
              <a:t>XA configuration and an XA-capable database and driver. No custom undo code for normal updates.</a:t>
            </a:r>
            <a:endParaRPr lang="en-US" sz="1150" dirty="0"/>
          </a:p>
        </p:txBody>
      </p:sp>
      <p:sp>
        <p:nvSpPr>
          <p:cNvPr id="17" name="Shape 15"/>
          <p:cNvSpPr/>
          <p:nvPr/>
        </p:nvSpPr>
        <p:spPr>
          <a:xfrm>
            <a:off x="5486400" y="2194560"/>
            <a:ext cx="3200400" cy="1143000"/>
          </a:xfrm>
          <a:prstGeom prst="roundRect">
            <a:avLst>
              <a:gd name="adj" fmla="val 6400"/>
            </a:avLst>
          </a:prstGeom>
          <a:solidFill>
            <a:schemeClr val="bg2"/>
          </a:solidFill>
          <a:ln w="6350">
            <a:solidFill>
              <a:srgbClr val="E1E6EB"/>
            </a:solidFill>
            <a:prstDash val="solid"/>
          </a:ln>
        </p:spPr>
      </p:sp>
      <p:sp>
        <p:nvSpPr>
          <p:cNvPr id="18" name="Text 16"/>
          <p:cNvSpPr txBox="1"/>
          <p:nvPr/>
        </p:nvSpPr>
        <p:spPr>
          <a:xfrm>
            <a:off x="5669280" y="2286000"/>
            <a:ext cx="2834640" cy="256032"/>
          </a:xfrm>
          <a:prstGeom prst="rect">
            <a:avLst/>
          </a:prstGeom>
          <a:noFill/>
          <a:ln/>
        </p:spPr>
        <p:txBody>
          <a:bodyPr wrap="square" lIns="0" tIns="0" rIns="0" bIns="0" rtlCol="0" anchor="t"/>
          <a:lstStyle/>
          <a:p>
            <a:pPr indent="0" marL="0">
              <a:buNone/>
            </a:pPr>
            <a:r>
              <a:rPr lang="en-US" sz="1250" b="1" dirty="0">
                <a:solidFill>
                  <a:schemeClr val="accent1"/>
                </a:solidFill>
              </a:rPr>
              <a:t>Limitation</a:t>
            </a:r>
            <a:endParaRPr lang="en-US" sz="1250" dirty="0"/>
          </a:p>
        </p:txBody>
      </p:sp>
      <p:sp>
        <p:nvSpPr>
          <p:cNvPr id="19" name="Text 17"/>
          <p:cNvSpPr txBox="1"/>
          <p:nvPr/>
        </p:nvSpPr>
        <p:spPr>
          <a:xfrm>
            <a:off x="5669280" y="2578608"/>
            <a:ext cx="2834640" cy="685800"/>
          </a:xfrm>
          <a:prstGeom prst="rect">
            <a:avLst/>
          </a:prstGeom>
          <a:noFill/>
          <a:ln/>
        </p:spPr>
        <p:txBody>
          <a:bodyPr wrap="square" lIns="0" tIns="0" rIns="0" bIns="0" rtlCol="0" anchor="t"/>
          <a:lstStyle/>
          <a:p>
            <a:pPr indent="0" marL="0">
              <a:buNone/>
            </a:pPr>
            <a:r>
              <a:rPr lang="en-US" sz="1150" dirty="0">
                <a:solidFill>
                  <a:schemeClr val="tx1"/>
                </a:solidFill>
              </a:rPr>
              <a:t>Prepared transactions hold locks longer, so throughput drops. Crash recovery must be set up and tested.</a:t>
            </a:r>
            <a:endParaRPr lang="en-US" sz="1150" dirty="0"/>
          </a:p>
        </p:txBody>
      </p:sp>
      <p:sp>
        <p:nvSpPr>
          <p:cNvPr id="20" name="Shape 18"/>
          <p:cNvSpPr/>
          <p:nvPr/>
        </p:nvSpPr>
        <p:spPr>
          <a:xfrm>
            <a:off x="5486400" y="3474720"/>
            <a:ext cx="3200400" cy="1097280"/>
          </a:xfrm>
          <a:prstGeom prst="roundRect">
            <a:avLst>
              <a:gd name="adj" fmla="val 6667"/>
            </a:avLst>
          </a:prstGeom>
          <a:solidFill>
            <a:srgbClr val="E3F2F1"/>
          </a:solidFill>
          <a:ln w="9525">
            <a:solidFill>
              <a:schemeClr val="accent1"/>
            </a:solidFill>
            <a:prstDash val="solid"/>
          </a:ln>
        </p:spPr>
      </p:sp>
      <p:sp>
        <p:nvSpPr>
          <p:cNvPr id="21" name="Text 19"/>
          <p:cNvSpPr txBox="1"/>
          <p:nvPr/>
        </p:nvSpPr>
        <p:spPr>
          <a:xfrm>
            <a:off x="5669280" y="3566160"/>
            <a:ext cx="2834640" cy="256032"/>
          </a:xfrm>
          <a:prstGeom prst="rect">
            <a:avLst/>
          </a:prstGeom>
          <a:noFill/>
          <a:ln/>
        </p:spPr>
        <p:txBody>
          <a:bodyPr wrap="square" lIns="0" tIns="0" rIns="0" bIns="0" rtlCol="0" anchor="t"/>
          <a:lstStyle/>
          <a:p>
            <a:pPr indent="0" marL="0">
              <a:buNone/>
            </a:pPr>
            <a:r>
              <a:rPr lang="en-US" sz="1250" b="1" dirty="0">
                <a:solidFill>
                  <a:schemeClr val="accent1"/>
                </a:solidFill>
              </a:rPr>
              <a:t>Think of it as</a:t>
            </a:r>
            <a:endParaRPr lang="en-US" sz="1250" dirty="0"/>
          </a:p>
        </p:txBody>
      </p:sp>
      <p:sp>
        <p:nvSpPr>
          <p:cNvPr id="22" name="Text 20"/>
          <p:cNvSpPr txBox="1"/>
          <p:nvPr/>
        </p:nvSpPr>
        <p:spPr>
          <a:xfrm>
            <a:off x="5669280" y="3858768"/>
            <a:ext cx="2834640" cy="640080"/>
          </a:xfrm>
          <a:prstGeom prst="rect">
            <a:avLst/>
          </a:prstGeom>
          <a:noFill/>
          <a:ln/>
        </p:spPr>
        <p:txBody>
          <a:bodyPr wrap="square" lIns="0" tIns="0" rIns="0" bIns="0" rtlCol="0" anchor="t"/>
          <a:lstStyle/>
          <a:p>
            <a:pPr indent="0" marL="0">
              <a:buNone/>
            </a:pPr>
            <a:r>
              <a:rPr lang="en-US" sz="1250" i="1" dirty="0">
                <a:solidFill>
                  <a:schemeClr val="tx1"/>
                </a:solidFill>
              </a:rPr>
              <a:t>Ask every database to get ready, then tell all of them to commit or roll back.</a:t>
            </a:r>
            <a:endParaRPr lang="en-US" sz="125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Mode 3, TCC: reserve first, then confirm</a:t>
            </a:r>
            <a:endParaRPr lang="en-US" sz="2400" dirty="0"/>
          </a:p>
        </p:txBody>
      </p:sp>
      <p:sp>
        <p:nvSpPr>
          <p:cNvPr id="3" name="Text 1"/>
          <p:cNvSpPr/>
          <p:nvPr/>
        </p:nvSpPr>
        <p:spPr>
          <a:xfrm>
            <a:off x="457200" y="1097280"/>
            <a:ext cx="4754880" cy="777240"/>
          </a:xfrm>
          <a:prstGeom prst="roundRect">
            <a:avLst>
              <a:gd name="adj" fmla="val 9412"/>
            </a:avLst>
          </a:prstGeom>
          <a:solidFill>
            <a:srgbClr val="FDF3E2"/>
          </a:solidFill>
          <a:ln w="6350">
            <a:solidFill>
              <a:srgbClr val="FDF3E2"/>
            </a:solidFill>
          </a:ln>
        </p:spPr>
        <p:txBody>
          <a:bodyPr wrap="square" lIns="63500" tIns="63500" rIns="63500" bIns="63500" rtlCol="0" anchor="ctr"/>
          <a:lstStyle/>
          <a:p>
            <a:pPr algn="ctr" indent="0" marL="0">
              <a:buNone/>
            </a:pPr>
            <a:r>
              <a:rPr lang="en-US" sz="1300" b="1" dirty="0">
                <a:solidFill>
                  <a:schemeClr val="accent4"/>
                </a:solidFill>
              </a:rPr>
              <a:t>TRY: reserve</a:t>
            </a:r>
            <a:endParaRPr lang="en-US" sz="1300" dirty="0"/>
          </a:p>
          <a:p>
            <a:pPr algn="ctr" indent="0" marL="0">
              <a:buNone/>
            </a:pPr>
            <a:r>
              <a:rPr lang="en-US" sz="1150" dirty="0">
                <a:solidFill>
                  <a:schemeClr val="tx1"/>
                </a:solidFill>
              </a:rPr>
              <a:t>A: hold 1,000 (spendable 4,000)   B: pending credit 1,000</a:t>
            </a:r>
            <a:endParaRPr lang="en-US" sz="1300" dirty="0"/>
          </a:p>
        </p:txBody>
      </p:sp>
      <p:sp>
        <p:nvSpPr>
          <p:cNvPr id="4" name="Shape 2"/>
          <p:cNvSpPr/>
          <p:nvPr/>
        </p:nvSpPr>
        <p:spPr>
          <a:xfrm>
            <a:off x="2103120" y="1892808"/>
            <a:ext cx="-457200" cy="365760"/>
          </a:xfrm>
          <a:prstGeom prst="line">
            <a:avLst/>
          </a:prstGeom>
          <a:noFill/>
          <a:ln w="15875">
            <a:solidFill>
              <a:schemeClr val="tx2"/>
            </a:solidFill>
            <a:prstDash val="solid"/>
            <a:tailEnd type="triangle"/>
          </a:ln>
        </p:spPr>
      </p:sp>
      <p:sp>
        <p:nvSpPr>
          <p:cNvPr id="5" name="Shape 3"/>
          <p:cNvSpPr/>
          <p:nvPr/>
        </p:nvSpPr>
        <p:spPr>
          <a:xfrm>
            <a:off x="3566160" y="1892808"/>
            <a:ext cx="457200" cy="365760"/>
          </a:xfrm>
          <a:prstGeom prst="line">
            <a:avLst/>
          </a:prstGeom>
          <a:noFill/>
          <a:ln w="15875">
            <a:solidFill>
              <a:schemeClr val="tx2"/>
            </a:solidFill>
            <a:prstDash val="solid"/>
            <a:tailEnd type="triangle"/>
          </a:ln>
        </p:spPr>
      </p:sp>
      <p:sp>
        <p:nvSpPr>
          <p:cNvPr id="6" name="Text 4"/>
          <p:cNvSpPr/>
          <p:nvPr/>
        </p:nvSpPr>
        <p:spPr>
          <a:xfrm>
            <a:off x="457200" y="2331720"/>
            <a:ext cx="2286000" cy="914400"/>
          </a:xfrm>
          <a:prstGeom prst="roundRect">
            <a:avLst>
              <a:gd name="adj" fmla="val 8000"/>
            </a:avLst>
          </a:prstGeom>
          <a:solidFill>
            <a:srgbClr val="E6F4EC"/>
          </a:solidFill>
          <a:ln w="6350">
            <a:solidFill>
              <a:srgbClr val="E6F4EC"/>
            </a:solidFill>
          </a:ln>
        </p:spPr>
        <p:txBody>
          <a:bodyPr wrap="square" lIns="63500" tIns="63500" rIns="63500" bIns="63500" rtlCol="0" anchor="ctr"/>
          <a:lstStyle/>
          <a:p>
            <a:pPr algn="ctr" indent="0" marL="0">
              <a:buNone/>
            </a:pPr>
            <a:r>
              <a:rPr lang="en-US" sz="1100" dirty="0">
                <a:solidFill>
                  <a:schemeClr val="tx2"/>
                </a:solidFill>
              </a:rPr>
              <a:t>Both reserved</a:t>
            </a:r>
            <a:endParaRPr lang="en-US" sz="1300" dirty="0"/>
          </a:p>
          <a:p>
            <a:pPr algn="ctr" indent="0" marL="0">
              <a:buNone/>
            </a:pPr>
            <a:r>
              <a:rPr lang="en-US" sz="1300" b="1" dirty="0">
                <a:solidFill>
                  <a:schemeClr val="accent3"/>
                </a:solidFill>
              </a:rPr>
              <a:t>CONFIRM</a:t>
            </a:r>
            <a:endParaRPr lang="en-US" sz="1300" dirty="0"/>
          </a:p>
          <a:p>
            <a:pPr algn="ctr" indent="0" marL="0">
              <a:buNone/>
            </a:pPr>
            <a:r>
              <a:rPr lang="en-US" sz="1150" dirty="0">
                <a:solidFill>
                  <a:schemeClr val="tx1"/>
                </a:solidFill>
              </a:rPr>
              <a:t>A 4,000, B 3,000</a:t>
            </a:r>
            <a:endParaRPr lang="en-US" sz="1300" dirty="0"/>
          </a:p>
        </p:txBody>
      </p:sp>
      <p:sp>
        <p:nvSpPr>
          <p:cNvPr id="7" name="Text 5"/>
          <p:cNvSpPr/>
          <p:nvPr/>
        </p:nvSpPr>
        <p:spPr>
          <a:xfrm>
            <a:off x="2926080" y="2331720"/>
            <a:ext cx="2286000" cy="914400"/>
          </a:xfrm>
          <a:prstGeom prst="roundRect">
            <a:avLst>
              <a:gd name="adj" fmla="val 8000"/>
            </a:avLst>
          </a:prstGeom>
          <a:solidFill>
            <a:srgbClr val="FBE9EC"/>
          </a:solidFill>
          <a:ln w="6350">
            <a:solidFill>
              <a:srgbClr val="FBE9EC"/>
            </a:solidFill>
          </a:ln>
        </p:spPr>
        <p:txBody>
          <a:bodyPr wrap="square" lIns="63500" tIns="63500" rIns="63500" bIns="63500" rtlCol="0" anchor="ctr"/>
          <a:lstStyle/>
          <a:p>
            <a:pPr algn="ctr" indent="0" marL="0">
              <a:buNone/>
            </a:pPr>
            <a:r>
              <a:rPr lang="en-US" sz="1100" dirty="0">
                <a:solidFill>
                  <a:schemeClr val="tx2"/>
                </a:solidFill>
              </a:rPr>
              <a:t>One failed</a:t>
            </a:r>
            <a:endParaRPr lang="en-US" sz="1300" dirty="0"/>
          </a:p>
          <a:p>
            <a:pPr algn="ctr" indent="0" marL="0">
              <a:buNone/>
            </a:pPr>
            <a:r>
              <a:rPr lang="en-US" sz="1300" b="1" dirty="0">
                <a:solidFill>
                  <a:schemeClr val="accent2"/>
                </a:solidFill>
              </a:rPr>
              <a:t>CANCEL</a:t>
            </a:r>
            <a:endParaRPr lang="en-US" sz="1300" dirty="0"/>
          </a:p>
          <a:p>
            <a:pPr algn="ctr" indent="0" marL="0">
              <a:buNone/>
            </a:pPr>
            <a:r>
              <a:rPr lang="en-US" sz="1150" dirty="0">
                <a:solidFill>
                  <a:schemeClr val="tx1"/>
                </a:solidFill>
              </a:rPr>
              <a:t>Release hold, A 5,000</a:t>
            </a:r>
            <a:endParaRPr lang="en-US" sz="1300" dirty="0"/>
          </a:p>
        </p:txBody>
      </p:sp>
      <p:sp>
        <p:nvSpPr>
          <p:cNvPr id="8" name="Text 6"/>
          <p:cNvSpPr txBox="1"/>
          <p:nvPr/>
        </p:nvSpPr>
        <p:spPr>
          <a:xfrm>
            <a:off x="457200" y="3474720"/>
            <a:ext cx="4754880" cy="274320"/>
          </a:xfrm>
          <a:prstGeom prst="rect">
            <a:avLst/>
          </a:prstGeom>
          <a:noFill/>
          <a:ln/>
        </p:spPr>
        <p:txBody>
          <a:bodyPr wrap="square" lIns="0" tIns="0" rIns="0" bIns="0" rtlCol="0" anchor="t"/>
          <a:lstStyle/>
          <a:p>
            <a:pPr indent="0" marL="0">
              <a:buNone/>
            </a:pPr>
            <a:r>
              <a:rPr lang="en-US" sz="1200" b="1" dirty="0">
                <a:solidFill>
                  <a:schemeClr val="tx2"/>
                </a:solidFill>
              </a:rPr>
              <a:t>Three operations you build in Account service</a:t>
            </a:r>
            <a:endParaRPr lang="en-US" sz="1200" dirty="0"/>
          </a:p>
        </p:txBody>
      </p:sp>
      <p:sp>
        <p:nvSpPr>
          <p:cNvPr id="9" name="Text 7"/>
          <p:cNvSpPr/>
          <p:nvPr/>
        </p:nvSpPr>
        <p:spPr>
          <a:xfrm>
            <a:off x="457200" y="3840480"/>
            <a:ext cx="1517904" cy="457200"/>
          </a:xfrm>
          <a:prstGeom prst="roundRect">
            <a:avLst>
              <a:gd name="adj" fmla="val 16000"/>
            </a:avLst>
          </a:prstGeom>
          <a:solidFill>
            <a:schemeClr val="bg1"/>
          </a:solidFill>
          <a:ln w="9525">
            <a:solidFill>
              <a:schemeClr val="accent4"/>
            </a:solidFill>
          </a:ln>
        </p:spPr>
        <p:txBody>
          <a:bodyPr wrap="square" lIns="63500" tIns="63500" rIns="63500" bIns="63500" rtlCol="0" anchor="ctr"/>
          <a:lstStyle/>
          <a:p>
            <a:pPr algn="ctr" indent="0" marL="0">
              <a:buNone/>
            </a:pPr>
            <a:r>
              <a:rPr lang="en-US" sz="1150" dirty="0">
                <a:solidFill>
                  <a:schemeClr val="tx1"/>
                </a:solidFill>
              </a:rPr>
              <a:t>tryTransfer</a:t>
            </a:r>
            <a:endParaRPr lang="en-US" sz="1150" dirty="0"/>
          </a:p>
        </p:txBody>
      </p:sp>
      <p:sp>
        <p:nvSpPr>
          <p:cNvPr id="10" name="Text 8"/>
          <p:cNvSpPr/>
          <p:nvPr/>
        </p:nvSpPr>
        <p:spPr>
          <a:xfrm>
            <a:off x="2075688" y="3840480"/>
            <a:ext cx="1517904" cy="457200"/>
          </a:xfrm>
          <a:prstGeom prst="roundRect">
            <a:avLst>
              <a:gd name="adj" fmla="val 16000"/>
            </a:avLst>
          </a:prstGeom>
          <a:solidFill>
            <a:schemeClr val="bg1"/>
          </a:solidFill>
          <a:ln w="9525">
            <a:solidFill>
              <a:schemeClr val="accent4"/>
            </a:solidFill>
          </a:ln>
        </p:spPr>
        <p:txBody>
          <a:bodyPr wrap="square" lIns="63500" tIns="63500" rIns="63500" bIns="63500" rtlCol="0" anchor="ctr"/>
          <a:lstStyle/>
          <a:p>
            <a:pPr algn="ctr" indent="0" marL="0">
              <a:buNone/>
            </a:pPr>
            <a:r>
              <a:rPr lang="en-US" sz="1150" dirty="0">
                <a:solidFill>
                  <a:schemeClr val="tx1"/>
                </a:solidFill>
              </a:rPr>
              <a:t>confirmTransfer</a:t>
            </a:r>
            <a:endParaRPr lang="en-US" sz="1150" dirty="0"/>
          </a:p>
        </p:txBody>
      </p:sp>
      <p:sp>
        <p:nvSpPr>
          <p:cNvPr id="11" name="Text 9"/>
          <p:cNvSpPr/>
          <p:nvPr/>
        </p:nvSpPr>
        <p:spPr>
          <a:xfrm>
            <a:off x="3694176" y="3840480"/>
            <a:ext cx="1517904" cy="457200"/>
          </a:xfrm>
          <a:prstGeom prst="roundRect">
            <a:avLst>
              <a:gd name="adj" fmla="val 16000"/>
            </a:avLst>
          </a:prstGeom>
          <a:solidFill>
            <a:schemeClr val="bg1"/>
          </a:solidFill>
          <a:ln w="9525">
            <a:solidFill>
              <a:schemeClr val="accent4"/>
            </a:solidFill>
          </a:ln>
        </p:spPr>
        <p:txBody>
          <a:bodyPr wrap="square" lIns="63500" tIns="63500" rIns="63500" bIns="63500" rtlCol="0" anchor="ctr"/>
          <a:lstStyle/>
          <a:p>
            <a:pPr algn="ctr" indent="0" marL="0">
              <a:buNone/>
            </a:pPr>
            <a:r>
              <a:rPr lang="en-US" sz="1150" dirty="0">
                <a:solidFill>
                  <a:schemeClr val="tx1"/>
                </a:solidFill>
              </a:rPr>
              <a:t>cancelTransfer</a:t>
            </a:r>
            <a:endParaRPr lang="en-US" sz="1150" dirty="0"/>
          </a:p>
        </p:txBody>
      </p:sp>
      <p:sp>
        <p:nvSpPr>
          <p:cNvPr id="12" name="Shape 10"/>
          <p:cNvSpPr/>
          <p:nvPr/>
        </p:nvSpPr>
        <p:spPr>
          <a:xfrm>
            <a:off x="5486400" y="1097280"/>
            <a:ext cx="3200400" cy="960120"/>
          </a:xfrm>
          <a:prstGeom prst="roundRect">
            <a:avLst>
              <a:gd name="adj" fmla="val 7619"/>
            </a:avLst>
          </a:prstGeom>
          <a:solidFill>
            <a:schemeClr val="bg2"/>
          </a:solidFill>
          <a:ln w="6350">
            <a:solidFill>
              <a:srgbClr val="E1E6EB"/>
            </a:solidFill>
            <a:prstDash val="solid"/>
          </a:ln>
        </p:spPr>
      </p:sp>
      <p:sp>
        <p:nvSpPr>
          <p:cNvPr id="13" name="Text 11"/>
          <p:cNvSpPr txBox="1"/>
          <p:nvPr/>
        </p:nvSpPr>
        <p:spPr>
          <a:xfrm>
            <a:off x="5669280" y="1188720"/>
            <a:ext cx="2834640" cy="256032"/>
          </a:xfrm>
          <a:prstGeom prst="rect">
            <a:avLst/>
          </a:prstGeom>
          <a:noFill/>
          <a:ln/>
        </p:spPr>
        <p:txBody>
          <a:bodyPr wrap="square" lIns="0" tIns="0" rIns="0" bIns="0" rtlCol="0" anchor="t"/>
          <a:lstStyle/>
          <a:p>
            <a:pPr indent="0" marL="0">
              <a:buNone/>
            </a:pPr>
            <a:r>
              <a:rPr lang="en-US" sz="1250" b="1" dirty="0">
                <a:solidFill>
                  <a:schemeClr val="accent4"/>
                </a:solidFill>
              </a:rPr>
              <a:t>You write</a:t>
            </a:r>
            <a:endParaRPr lang="en-US" sz="1250" dirty="0"/>
          </a:p>
        </p:txBody>
      </p:sp>
      <p:sp>
        <p:nvSpPr>
          <p:cNvPr id="14" name="Text 12"/>
          <p:cNvSpPr txBox="1"/>
          <p:nvPr/>
        </p:nvSpPr>
        <p:spPr>
          <a:xfrm>
            <a:off x="5669280" y="1481328"/>
            <a:ext cx="2834640" cy="502920"/>
          </a:xfrm>
          <a:prstGeom prst="rect">
            <a:avLst/>
          </a:prstGeom>
          <a:noFill/>
          <a:ln/>
        </p:spPr>
        <p:txBody>
          <a:bodyPr wrap="square" lIns="0" tIns="0" rIns="0" bIns="0" rtlCol="0" anchor="t"/>
          <a:lstStyle/>
          <a:p>
            <a:pPr indent="0" marL="0">
              <a:buNone/>
            </a:pPr>
            <a:r>
              <a:rPr lang="en-US" sz="1150" dirty="0">
                <a:solidFill>
                  <a:schemeClr val="tx1"/>
                </a:solidFill>
              </a:rPr>
              <a:t>All three operations yourself: safe reservations, plus confirm and cancel logic.</a:t>
            </a:r>
            <a:endParaRPr lang="en-US" sz="1150" dirty="0"/>
          </a:p>
        </p:txBody>
      </p:sp>
      <p:sp>
        <p:nvSpPr>
          <p:cNvPr id="15" name="Shape 13"/>
          <p:cNvSpPr/>
          <p:nvPr/>
        </p:nvSpPr>
        <p:spPr>
          <a:xfrm>
            <a:off x="5486400" y="2194560"/>
            <a:ext cx="3200400" cy="1143000"/>
          </a:xfrm>
          <a:prstGeom prst="roundRect">
            <a:avLst>
              <a:gd name="adj" fmla="val 6400"/>
            </a:avLst>
          </a:prstGeom>
          <a:solidFill>
            <a:schemeClr val="bg2"/>
          </a:solidFill>
          <a:ln w="6350">
            <a:solidFill>
              <a:srgbClr val="E1E6EB"/>
            </a:solidFill>
            <a:prstDash val="solid"/>
          </a:ln>
        </p:spPr>
      </p:sp>
      <p:sp>
        <p:nvSpPr>
          <p:cNvPr id="16" name="Text 14"/>
          <p:cNvSpPr txBox="1"/>
          <p:nvPr/>
        </p:nvSpPr>
        <p:spPr>
          <a:xfrm>
            <a:off x="5669280" y="2286000"/>
            <a:ext cx="2834640" cy="256032"/>
          </a:xfrm>
          <a:prstGeom prst="rect">
            <a:avLst/>
          </a:prstGeom>
          <a:noFill/>
          <a:ln/>
        </p:spPr>
        <p:txBody>
          <a:bodyPr wrap="square" lIns="0" tIns="0" rIns="0" bIns="0" rtlCol="0" anchor="t"/>
          <a:lstStyle/>
          <a:p>
            <a:pPr indent="0" marL="0">
              <a:buNone/>
            </a:pPr>
            <a:r>
              <a:rPr lang="en-US" sz="1250" b="1" dirty="0">
                <a:solidFill>
                  <a:schemeClr val="accent4"/>
                </a:solidFill>
              </a:rPr>
              <a:t>Limitation</a:t>
            </a:r>
            <a:endParaRPr lang="en-US" sz="1250" dirty="0"/>
          </a:p>
        </p:txBody>
      </p:sp>
      <p:sp>
        <p:nvSpPr>
          <p:cNvPr id="17" name="Text 15"/>
          <p:cNvSpPr txBox="1"/>
          <p:nvPr/>
        </p:nvSpPr>
        <p:spPr>
          <a:xfrm>
            <a:off x="5669280" y="2578608"/>
            <a:ext cx="2834640" cy="685800"/>
          </a:xfrm>
          <a:prstGeom prst="rect">
            <a:avLst/>
          </a:prstGeom>
          <a:noFill/>
          <a:ln/>
        </p:spPr>
        <p:txBody>
          <a:bodyPr wrap="square" lIns="0" tIns="0" rIns="0" bIns="0" rtlCol="0" anchor="t"/>
          <a:lstStyle/>
          <a:p>
            <a:pPr indent="0" marL="0">
              <a:buNone/>
            </a:pPr>
            <a:r>
              <a:rPr lang="en-US" sz="1150" dirty="0">
                <a:solidFill>
                  <a:schemeClr val="tx1"/>
                </a:solidFill>
              </a:rPr>
              <a:t>Handle idempotency, empty rollback (Cancel before Try) and hanging (Try after Cancel). Three methods alone are not production-ready.</a:t>
            </a:r>
            <a:endParaRPr lang="en-US" sz="1150" dirty="0"/>
          </a:p>
        </p:txBody>
      </p:sp>
      <p:sp>
        <p:nvSpPr>
          <p:cNvPr id="18" name="Shape 16"/>
          <p:cNvSpPr/>
          <p:nvPr/>
        </p:nvSpPr>
        <p:spPr>
          <a:xfrm>
            <a:off x="5486400" y="3474720"/>
            <a:ext cx="3200400" cy="1097280"/>
          </a:xfrm>
          <a:prstGeom prst="roundRect">
            <a:avLst>
              <a:gd name="adj" fmla="val 6667"/>
            </a:avLst>
          </a:prstGeom>
          <a:solidFill>
            <a:srgbClr val="FDF3E2"/>
          </a:solidFill>
          <a:ln w="9525">
            <a:solidFill>
              <a:schemeClr val="accent4"/>
            </a:solidFill>
            <a:prstDash val="solid"/>
          </a:ln>
        </p:spPr>
      </p:sp>
      <p:sp>
        <p:nvSpPr>
          <p:cNvPr id="19" name="Text 17"/>
          <p:cNvSpPr txBox="1"/>
          <p:nvPr/>
        </p:nvSpPr>
        <p:spPr>
          <a:xfrm>
            <a:off x="5669280" y="3566160"/>
            <a:ext cx="2834640" cy="256032"/>
          </a:xfrm>
          <a:prstGeom prst="rect">
            <a:avLst/>
          </a:prstGeom>
          <a:noFill/>
          <a:ln/>
        </p:spPr>
        <p:txBody>
          <a:bodyPr wrap="square" lIns="0" tIns="0" rIns="0" bIns="0" rtlCol="0" anchor="t"/>
          <a:lstStyle/>
          <a:p>
            <a:pPr indent="0" marL="0">
              <a:buNone/>
            </a:pPr>
            <a:r>
              <a:rPr lang="en-US" sz="1250" b="1" dirty="0">
                <a:solidFill>
                  <a:schemeClr val="accent4"/>
                </a:solidFill>
              </a:rPr>
              <a:t>Think of it as</a:t>
            </a:r>
            <a:endParaRPr lang="en-US" sz="1250" dirty="0"/>
          </a:p>
        </p:txBody>
      </p:sp>
      <p:sp>
        <p:nvSpPr>
          <p:cNvPr id="20" name="Text 18"/>
          <p:cNvSpPr txBox="1"/>
          <p:nvPr/>
        </p:nvSpPr>
        <p:spPr>
          <a:xfrm>
            <a:off x="5669280" y="3858768"/>
            <a:ext cx="2834640" cy="640080"/>
          </a:xfrm>
          <a:prstGeom prst="rect">
            <a:avLst/>
          </a:prstGeom>
          <a:noFill/>
          <a:ln/>
        </p:spPr>
        <p:txBody>
          <a:bodyPr wrap="square" lIns="0" tIns="0" rIns="0" bIns="0" rtlCol="0" anchor="t"/>
          <a:lstStyle/>
          <a:p>
            <a:pPr indent="0" marL="0">
              <a:buNone/>
            </a:pPr>
            <a:r>
              <a:rPr lang="en-US" sz="1250" i="1" dirty="0">
                <a:solidFill>
                  <a:schemeClr val="tx1"/>
                </a:solidFill>
              </a:rPr>
              <a:t>Hold the money first, then finalize or release it.</a:t>
            </a:r>
            <a:endParaRPr lang="en-US" sz="125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Mode 4, Saga: compensate if a later step fails</a:t>
            </a:r>
            <a:endParaRPr lang="en-US" sz="2400" dirty="0"/>
          </a:p>
        </p:txBody>
      </p:sp>
      <p:sp>
        <p:nvSpPr>
          <p:cNvPr id="3" name="Shape 1"/>
          <p:cNvSpPr/>
          <p:nvPr/>
        </p:nvSpPr>
        <p:spPr>
          <a:xfrm>
            <a:off x="457200" y="1097280"/>
            <a:ext cx="4754880" cy="621792"/>
          </a:xfrm>
          <a:prstGeom prst="roundRect">
            <a:avLst>
              <a:gd name="adj" fmla="val 11765"/>
            </a:avLst>
          </a:prstGeom>
          <a:solidFill>
            <a:srgbClr val="E3F2F1"/>
          </a:solidFill>
          <a:ln w="6350">
            <a:solidFill>
              <a:srgbClr val="E3F2F1"/>
            </a:solidFill>
            <a:prstDash val="solid"/>
          </a:ln>
        </p:spPr>
      </p:sp>
      <p:sp>
        <p:nvSpPr>
          <p:cNvPr id="4" name="Text 2"/>
          <p:cNvSpPr/>
          <p:nvPr/>
        </p:nvSpPr>
        <p:spPr>
          <a:xfrm>
            <a:off x="621792" y="1225296"/>
            <a:ext cx="365760" cy="365760"/>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5" name="Text 3"/>
          <p:cNvSpPr txBox="1"/>
          <p:nvPr/>
        </p:nvSpPr>
        <p:spPr>
          <a:xfrm>
            <a:off x="1143000" y="1161288"/>
            <a:ext cx="3977640" cy="274320"/>
          </a:xfrm>
          <a:prstGeom prst="rect">
            <a:avLst/>
          </a:prstGeom>
          <a:noFill/>
          <a:ln/>
        </p:spPr>
        <p:txBody>
          <a:bodyPr wrap="square" lIns="0" tIns="0" rIns="0" bIns="0" rtlCol="0" anchor="t"/>
          <a:lstStyle/>
          <a:p>
            <a:pPr indent="0" marL="0">
              <a:buNone/>
            </a:pPr>
            <a:r>
              <a:rPr lang="en-US" sz="1350" b="1" dirty="0">
                <a:solidFill>
                  <a:schemeClr val="accent1"/>
                </a:solidFill>
              </a:rPr>
              <a:t>Debit A 1,000</a:t>
            </a:r>
            <a:endParaRPr lang="en-US" sz="1350" dirty="0"/>
          </a:p>
        </p:txBody>
      </p:sp>
      <p:sp>
        <p:nvSpPr>
          <p:cNvPr id="6" name="Text 4"/>
          <p:cNvSpPr txBox="1"/>
          <p:nvPr/>
        </p:nvSpPr>
        <p:spPr>
          <a:xfrm>
            <a:off x="1143000" y="1435608"/>
            <a:ext cx="3977640" cy="256032"/>
          </a:xfrm>
          <a:prstGeom prst="rect">
            <a:avLst/>
          </a:prstGeom>
          <a:noFill/>
          <a:ln/>
        </p:spPr>
        <p:txBody>
          <a:bodyPr wrap="square" lIns="0" tIns="0" rIns="0" bIns="0" rtlCol="0" anchor="t"/>
          <a:lstStyle/>
          <a:p>
            <a:pPr indent="0" marL="0">
              <a:buNone/>
            </a:pPr>
            <a:r>
              <a:rPr lang="en-US" sz="1150" dirty="0">
                <a:solidFill>
                  <a:schemeClr val="tx1"/>
                </a:solidFill>
              </a:rPr>
              <a:t>Committed: A is now 4,000</a:t>
            </a:r>
            <a:endParaRPr lang="en-US" sz="1150" dirty="0"/>
          </a:p>
        </p:txBody>
      </p:sp>
      <p:sp>
        <p:nvSpPr>
          <p:cNvPr id="7" name="Shape 5"/>
          <p:cNvSpPr/>
          <p:nvPr/>
        </p:nvSpPr>
        <p:spPr>
          <a:xfrm>
            <a:off x="2834640" y="1737360"/>
            <a:ext cx="0" cy="137160"/>
          </a:xfrm>
          <a:prstGeom prst="line">
            <a:avLst/>
          </a:prstGeom>
          <a:noFill/>
          <a:ln w="15875">
            <a:solidFill>
              <a:schemeClr val="tx2"/>
            </a:solidFill>
            <a:prstDash val="solid"/>
            <a:tailEnd type="triangle"/>
          </a:ln>
        </p:spPr>
      </p:sp>
      <p:sp>
        <p:nvSpPr>
          <p:cNvPr id="8" name="Shape 6"/>
          <p:cNvSpPr/>
          <p:nvPr/>
        </p:nvSpPr>
        <p:spPr>
          <a:xfrm>
            <a:off x="457200" y="1892808"/>
            <a:ext cx="4754880" cy="621792"/>
          </a:xfrm>
          <a:prstGeom prst="roundRect">
            <a:avLst>
              <a:gd name="adj" fmla="val 11765"/>
            </a:avLst>
          </a:prstGeom>
          <a:solidFill>
            <a:srgbClr val="FBE9EC"/>
          </a:solidFill>
          <a:ln w="6350">
            <a:solidFill>
              <a:srgbClr val="FBE9EC"/>
            </a:solidFill>
            <a:prstDash val="solid"/>
          </a:ln>
        </p:spPr>
      </p:sp>
      <p:sp>
        <p:nvSpPr>
          <p:cNvPr id="9" name="Text 7"/>
          <p:cNvSpPr/>
          <p:nvPr/>
        </p:nvSpPr>
        <p:spPr>
          <a:xfrm>
            <a:off x="621792" y="2020824"/>
            <a:ext cx="365760" cy="365760"/>
          </a:xfrm>
          <a:prstGeom prst="ellipse">
            <a:avLst/>
          </a:prstGeom>
          <a:solidFill>
            <a:schemeClr val="accent2"/>
          </a:solidFill>
          <a:ln w="6350">
            <a:solidFill>
              <a:schemeClr val="accent2"/>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0" name="Text 8"/>
          <p:cNvSpPr txBox="1"/>
          <p:nvPr/>
        </p:nvSpPr>
        <p:spPr>
          <a:xfrm>
            <a:off x="1143000" y="1956816"/>
            <a:ext cx="3977640" cy="274320"/>
          </a:xfrm>
          <a:prstGeom prst="rect">
            <a:avLst/>
          </a:prstGeom>
          <a:noFill/>
          <a:ln/>
        </p:spPr>
        <p:txBody>
          <a:bodyPr wrap="square" lIns="0" tIns="0" rIns="0" bIns="0" rtlCol="0" anchor="t"/>
          <a:lstStyle/>
          <a:p>
            <a:pPr indent="0" marL="0">
              <a:buNone/>
            </a:pPr>
            <a:r>
              <a:rPr lang="en-US" sz="1350" b="1" dirty="0">
                <a:solidFill>
                  <a:schemeClr val="accent2"/>
                </a:solidFill>
              </a:rPr>
              <a:t>Credit B fails</a:t>
            </a:r>
            <a:endParaRPr lang="en-US" sz="1350" dirty="0"/>
          </a:p>
        </p:txBody>
      </p:sp>
      <p:sp>
        <p:nvSpPr>
          <p:cNvPr id="11" name="Text 9"/>
          <p:cNvSpPr txBox="1"/>
          <p:nvPr/>
        </p:nvSpPr>
        <p:spPr>
          <a:xfrm>
            <a:off x="1143000" y="2231136"/>
            <a:ext cx="3977640" cy="256032"/>
          </a:xfrm>
          <a:prstGeom prst="rect">
            <a:avLst/>
          </a:prstGeom>
          <a:noFill/>
          <a:ln/>
        </p:spPr>
        <p:txBody>
          <a:bodyPr wrap="square" lIns="0" tIns="0" rIns="0" bIns="0" rtlCol="0" anchor="t"/>
          <a:lstStyle/>
          <a:p>
            <a:pPr indent="0" marL="0">
              <a:buNone/>
            </a:pPr>
            <a:r>
              <a:rPr lang="en-US" sz="1150" dirty="0">
                <a:solidFill>
                  <a:schemeClr val="tx1"/>
                </a:solidFill>
              </a:rPr>
              <a:t>Earlier step is already final</a:t>
            </a:r>
            <a:endParaRPr lang="en-US" sz="1150" dirty="0"/>
          </a:p>
        </p:txBody>
      </p:sp>
      <p:sp>
        <p:nvSpPr>
          <p:cNvPr id="12" name="Shape 10"/>
          <p:cNvSpPr/>
          <p:nvPr/>
        </p:nvSpPr>
        <p:spPr>
          <a:xfrm>
            <a:off x="2834640" y="2532888"/>
            <a:ext cx="0" cy="137160"/>
          </a:xfrm>
          <a:prstGeom prst="line">
            <a:avLst/>
          </a:prstGeom>
          <a:noFill/>
          <a:ln w="15875">
            <a:solidFill>
              <a:schemeClr val="tx2"/>
            </a:solidFill>
            <a:prstDash val="solid"/>
            <a:tailEnd type="triangle"/>
          </a:ln>
        </p:spPr>
      </p:sp>
      <p:sp>
        <p:nvSpPr>
          <p:cNvPr id="13" name="Shape 11"/>
          <p:cNvSpPr/>
          <p:nvPr/>
        </p:nvSpPr>
        <p:spPr>
          <a:xfrm>
            <a:off x="457200" y="2688336"/>
            <a:ext cx="4754880" cy="621792"/>
          </a:xfrm>
          <a:prstGeom prst="roundRect">
            <a:avLst>
              <a:gd name="adj" fmla="val 11765"/>
            </a:avLst>
          </a:prstGeom>
          <a:solidFill>
            <a:srgbClr val="E6F4EC"/>
          </a:solidFill>
          <a:ln w="6350">
            <a:solidFill>
              <a:srgbClr val="E6F4EC"/>
            </a:solidFill>
            <a:prstDash val="solid"/>
          </a:ln>
        </p:spPr>
      </p:sp>
      <p:sp>
        <p:nvSpPr>
          <p:cNvPr id="14" name="Text 12"/>
          <p:cNvSpPr/>
          <p:nvPr/>
        </p:nvSpPr>
        <p:spPr>
          <a:xfrm>
            <a:off x="621792" y="2816352"/>
            <a:ext cx="365760" cy="365760"/>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5" name="Text 13"/>
          <p:cNvSpPr txBox="1"/>
          <p:nvPr/>
        </p:nvSpPr>
        <p:spPr>
          <a:xfrm>
            <a:off x="1143000" y="2752344"/>
            <a:ext cx="3977640" cy="274320"/>
          </a:xfrm>
          <a:prstGeom prst="rect">
            <a:avLst/>
          </a:prstGeom>
          <a:noFill/>
          <a:ln/>
        </p:spPr>
        <p:txBody>
          <a:bodyPr wrap="square" lIns="0" tIns="0" rIns="0" bIns="0" rtlCol="0" anchor="t"/>
          <a:lstStyle/>
          <a:p>
            <a:pPr indent="0" marL="0">
              <a:buNone/>
            </a:pPr>
            <a:r>
              <a:rPr lang="en-US" sz="1350" b="1" dirty="0">
                <a:solidFill>
                  <a:schemeClr val="accent3"/>
                </a:solidFill>
              </a:rPr>
              <a:t>Compensate: reversal credit to A</a:t>
            </a:r>
            <a:endParaRPr lang="en-US" sz="1350" dirty="0"/>
          </a:p>
        </p:txBody>
      </p:sp>
      <p:sp>
        <p:nvSpPr>
          <p:cNvPr id="16" name="Text 14"/>
          <p:cNvSpPr txBox="1"/>
          <p:nvPr/>
        </p:nvSpPr>
        <p:spPr>
          <a:xfrm>
            <a:off x="1143000" y="3026664"/>
            <a:ext cx="3977640" cy="256032"/>
          </a:xfrm>
          <a:prstGeom prst="rect">
            <a:avLst/>
          </a:prstGeom>
          <a:noFill/>
          <a:ln/>
        </p:spPr>
        <p:txBody>
          <a:bodyPr wrap="square" lIns="0" tIns="0" rIns="0" bIns="0" rtlCol="0" anchor="t"/>
          <a:lstStyle/>
          <a:p>
            <a:pPr indent="0" marL="0">
              <a:buNone/>
            </a:pPr>
            <a:r>
              <a:rPr lang="en-US" sz="1150" dirty="0">
                <a:solidFill>
                  <a:schemeClr val="tx1"/>
                </a:solidFill>
              </a:rPr>
              <a:t>A new transaction brings A back to 5,000</a:t>
            </a:r>
            <a:endParaRPr lang="en-US" sz="1150" dirty="0"/>
          </a:p>
        </p:txBody>
      </p:sp>
      <p:sp>
        <p:nvSpPr>
          <p:cNvPr id="17" name="Shape 15"/>
          <p:cNvSpPr/>
          <p:nvPr/>
        </p:nvSpPr>
        <p:spPr>
          <a:xfrm>
            <a:off x="457200" y="3520440"/>
            <a:ext cx="4754880" cy="1051560"/>
          </a:xfrm>
          <a:prstGeom prst="roundRect">
            <a:avLst>
              <a:gd name="adj" fmla="val 6957"/>
            </a:avLst>
          </a:prstGeom>
          <a:solidFill>
            <a:schemeClr val="bg2"/>
          </a:solidFill>
          <a:ln w="6350">
            <a:solidFill>
              <a:srgbClr val="E1E6EB"/>
            </a:solidFill>
            <a:prstDash val="solid"/>
          </a:ln>
        </p:spPr>
      </p:sp>
      <p:sp>
        <p:nvSpPr>
          <p:cNvPr id="18" name="Text 16"/>
          <p:cNvSpPr txBox="1"/>
          <p:nvPr/>
        </p:nvSpPr>
        <p:spPr>
          <a:xfrm>
            <a:off x="640080" y="3611880"/>
            <a:ext cx="4389120" cy="868680"/>
          </a:xfrm>
          <a:prstGeom prst="rect">
            <a:avLst/>
          </a:prstGeom>
          <a:noFill/>
          <a:ln/>
        </p:spPr>
        <p:txBody>
          <a:bodyPr wrap="square" lIns="0" tIns="0" rIns="0" bIns="0" rtlCol="0" anchor="ctr"/>
          <a:lstStyle/>
          <a:p>
            <a:pPr indent="0" marL="0">
              <a:buNone/>
            </a:pPr>
            <a:r>
              <a:rPr lang="en-US" sz="1250" b="1" dirty="0">
                <a:solidFill>
                  <a:schemeClr val="accent2"/>
                </a:solidFill>
              </a:rPr>
              <a:t>Not a rollback. </a:t>
            </a:r>
            <a:pPr indent="0" marL="0">
              <a:buNone/>
            </a:pPr>
            <a:r>
              <a:rPr lang="en-US" sz="1250" dirty="0">
                <a:solidFill>
                  <a:schemeClr val="tx1"/>
                </a:solidFill>
              </a:rPr>
              <a:t>The debit really happened. The reversal is a new ledger entry, so both appear in the account history.</a:t>
            </a:r>
            <a:endParaRPr lang="en-US" sz="1250" dirty="0"/>
          </a:p>
        </p:txBody>
      </p:sp>
      <p:sp>
        <p:nvSpPr>
          <p:cNvPr id="19" name="Shape 17"/>
          <p:cNvSpPr/>
          <p:nvPr/>
        </p:nvSpPr>
        <p:spPr>
          <a:xfrm>
            <a:off x="5486400" y="1097280"/>
            <a:ext cx="3200400" cy="960120"/>
          </a:xfrm>
          <a:prstGeom prst="roundRect">
            <a:avLst>
              <a:gd name="adj" fmla="val 7619"/>
            </a:avLst>
          </a:prstGeom>
          <a:solidFill>
            <a:schemeClr val="bg2"/>
          </a:solidFill>
          <a:ln w="6350">
            <a:solidFill>
              <a:srgbClr val="E1E6EB"/>
            </a:solidFill>
            <a:prstDash val="solid"/>
          </a:ln>
        </p:spPr>
      </p:sp>
      <p:sp>
        <p:nvSpPr>
          <p:cNvPr id="20" name="Text 18"/>
          <p:cNvSpPr txBox="1"/>
          <p:nvPr/>
        </p:nvSpPr>
        <p:spPr>
          <a:xfrm>
            <a:off x="5669280" y="1188720"/>
            <a:ext cx="2834640" cy="256032"/>
          </a:xfrm>
          <a:prstGeom prst="rect">
            <a:avLst/>
          </a:prstGeom>
          <a:noFill/>
          <a:ln/>
        </p:spPr>
        <p:txBody>
          <a:bodyPr wrap="square" lIns="0" tIns="0" rIns="0" bIns="0" rtlCol="0" anchor="t"/>
          <a:lstStyle/>
          <a:p>
            <a:pPr indent="0" marL="0">
              <a:buNone/>
            </a:pPr>
            <a:r>
              <a:rPr lang="en-US" sz="1250" b="1" dirty="0">
                <a:solidFill>
                  <a:schemeClr val="accent5"/>
                </a:solidFill>
              </a:rPr>
              <a:t>You write</a:t>
            </a:r>
            <a:endParaRPr lang="en-US" sz="1250" dirty="0"/>
          </a:p>
        </p:txBody>
      </p:sp>
      <p:sp>
        <p:nvSpPr>
          <p:cNvPr id="21" name="Text 19"/>
          <p:cNvSpPr txBox="1"/>
          <p:nvPr/>
        </p:nvSpPr>
        <p:spPr>
          <a:xfrm>
            <a:off x="5669280" y="1481328"/>
            <a:ext cx="2834640" cy="502920"/>
          </a:xfrm>
          <a:prstGeom prst="rect">
            <a:avLst/>
          </a:prstGeom>
          <a:noFill/>
          <a:ln/>
        </p:spPr>
        <p:txBody>
          <a:bodyPr wrap="square" lIns="0" tIns="0" rIns="0" bIns="0" rtlCol="0" anchor="t"/>
          <a:lstStyle/>
          <a:p>
            <a:pPr indent="0" marL="0">
              <a:buNone/>
            </a:pPr>
            <a:r>
              <a:rPr lang="en-US" sz="1150" dirty="0">
                <a:solidFill>
                  <a:schemeClr val="tx1"/>
                </a:solidFill>
              </a:rPr>
              <a:t>The workflow and a compensating action for every step.</a:t>
            </a:r>
            <a:endParaRPr lang="en-US" sz="1150" dirty="0"/>
          </a:p>
        </p:txBody>
      </p:sp>
      <p:sp>
        <p:nvSpPr>
          <p:cNvPr id="22" name="Shape 20"/>
          <p:cNvSpPr/>
          <p:nvPr/>
        </p:nvSpPr>
        <p:spPr>
          <a:xfrm>
            <a:off x="5486400" y="2194560"/>
            <a:ext cx="3200400" cy="1143000"/>
          </a:xfrm>
          <a:prstGeom prst="roundRect">
            <a:avLst>
              <a:gd name="adj" fmla="val 6400"/>
            </a:avLst>
          </a:prstGeom>
          <a:solidFill>
            <a:schemeClr val="bg2"/>
          </a:solidFill>
          <a:ln w="6350">
            <a:solidFill>
              <a:srgbClr val="E1E6EB"/>
            </a:solidFill>
            <a:prstDash val="solid"/>
          </a:ln>
        </p:spPr>
      </p:sp>
      <p:sp>
        <p:nvSpPr>
          <p:cNvPr id="23" name="Text 21"/>
          <p:cNvSpPr txBox="1"/>
          <p:nvPr/>
        </p:nvSpPr>
        <p:spPr>
          <a:xfrm>
            <a:off x="5669280" y="2286000"/>
            <a:ext cx="2834640" cy="256032"/>
          </a:xfrm>
          <a:prstGeom prst="rect">
            <a:avLst/>
          </a:prstGeom>
          <a:noFill/>
          <a:ln/>
        </p:spPr>
        <p:txBody>
          <a:bodyPr wrap="square" lIns="0" tIns="0" rIns="0" bIns="0" rtlCol="0" anchor="t"/>
          <a:lstStyle/>
          <a:p>
            <a:pPr indent="0" marL="0">
              <a:buNone/>
            </a:pPr>
            <a:r>
              <a:rPr lang="en-US" sz="1250" b="1" dirty="0">
                <a:solidFill>
                  <a:schemeClr val="accent5"/>
                </a:solidFill>
              </a:rPr>
              <a:t>Limitation</a:t>
            </a:r>
            <a:endParaRPr lang="en-US" sz="1250" dirty="0"/>
          </a:p>
        </p:txBody>
      </p:sp>
      <p:sp>
        <p:nvSpPr>
          <p:cNvPr id="24" name="Text 22"/>
          <p:cNvSpPr txBox="1"/>
          <p:nvPr/>
        </p:nvSpPr>
        <p:spPr>
          <a:xfrm>
            <a:off x="5669280" y="2578608"/>
            <a:ext cx="2834640" cy="685800"/>
          </a:xfrm>
          <a:prstGeom prst="rect">
            <a:avLst/>
          </a:prstGeom>
          <a:noFill/>
          <a:ln/>
        </p:spPr>
        <p:txBody>
          <a:bodyPr wrap="square" lIns="0" tIns="0" rIns="0" bIns="0" rtlCol="0" anchor="t"/>
          <a:lstStyle/>
          <a:p>
            <a:pPr indent="0" marL="0">
              <a:buNone/>
            </a:pPr>
            <a:r>
              <a:rPr lang="en-US" sz="1150" dirty="0">
                <a:solidFill>
                  <a:schemeClr val="tx1"/>
                </a:solidFill>
              </a:rPr>
              <a:t>No built-in isolation; in-between states are visible. Compensation can fail and need manual recovery.</a:t>
            </a:r>
            <a:endParaRPr lang="en-US" sz="1150" dirty="0"/>
          </a:p>
        </p:txBody>
      </p:sp>
      <p:sp>
        <p:nvSpPr>
          <p:cNvPr id="25" name="Shape 23"/>
          <p:cNvSpPr/>
          <p:nvPr/>
        </p:nvSpPr>
        <p:spPr>
          <a:xfrm>
            <a:off x="5486400" y="3474720"/>
            <a:ext cx="3200400" cy="1097280"/>
          </a:xfrm>
          <a:prstGeom prst="roundRect">
            <a:avLst>
              <a:gd name="adj" fmla="val 6667"/>
            </a:avLst>
          </a:prstGeom>
          <a:solidFill>
            <a:srgbClr val="ECECFB"/>
          </a:solidFill>
          <a:ln w="9525">
            <a:solidFill>
              <a:schemeClr val="accent5"/>
            </a:solidFill>
            <a:prstDash val="solid"/>
          </a:ln>
        </p:spPr>
      </p:sp>
      <p:sp>
        <p:nvSpPr>
          <p:cNvPr id="26" name="Text 24"/>
          <p:cNvSpPr txBox="1"/>
          <p:nvPr/>
        </p:nvSpPr>
        <p:spPr>
          <a:xfrm>
            <a:off x="5669280" y="3566160"/>
            <a:ext cx="2834640" cy="256032"/>
          </a:xfrm>
          <a:prstGeom prst="rect">
            <a:avLst/>
          </a:prstGeom>
          <a:noFill/>
          <a:ln/>
        </p:spPr>
        <p:txBody>
          <a:bodyPr wrap="square" lIns="0" tIns="0" rIns="0" bIns="0" rtlCol="0" anchor="t"/>
          <a:lstStyle/>
          <a:p>
            <a:pPr indent="0" marL="0">
              <a:buNone/>
            </a:pPr>
            <a:r>
              <a:rPr lang="en-US" sz="1250" b="1" dirty="0">
                <a:solidFill>
                  <a:schemeClr val="accent5"/>
                </a:solidFill>
              </a:rPr>
              <a:t>Think of it as</a:t>
            </a:r>
            <a:endParaRPr lang="en-US" sz="1250" dirty="0"/>
          </a:p>
        </p:txBody>
      </p:sp>
      <p:sp>
        <p:nvSpPr>
          <p:cNvPr id="27" name="Text 25"/>
          <p:cNvSpPr txBox="1"/>
          <p:nvPr/>
        </p:nvSpPr>
        <p:spPr>
          <a:xfrm>
            <a:off x="5669280" y="3858768"/>
            <a:ext cx="2834640" cy="640080"/>
          </a:xfrm>
          <a:prstGeom prst="rect">
            <a:avLst/>
          </a:prstGeom>
          <a:noFill/>
          <a:ln/>
        </p:spPr>
        <p:txBody>
          <a:bodyPr wrap="square" lIns="0" tIns="0" rIns="0" bIns="0" rtlCol="0" anchor="t"/>
          <a:lstStyle/>
          <a:p>
            <a:pPr indent="0" marL="0">
              <a:buNone/>
            </a:pPr>
            <a:r>
              <a:rPr lang="en-US" sz="1250" i="1" dirty="0">
                <a:solidFill>
                  <a:schemeClr val="tx1"/>
                </a:solidFill>
              </a:rPr>
              <a:t>Finish steps one by one; if one fails, undo the earlier ones with business actions.</a:t>
            </a:r>
            <a:endParaRPr lang="en-US" sz="125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The four modes side by side</a:t>
            </a:r>
            <a:endParaRPr lang="en-US" sz="24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011680"/>
                <a:gridCol w="1554480"/>
                <a:gridCol w="1554480"/>
                <a:gridCol w="1554480"/>
                <a:gridCol w="1554480"/>
              </a:tblGrid>
              <a:tr h="512064">
                <a:tc>
                  <a:txBody>
                    <a:bodyPr/>
                    <a:lstStyle/>
                    <a:p>
                      <a:pPr algn="ctr" indent="0" marL="0">
                        <a:buNone/>
                      </a:pPr>
                      <a:endParaRPr lang="en-US" sz="120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1"/>
                    </a:solidFill>
                  </a:tcPr>
                </a:tc>
                <a:tc>
                  <a:txBody>
                    <a:bodyPr/>
                    <a:lstStyle/>
                    <a:p>
                      <a:pPr algn="ctr" indent="0" marL="0">
                        <a:buNone/>
                      </a:pPr>
                      <a:r>
                        <a:rPr lang="en-US" sz="1200" b="1" dirty="0">
                          <a:solidFill>
                            <a:schemeClr val="bg1"/>
                          </a:solidFill>
                        </a:rPr>
                        <a:t>AT</a:t>
                      </a:r>
                      <a:endParaRPr lang="en-US" sz="120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1"/>
                    </a:solidFill>
                  </a:tcPr>
                </a:tc>
                <a:tc>
                  <a:txBody>
                    <a:bodyPr/>
                    <a:lstStyle/>
                    <a:p>
                      <a:pPr algn="ctr" indent="0" marL="0">
                        <a:buNone/>
                      </a:pPr>
                      <a:r>
                        <a:rPr lang="en-US" sz="1200" b="1" dirty="0">
                          <a:solidFill>
                            <a:schemeClr val="bg1"/>
                          </a:solidFill>
                        </a:rPr>
                        <a:t>XA</a:t>
                      </a:r>
                      <a:endParaRPr lang="en-US" sz="120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1"/>
                    </a:solidFill>
                  </a:tcPr>
                </a:tc>
                <a:tc>
                  <a:txBody>
                    <a:bodyPr/>
                    <a:lstStyle/>
                    <a:p>
                      <a:pPr algn="ctr" indent="0" marL="0">
                        <a:buNone/>
                      </a:pPr>
                      <a:r>
                        <a:rPr lang="en-US" sz="1200" b="1" dirty="0">
                          <a:solidFill>
                            <a:schemeClr val="bg1"/>
                          </a:solidFill>
                        </a:rPr>
                        <a:t>TCC</a:t>
                      </a:r>
                      <a:endParaRPr lang="en-US" sz="120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1"/>
                    </a:solidFill>
                  </a:tcPr>
                </a:tc>
                <a:tc>
                  <a:txBody>
                    <a:bodyPr/>
                    <a:lstStyle/>
                    <a:p>
                      <a:pPr algn="ctr" indent="0" marL="0">
                        <a:buNone/>
                      </a:pPr>
                      <a:r>
                        <a:rPr lang="en-US" sz="1200" b="1" dirty="0">
                          <a:solidFill>
                            <a:schemeClr val="bg1"/>
                          </a:solidFill>
                        </a:rPr>
                        <a:t>Saga</a:t>
                      </a:r>
                      <a:endParaRPr lang="en-US" sz="120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1"/>
                    </a:solidFill>
                  </a:tcPr>
                </a:tc>
              </a:tr>
              <a:tr h="512064">
                <a:tc>
                  <a:txBody>
                    <a:bodyPr/>
                    <a:lstStyle/>
                    <a:p>
                      <a:pPr indent="0" marL="0">
                        <a:buNone/>
                      </a:pPr>
                      <a:r>
                        <a:rPr lang="en-US" sz="1150" b="1" dirty="0">
                          <a:solidFill>
                            <a:schemeClr val="tx1"/>
                          </a:solidFill>
                        </a:rPr>
                        <a:t>Who rolls back?</a:t>
                      </a:r>
                      <a:endParaRPr lang="en-US" sz="115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algn="ctr" indent="0" marL="0">
                        <a:buNone/>
                      </a:pPr>
                      <a:r>
                        <a:rPr lang="en-US" sz="1150" dirty="0">
                          <a:solidFill>
                            <a:schemeClr val="tx1"/>
                          </a:solidFill>
                        </a:rPr>
                        <a:t>Seata undo log</a:t>
                      </a:r>
                      <a:endParaRPr lang="en-US" sz="115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150" dirty="0">
                          <a:solidFill>
                            <a:schemeClr val="tx1"/>
                          </a:solidFill>
                        </a:rPr>
                        <a:t>The databases</a:t>
                      </a:r>
                      <a:endParaRPr lang="en-US" sz="115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3F2F1"/>
                    </a:solidFill>
                  </a:tcPr>
                </a:tc>
                <a:tc>
                  <a:txBody>
                    <a:bodyPr/>
                    <a:lstStyle/>
                    <a:p>
                      <a:pPr algn="ctr" indent="0" marL="0">
                        <a:buNone/>
                      </a:pPr>
                      <a:r>
                        <a:rPr lang="en-US" sz="1150" dirty="0">
                          <a:solidFill>
                            <a:schemeClr val="tx1"/>
                          </a:solidFill>
                        </a:rPr>
                        <a:t>Your Cancel</a:t>
                      </a:r>
                      <a:endParaRPr lang="en-US" sz="115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150" dirty="0">
                          <a:solidFill>
                            <a:schemeClr val="tx1"/>
                          </a:solidFill>
                        </a:rPr>
                        <a:t>Your compensation</a:t>
                      </a:r>
                      <a:endParaRPr lang="en-US" sz="115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512064">
                <a:tc>
                  <a:txBody>
                    <a:bodyPr/>
                    <a:lstStyle/>
                    <a:p>
                      <a:pPr indent="0" marL="0">
                        <a:buNone/>
                      </a:pPr>
                      <a:r>
                        <a:rPr lang="en-US" sz="1150" b="1" dirty="0">
                          <a:solidFill>
                            <a:schemeClr val="tx1"/>
                          </a:solidFill>
                        </a:rPr>
                        <a:t>Isolation</a:t>
                      </a:r>
                      <a:endParaRPr lang="en-US" sz="115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algn="ctr" indent="0" marL="0">
                        <a:buNone/>
                      </a:pPr>
                      <a:r>
                        <a:rPr lang="en-US" sz="1150" dirty="0">
                          <a:solidFill>
                            <a:schemeClr val="accent2"/>
                          </a:solidFill>
                        </a:rPr>
                        <a:t>Limited: write locks, check reads</a:t>
                      </a:r>
                      <a:endParaRPr lang="en-US" sz="115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150" b="1" dirty="0">
                          <a:solidFill>
                            <a:schemeClr val="accent1"/>
                          </a:solidFill>
                        </a:rPr>
                        <a:t>Database transaction isolation</a:t>
                      </a:r>
                      <a:endParaRPr lang="en-US" sz="115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3F2F1"/>
                    </a:solidFill>
                  </a:tcPr>
                </a:tc>
                <a:tc>
                  <a:txBody>
                    <a:bodyPr/>
                    <a:lstStyle/>
                    <a:p>
                      <a:pPr algn="ctr" indent="0" marL="0">
                        <a:buNone/>
                      </a:pPr>
                      <a:r>
                        <a:rPr lang="en-US" sz="1150" dirty="0">
                          <a:solidFill>
                            <a:schemeClr val="tx1"/>
                          </a:solidFill>
                        </a:rPr>
                        <a:t>Depends on reservation design</a:t>
                      </a:r>
                      <a:endParaRPr lang="en-US" sz="115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150" dirty="0">
                          <a:solidFill>
                            <a:schemeClr val="accent2"/>
                          </a:solidFill>
                        </a:rPr>
                        <a:t>None built-in</a:t>
                      </a:r>
                      <a:endParaRPr lang="en-US" sz="115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512064">
                <a:tc>
                  <a:txBody>
                    <a:bodyPr/>
                    <a:lstStyle/>
                    <a:p>
                      <a:pPr indent="0" marL="0">
                        <a:buNone/>
                      </a:pPr>
                      <a:r>
                        <a:rPr lang="en-US" sz="1150" b="1" dirty="0">
                          <a:solidFill>
                            <a:schemeClr val="tx1"/>
                          </a:solidFill>
                        </a:rPr>
                        <a:t>Business code</a:t>
                      </a:r>
                      <a:endParaRPr lang="en-US" sz="115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algn="ctr" indent="0" marL="0">
                        <a:buNone/>
                      </a:pPr>
                      <a:r>
                        <a:rPr lang="en-US" sz="1150" dirty="0">
                          <a:solidFill>
                            <a:schemeClr val="tx1"/>
                          </a:solidFill>
                        </a:rPr>
                        <a:t>Low</a:t>
                      </a:r>
                      <a:endParaRPr lang="en-US" sz="115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150" dirty="0">
                          <a:solidFill>
                            <a:schemeClr val="tx1"/>
                          </a:solidFill>
                        </a:rPr>
                        <a:t>Low</a:t>
                      </a:r>
                      <a:endParaRPr lang="en-US" sz="115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3F2F1"/>
                    </a:solidFill>
                  </a:tcPr>
                </a:tc>
                <a:tc>
                  <a:txBody>
                    <a:bodyPr/>
                    <a:lstStyle/>
                    <a:p>
                      <a:pPr algn="ctr" indent="0" marL="0">
                        <a:buNone/>
                      </a:pPr>
                      <a:r>
                        <a:rPr lang="en-US" sz="1150" dirty="0">
                          <a:solidFill>
                            <a:schemeClr val="tx1"/>
                          </a:solidFill>
                        </a:rPr>
                        <a:t>High</a:t>
                      </a:r>
                      <a:endParaRPr lang="en-US" sz="115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150" dirty="0">
                          <a:solidFill>
                            <a:schemeClr val="tx1"/>
                          </a:solidFill>
                        </a:rPr>
                        <a:t>Medium to high</a:t>
                      </a:r>
                      <a:endParaRPr lang="en-US" sz="115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512064">
                <a:tc>
                  <a:txBody>
                    <a:bodyPr/>
                    <a:lstStyle/>
                    <a:p>
                      <a:pPr indent="0" marL="0">
                        <a:buNone/>
                      </a:pPr>
                      <a:r>
                        <a:rPr lang="en-US" sz="1150" b="1" dirty="0">
                          <a:solidFill>
                            <a:schemeClr val="tx1"/>
                          </a:solidFill>
                        </a:rPr>
                        <a:t>Typical use</a:t>
                      </a:r>
                      <a:endParaRPr lang="en-US" sz="115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algn="ctr" indent="0" marL="0">
                        <a:buNone/>
                      </a:pPr>
                      <a:r>
                        <a:rPr lang="en-US" sz="1150" dirty="0">
                          <a:solidFill>
                            <a:schemeClr val="tx1"/>
                          </a:solidFill>
                        </a:rPr>
                        <a:t>Normal JDBC microservices</a:t>
                      </a:r>
                      <a:endParaRPr lang="en-US" sz="115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150" dirty="0">
                          <a:solidFill>
                            <a:schemeClr val="tx1"/>
                          </a:solidFill>
                        </a:rPr>
                        <a:t>Strict consistency needed</a:t>
                      </a:r>
                      <a:endParaRPr lang="en-US" sz="115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3F2F1"/>
                    </a:solidFill>
                  </a:tcPr>
                </a:tc>
                <a:tc>
                  <a:txBody>
                    <a:bodyPr/>
                    <a:lstStyle/>
                    <a:p>
                      <a:pPr algn="ctr" indent="0" marL="0">
                        <a:buNone/>
                      </a:pPr>
                      <a:r>
                        <a:rPr lang="en-US" sz="1150" dirty="0">
                          <a:solidFill>
                            <a:schemeClr val="tx1"/>
                          </a:solidFill>
                        </a:rPr>
                        <a:t>Fine resource control</a:t>
                      </a:r>
                      <a:endParaRPr lang="en-US" sz="115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150" dirty="0">
                          <a:solidFill>
                            <a:schemeClr val="tx1"/>
                          </a:solidFill>
                        </a:rPr>
                        <a:t>Long workflows</a:t>
                      </a:r>
                      <a:endParaRPr lang="en-US" sz="115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512064">
                <a:tc>
                  <a:txBody>
                    <a:bodyPr/>
                    <a:lstStyle/>
                    <a:p>
                      <a:pPr indent="0" marL="0">
                        <a:buNone/>
                      </a:pPr>
                      <a:r>
                        <a:rPr lang="en-US" sz="1150" b="1" dirty="0">
                          <a:solidFill>
                            <a:schemeClr val="tx1"/>
                          </a:solidFill>
                        </a:rPr>
                        <a:t>Main trade-off</a:t>
                      </a:r>
                      <a:endParaRPr lang="en-US" sz="115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algn="ctr" indent="0" marL="0">
                        <a:buNone/>
                      </a:pPr>
                      <a:r>
                        <a:rPr lang="en-US" sz="1150" dirty="0">
                          <a:solidFill>
                            <a:schemeClr val="tx1"/>
                          </a:solidFill>
                        </a:rPr>
                        <a:t>Reads may see in-between state</a:t>
                      </a:r>
                      <a:endParaRPr lang="en-US" sz="115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150" dirty="0">
                          <a:solidFill>
                            <a:schemeClr val="tx1"/>
                          </a:solidFill>
                        </a:rPr>
                        <a:t>Lock time, may block</a:t>
                      </a:r>
                      <a:endParaRPr lang="en-US" sz="115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rgbClr val="E3F2F1"/>
                    </a:solidFill>
                  </a:tcPr>
                </a:tc>
                <a:tc>
                  <a:txBody>
                    <a:bodyPr/>
                    <a:lstStyle/>
                    <a:p>
                      <a:pPr algn="ctr" indent="0" marL="0">
                        <a:buNone/>
                      </a:pPr>
                      <a:r>
                        <a:rPr lang="en-US" sz="1150" dirty="0">
                          <a:solidFill>
                            <a:schemeClr val="tx1"/>
                          </a:solidFill>
                        </a:rPr>
                        <a:t>Code complexity</a:t>
                      </a:r>
                      <a:endParaRPr lang="en-US" sz="115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algn="ctr" indent="0" marL="0">
                        <a:buNone/>
                      </a:pPr>
                      <a:r>
                        <a:rPr lang="en-US" sz="1150" dirty="0">
                          <a:solidFill>
                            <a:schemeClr val="tx1"/>
                          </a:solidFill>
                        </a:rPr>
                        <a:t>Compensation can fail</a:t>
                      </a:r>
                      <a:endParaRPr lang="en-US" sz="115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bl>
          </a:graphicData>
        </a:graphic>
      </p:graphicFrame>
      <p:sp>
        <p:nvSpPr>
          <p:cNvPr id="4" name="Text 1"/>
          <p:cNvSpPr txBox="1"/>
          <p:nvPr/>
        </p:nvSpPr>
        <p:spPr>
          <a:xfrm>
            <a:off x="457200" y="4251960"/>
            <a:ext cx="8229600" cy="320040"/>
          </a:xfrm>
          <a:prstGeom prst="rect">
            <a:avLst/>
          </a:prstGeom>
          <a:noFill/>
          <a:ln/>
        </p:spPr>
        <p:txBody>
          <a:bodyPr wrap="square" lIns="0" tIns="0" rIns="0" bIns="0" rtlCol="0" anchor="t"/>
          <a:lstStyle/>
          <a:p>
            <a:pPr indent="0" marL="0">
              <a:buNone/>
            </a:pPr>
            <a:r>
              <a:rPr lang="en-US" sz="1300" i="1" dirty="0">
                <a:solidFill>
                  <a:schemeClr val="accent1"/>
                </a:solidFill>
              </a:rPr>
              <a:t>For strict isolation across separate databases, XA is the mode to evaluate first.</a:t>
            </a:r>
            <a:endParaRPr lang="en-US" sz="13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AT vs XA: who can see the in-between state?</a:t>
            </a:r>
            <a:endParaRPr lang="en-US" sz="2400" dirty="0"/>
          </a:p>
        </p:txBody>
      </p:sp>
      <p:sp>
        <p:nvSpPr>
          <p:cNvPr id="3" name="Text 1"/>
          <p:cNvSpPr txBox="1"/>
          <p:nvPr/>
        </p:nvSpPr>
        <p:spPr>
          <a:xfrm>
            <a:off x="457200" y="914400"/>
            <a:ext cx="8229600" cy="274320"/>
          </a:xfrm>
          <a:prstGeom prst="rect">
            <a:avLst/>
          </a:prstGeom>
          <a:noFill/>
          <a:ln/>
        </p:spPr>
        <p:txBody>
          <a:bodyPr wrap="square" lIns="0" tIns="0" rIns="0" bIns="0" rtlCol="0" anchor="t"/>
          <a:lstStyle/>
          <a:p>
            <a:pPr indent="0" marL="0">
              <a:buNone/>
            </a:pPr>
            <a:r>
              <a:rPr lang="en-US" sz="1200" b="1" i="1" dirty="0">
                <a:solidFill>
                  <a:schemeClr val="tx2"/>
                </a:solidFill>
              </a:rPr>
              <a:t>Scenario: </a:t>
            </a:r>
            <a:pPr indent="0" marL="0">
              <a:buNone/>
            </a:pPr>
            <a:r>
              <a:rPr lang="en-US" sz="1200" i="1" dirty="0">
                <a:solidFill>
                  <a:schemeClr val="tx2"/>
                </a:solidFill>
              </a:rPr>
              <a:t>A is debited 1,000, then B's service crashes. Meanwhile, someone reads A.</a:t>
            </a:r>
            <a:endParaRPr lang="en-US" sz="1200" dirty="0"/>
          </a:p>
        </p:txBody>
      </p:sp>
      <p:sp>
        <p:nvSpPr>
          <p:cNvPr id="4" name="Shape 2"/>
          <p:cNvSpPr/>
          <p:nvPr/>
        </p:nvSpPr>
        <p:spPr>
          <a:xfrm>
            <a:off x="457200" y="1280160"/>
            <a:ext cx="3977640" cy="2286000"/>
          </a:xfrm>
          <a:prstGeom prst="roundRect">
            <a:avLst>
              <a:gd name="adj" fmla="val 4000"/>
            </a:avLst>
          </a:prstGeom>
          <a:solidFill>
            <a:srgbClr val="FDF3E2"/>
          </a:solidFill>
          <a:ln w="6350">
            <a:solidFill>
              <a:srgbClr val="FDF3E2"/>
            </a:solidFill>
            <a:prstDash val="solid"/>
          </a:ln>
        </p:spPr>
      </p:sp>
      <p:sp>
        <p:nvSpPr>
          <p:cNvPr id="5" name="Text 3"/>
          <p:cNvSpPr txBox="1"/>
          <p:nvPr/>
        </p:nvSpPr>
        <p:spPr>
          <a:xfrm>
            <a:off x="640080" y="1353312"/>
            <a:ext cx="3657600" cy="347472"/>
          </a:xfrm>
          <a:prstGeom prst="rect">
            <a:avLst/>
          </a:prstGeom>
          <a:noFill/>
          <a:ln/>
        </p:spPr>
        <p:txBody>
          <a:bodyPr wrap="square" lIns="0" tIns="0" rIns="0" bIns="0" rtlCol="0" anchor="ctr"/>
          <a:lstStyle/>
          <a:p>
            <a:pPr indent="0" marL="0">
              <a:buNone/>
            </a:pPr>
            <a:r>
              <a:rPr lang="en-US" sz="1600" b="1" dirty="0">
                <a:solidFill>
                  <a:schemeClr val="accent4"/>
                </a:solidFill>
              </a:rPr>
              <a:t>AT</a:t>
            </a:r>
            <a:pPr indent="0" marL="0">
              <a:buNone/>
            </a:pPr>
            <a:r>
              <a:rPr lang="en-US" sz="1150" i="1" dirty="0">
                <a:solidFill>
                  <a:schemeClr val="tx2"/>
                </a:solidFill>
              </a:rPr>
              <a:t>   commit + undo log</a:t>
            </a:r>
            <a:endParaRPr lang="en-US" sz="1400" dirty="0"/>
          </a:p>
        </p:txBody>
      </p:sp>
      <p:sp>
        <p:nvSpPr>
          <p:cNvPr id="6" name="Text 4"/>
          <p:cNvSpPr/>
          <p:nvPr/>
        </p:nvSpPr>
        <p:spPr>
          <a:xfrm>
            <a:off x="640080" y="1837944"/>
            <a:ext cx="292608" cy="292608"/>
          </a:xfrm>
          <a:prstGeom prst="ellipse">
            <a:avLst/>
          </a:prstGeom>
          <a:solidFill>
            <a:schemeClr val="accent4"/>
          </a:solidFill>
          <a:ln w="6350">
            <a:solidFill>
              <a:schemeClr val="accent4"/>
            </a:solidFill>
          </a:ln>
        </p:spPr>
        <p:txBody>
          <a:bodyPr wrap="square" lIns="0" tIns="0" rIns="0" bIns="0" rtlCol="0" anchor="ctr"/>
          <a:lstStyle/>
          <a:p>
            <a:pPr algn="ctr" indent="0" marL="0">
              <a:buNone/>
            </a:pPr>
            <a:r>
              <a:rPr lang="en-US" sz="1050" b="1" dirty="0">
                <a:solidFill>
                  <a:schemeClr val="bg1"/>
                </a:solidFill>
              </a:rPr>
              <a:t>1</a:t>
            </a:r>
            <a:endParaRPr lang="en-US" sz="1050" dirty="0"/>
          </a:p>
        </p:txBody>
      </p:sp>
      <p:sp>
        <p:nvSpPr>
          <p:cNvPr id="7" name="Text 5"/>
          <p:cNvSpPr txBox="1"/>
          <p:nvPr/>
        </p:nvSpPr>
        <p:spPr>
          <a:xfrm>
            <a:off x="1051560" y="1801368"/>
            <a:ext cx="3291840" cy="365760"/>
          </a:xfrm>
          <a:prstGeom prst="rect">
            <a:avLst/>
          </a:prstGeom>
          <a:noFill/>
          <a:ln/>
        </p:spPr>
        <p:txBody>
          <a:bodyPr wrap="square" lIns="0" tIns="0" rIns="0" bIns="0" rtlCol="0" anchor="ctr"/>
          <a:lstStyle/>
          <a:p>
            <a:pPr indent="0" marL="0">
              <a:buNone/>
            </a:pPr>
            <a:r>
              <a:rPr lang="en-US" sz="1200" dirty="0">
                <a:solidFill>
                  <a:schemeClr val="tx1"/>
                </a:solidFill>
              </a:rPr>
              <a:t>A commits 4,000 locally, undo log saved</a:t>
            </a:r>
            <a:endParaRPr lang="en-US" sz="1200" dirty="0"/>
          </a:p>
        </p:txBody>
      </p:sp>
      <p:sp>
        <p:nvSpPr>
          <p:cNvPr id="8" name="Text 6"/>
          <p:cNvSpPr/>
          <p:nvPr/>
        </p:nvSpPr>
        <p:spPr>
          <a:xfrm>
            <a:off x="640080" y="2267712"/>
            <a:ext cx="292608" cy="292608"/>
          </a:xfrm>
          <a:prstGeom prst="ellipse">
            <a:avLst/>
          </a:prstGeom>
          <a:solidFill>
            <a:schemeClr val="accent4"/>
          </a:solidFill>
          <a:ln w="6350">
            <a:solidFill>
              <a:schemeClr val="accent4"/>
            </a:solidFill>
          </a:ln>
        </p:spPr>
        <p:txBody>
          <a:bodyPr wrap="square" lIns="0" tIns="0" rIns="0" bIns="0" rtlCol="0" anchor="ctr"/>
          <a:lstStyle/>
          <a:p>
            <a:pPr algn="ctr" indent="0" marL="0">
              <a:buNone/>
            </a:pPr>
            <a:r>
              <a:rPr lang="en-US" sz="1050" b="1" dirty="0">
                <a:solidFill>
                  <a:schemeClr val="bg1"/>
                </a:solidFill>
              </a:rPr>
              <a:t>2</a:t>
            </a:r>
            <a:endParaRPr lang="en-US" sz="1050" dirty="0"/>
          </a:p>
        </p:txBody>
      </p:sp>
      <p:sp>
        <p:nvSpPr>
          <p:cNvPr id="9" name="Text 7"/>
          <p:cNvSpPr txBox="1"/>
          <p:nvPr/>
        </p:nvSpPr>
        <p:spPr>
          <a:xfrm>
            <a:off x="1051560" y="2231136"/>
            <a:ext cx="3291840" cy="365760"/>
          </a:xfrm>
          <a:prstGeom prst="rect">
            <a:avLst/>
          </a:prstGeom>
          <a:noFill/>
          <a:ln/>
        </p:spPr>
        <p:txBody>
          <a:bodyPr wrap="square" lIns="0" tIns="0" rIns="0" bIns="0" rtlCol="0" anchor="ctr"/>
          <a:lstStyle/>
          <a:p>
            <a:pPr indent="0" marL="0">
              <a:buNone/>
            </a:pPr>
            <a:r>
              <a:rPr lang="en-US" sz="1200" dirty="0">
                <a:solidFill>
                  <a:schemeClr val="tx1"/>
                </a:solidFill>
              </a:rPr>
              <a:t>A reader sees 4,000 right now</a:t>
            </a:r>
            <a:endParaRPr lang="en-US" sz="1200" dirty="0"/>
          </a:p>
        </p:txBody>
      </p:sp>
      <p:sp>
        <p:nvSpPr>
          <p:cNvPr id="10" name="Text 8"/>
          <p:cNvSpPr/>
          <p:nvPr/>
        </p:nvSpPr>
        <p:spPr>
          <a:xfrm>
            <a:off x="640080" y="2697480"/>
            <a:ext cx="292608" cy="292608"/>
          </a:xfrm>
          <a:prstGeom prst="ellipse">
            <a:avLst/>
          </a:prstGeom>
          <a:solidFill>
            <a:schemeClr val="accent4"/>
          </a:solidFill>
          <a:ln w="6350">
            <a:solidFill>
              <a:schemeClr val="accent4"/>
            </a:solidFill>
          </a:ln>
        </p:spPr>
        <p:txBody>
          <a:bodyPr wrap="square" lIns="0" tIns="0" rIns="0" bIns="0" rtlCol="0" anchor="ctr"/>
          <a:lstStyle/>
          <a:p>
            <a:pPr algn="ctr" indent="0" marL="0">
              <a:buNone/>
            </a:pPr>
            <a:r>
              <a:rPr lang="en-US" sz="1050" b="1" dirty="0">
                <a:solidFill>
                  <a:schemeClr val="bg1"/>
                </a:solidFill>
              </a:rPr>
              <a:t>3</a:t>
            </a:r>
            <a:endParaRPr lang="en-US" sz="1050" dirty="0"/>
          </a:p>
        </p:txBody>
      </p:sp>
      <p:sp>
        <p:nvSpPr>
          <p:cNvPr id="11" name="Text 9"/>
          <p:cNvSpPr txBox="1"/>
          <p:nvPr/>
        </p:nvSpPr>
        <p:spPr>
          <a:xfrm>
            <a:off x="1051560" y="2660904"/>
            <a:ext cx="3291840" cy="365760"/>
          </a:xfrm>
          <a:prstGeom prst="rect">
            <a:avLst/>
          </a:prstGeom>
          <a:noFill/>
          <a:ln/>
        </p:spPr>
        <p:txBody>
          <a:bodyPr wrap="square" lIns="0" tIns="0" rIns="0" bIns="0" rtlCol="0" anchor="ctr"/>
          <a:lstStyle/>
          <a:p>
            <a:pPr indent="0" marL="0">
              <a:buNone/>
            </a:pPr>
            <a:r>
              <a:rPr lang="en-US" sz="1200" dirty="0">
                <a:solidFill>
                  <a:schemeClr val="tx1"/>
                </a:solidFill>
              </a:rPr>
              <a:t>B crashes; undo log restores A to 5,000</a:t>
            </a:r>
            <a:endParaRPr lang="en-US" sz="1200" dirty="0"/>
          </a:p>
        </p:txBody>
      </p:sp>
      <p:sp>
        <p:nvSpPr>
          <p:cNvPr id="12" name="Text 10"/>
          <p:cNvSpPr/>
          <p:nvPr/>
        </p:nvSpPr>
        <p:spPr>
          <a:xfrm>
            <a:off x="640080" y="3108960"/>
            <a:ext cx="3611880" cy="365760"/>
          </a:xfrm>
          <a:prstGeom prst="roundRect">
            <a:avLst>
              <a:gd name="adj" fmla="val 20000"/>
            </a:avLst>
          </a:prstGeom>
          <a:solidFill>
            <a:schemeClr val="bg1"/>
          </a:solidFill>
          <a:ln w="12700">
            <a:solidFill>
              <a:schemeClr val="accent2"/>
            </a:solidFill>
          </a:ln>
        </p:spPr>
        <p:txBody>
          <a:bodyPr wrap="square" lIns="63500" tIns="63500" rIns="63500" bIns="63500" rtlCol="0" anchor="ctr"/>
          <a:lstStyle/>
          <a:p>
            <a:pPr algn="ctr" indent="0" marL="0">
              <a:buNone/>
            </a:pPr>
            <a:r>
              <a:rPr lang="en-US" sz="1200" b="1" dirty="0">
                <a:solidFill>
                  <a:schemeClr val="accent2"/>
                </a:solidFill>
              </a:rPr>
              <a:t>Reader saw 4,000, which never really happened</a:t>
            </a:r>
            <a:endParaRPr lang="en-US" sz="1200" dirty="0"/>
          </a:p>
        </p:txBody>
      </p:sp>
      <p:sp>
        <p:nvSpPr>
          <p:cNvPr id="13" name="Shape 11"/>
          <p:cNvSpPr/>
          <p:nvPr/>
        </p:nvSpPr>
        <p:spPr>
          <a:xfrm>
            <a:off x="4709160" y="1280160"/>
            <a:ext cx="3977640" cy="2286000"/>
          </a:xfrm>
          <a:prstGeom prst="roundRect">
            <a:avLst>
              <a:gd name="adj" fmla="val 4000"/>
            </a:avLst>
          </a:prstGeom>
          <a:solidFill>
            <a:srgbClr val="E3F2F1"/>
          </a:solidFill>
          <a:ln w="6350">
            <a:solidFill>
              <a:srgbClr val="E3F2F1"/>
            </a:solidFill>
            <a:prstDash val="solid"/>
          </a:ln>
        </p:spPr>
      </p:sp>
      <p:sp>
        <p:nvSpPr>
          <p:cNvPr id="14" name="Text 12"/>
          <p:cNvSpPr txBox="1"/>
          <p:nvPr/>
        </p:nvSpPr>
        <p:spPr>
          <a:xfrm>
            <a:off x="4892040" y="1353312"/>
            <a:ext cx="3657600" cy="347472"/>
          </a:xfrm>
          <a:prstGeom prst="rect">
            <a:avLst/>
          </a:prstGeom>
          <a:noFill/>
          <a:ln/>
        </p:spPr>
        <p:txBody>
          <a:bodyPr wrap="square" lIns="0" tIns="0" rIns="0" bIns="0" rtlCol="0" anchor="ctr"/>
          <a:lstStyle/>
          <a:p>
            <a:pPr indent="0" marL="0">
              <a:buNone/>
            </a:pPr>
            <a:r>
              <a:rPr lang="en-US" sz="1600" b="1" dirty="0">
                <a:solidFill>
                  <a:schemeClr val="accent1"/>
                </a:solidFill>
              </a:rPr>
              <a:t>XA</a:t>
            </a:r>
            <a:pPr indent="0" marL="0">
              <a:buNone/>
            </a:pPr>
            <a:r>
              <a:rPr lang="en-US" sz="1150" i="1" dirty="0">
                <a:solidFill>
                  <a:schemeClr val="tx2"/>
                </a:solidFill>
              </a:rPr>
              <a:t>   prepare, then decide</a:t>
            </a:r>
            <a:endParaRPr lang="en-US" sz="1400" dirty="0"/>
          </a:p>
        </p:txBody>
      </p:sp>
      <p:sp>
        <p:nvSpPr>
          <p:cNvPr id="15" name="Text 13"/>
          <p:cNvSpPr/>
          <p:nvPr/>
        </p:nvSpPr>
        <p:spPr>
          <a:xfrm>
            <a:off x="4892040" y="1837944"/>
            <a:ext cx="292608" cy="292608"/>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050" b="1" dirty="0">
                <a:solidFill>
                  <a:schemeClr val="bg1"/>
                </a:solidFill>
              </a:rPr>
              <a:t>1</a:t>
            </a:r>
            <a:endParaRPr lang="en-US" sz="1050" dirty="0"/>
          </a:p>
        </p:txBody>
      </p:sp>
      <p:sp>
        <p:nvSpPr>
          <p:cNvPr id="16" name="Text 14"/>
          <p:cNvSpPr txBox="1"/>
          <p:nvPr/>
        </p:nvSpPr>
        <p:spPr>
          <a:xfrm>
            <a:off x="5303520" y="1801368"/>
            <a:ext cx="3291840" cy="365760"/>
          </a:xfrm>
          <a:prstGeom prst="rect">
            <a:avLst/>
          </a:prstGeom>
          <a:noFill/>
          <a:ln/>
        </p:spPr>
        <p:txBody>
          <a:bodyPr wrap="square" lIns="0" tIns="0" rIns="0" bIns="0" rtlCol="0" anchor="ctr"/>
          <a:lstStyle/>
          <a:p>
            <a:pPr indent="0" marL="0">
              <a:buNone/>
            </a:pPr>
            <a:r>
              <a:rPr lang="en-US" sz="1200" dirty="0">
                <a:solidFill>
                  <a:schemeClr val="tx1"/>
                </a:solidFill>
              </a:rPr>
              <a:t>A prepares 4,000, not committed</a:t>
            </a:r>
            <a:endParaRPr lang="en-US" sz="1200" dirty="0"/>
          </a:p>
        </p:txBody>
      </p:sp>
      <p:sp>
        <p:nvSpPr>
          <p:cNvPr id="17" name="Text 15"/>
          <p:cNvSpPr/>
          <p:nvPr/>
        </p:nvSpPr>
        <p:spPr>
          <a:xfrm>
            <a:off x="4892040" y="2267712"/>
            <a:ext cx="292608" cy="292608"/>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050" b="1" dirty="0">
                <a:solidFill>
                  <a:schemeClr val="bg1"/>
                </a:solidFill>
              </a:rPr>
              <a:t>2</a:t>
            </a:r>
            <a:endParaRPr lang="en-US" sz="1050" dirty="0"/>
          </a:p>
        </p:txBody>
      </p:sp>
      <p:sp>
        <p:nvSpPr>
          <p:cNvPr id="18" name="Text 16"/>
          <p:cNvSpPr txBox="1"/>
          <p:nvPr/>
        </p:nvSpPr>
        <p:spPr>
          <a:xfrm>
            <a:off x="5303520" y="2231136"/>
            <a:ext cx="3291840" cy="365760"/>
          </a:xfrm>
          <a:prstGeom prst="rect">
            <a:avLst/>
          </a:prstGeom>
          <a:noFill/>
          <a:ln/>
        </p:spPr>
        <p:txBody>
          <a:bodyPr wrap="square" lIns="0" tIns="0" rIns="0" bIns="0" rtlCol="0" anchor="ctr"/>
          <a:lstStyle/>
          <a:p>
            <a:pPr indent="0" marL="0">
              <a:buNone/>
            </a:pPr>
            <a:r>
              <a:rPr lang="en-US" sz="1200" dirty="0">
                <a:solidFill>
                  <a:schemeClr val="tx1"/>
                </a:solidFill>
              </a:rPr>
              <a:t>A reader still sees 5,000 (or waits)</a:t>
            </a:r>
            <a:endParaRPr lang="en-US" sz="1200" dirty="0"/>
          </a:p>
        </p:txBody>
      </p:sp>
      <p:sp>
        <p:nvSpPr>
          <p:cNvPr id="19" name="Text 17"/>
          <p:cNvSpPr/>
          <p:nvPr/>
        </p:nvSpPr>
        <p:spPr>
          <a:xfrm>
            <a:off x="4892040" y="2697480"/>
            <a:ext cx="292608" cy="292608"/>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050" b="1" dirty="0">
                <a:solidFill>
                  <a:schemeClr val="bg1"/>
                </a:solidFill>
              </a:rPr>
              <a:t>3</a:t>
            </a:r>
            <a:endParaRPr lang="en-US" sz="1050" dirty="0"/>
          </a:p>
        </p:txBody>
      </p:sp>
      <p:sp>
        <p:nvSpPr>
          <p:cNvPr id="20" name="Text 18"/>
          <p:cNvSpPr txBox="1"/>
          <p:nvPr/>
        </p:nvSpPr>
        <p:spPr>
          <a:xfrm>
            <a:off x="5303520" y="2660904"/>
            <a:ext cx="3291840" cy="365760"/>
          </a:xfrm>
          <a:prstGeom prst="rect">
            <a:avLst/>
          </a:prstGeom>
          <a:noFill/>
          <a:ln/>
        </p:spPr>
        <p:txBody>
          <a:bodyPr wrap="square" lIns="0" tIns="0" rIns="0" bIns="0" rtlCol="0" anchor="ctr"/>
          <a:lstStyle/>
          <a:p>
            <a:pPr indent="0" marL="0">
              <a:buNone/>
            </a:pPr>
            <a:r>
              <a:rPr lang="en-US" sz="1200" dirty="0">
                <a:solidFill>
                  <a:schemeClr val="tx1"/>
                </a:solidFill>
              </a:rPr>
              <a:t>B crashes; TC rolls back, 4,000 is discarded</a:t>
            </a:r>
            <a:endParaRPr lang="en-US" sz="1200" dirty="0"/>
          </a:p>
        </p:txBody>
      </p:sp>
      <p:sp>
        <p:nvSpPr>
          <p:cNvPr id="21" name="Text 19"/>
          <p:cNvSpPr/>
          <p:nvPr/>
        </p:nvSpPr>
        <p:spPr>
          <a:xfrm>
            <a:off x="4892040" y="3108960"/>
            <a:ext cx="3611880" cy="365760"/>
          </a:xfrm>
          <a:prstGeom prst="roundRect">
            <a:avLst>
              <a:gd name="adj" fmla="val 20000"/>
            </a:avLst>
          </a:prstGeom>
          <a:solidFill>
            <a:schemeClr val="bg1"/>
          </a:solidFill>
          <a:ln w="12700">
            <a:solidFill>
              <a:schemeClr val="accent3"/>
            </a:solidFill>
          </a:ln>
        </p:spPr>
        <p:txBody>
          <a:bodyPr wrap="square" lIns="63500" tIns="63500" rIns="63500" bIns="63500" rtlCol="0" anchor="ctr"/>
          <a:lstStyle/>
          <a:p>
            <a:pPr algn="ctr" indent="0" marL="0">
              <a:buNone/>
            </a:pPr>
            <a:r>
              <a:rPr lang="en-US" sz="1200" b="1" dirty="0">
                <a:solidFill>
                  <a:schemeClr val="accent3"/>
                </a:solidFill>
              </a:rPr>
              <a:t>Reader never saw a wrong value</a:t>
            </a:r>
            <a:endParaRPr lang="en-US" sz="1200" dirty="0"/>
          </a:p>
        </p:txBody>
      </p:sp>
      <p:sp>
        <p:nvSpPr>
          <p:cNvPr id="22" name="Shape 20"/>
          <p:cNvSpPr/>
          <p:nvPr/>
        </p:nvSpPr>
        <p:spPr>
          <a:xfrm>
            <a:off x="457200" y="3657600"/>
            <a:ext cx="8229600" cy="411480"/>
          </a:xfrm>
          <a:prstGeom prst="roundRect">
            <a:avLst>
              <a:gd name="adj" fmla="val 17778"/>
            </a:avLst>
          </a:prstGeom>
          <a:solidFill>
            <a:schemeClr val="tx1"/>
          </a:solidFill>
          <a:ln w="6350">
            <a:solidFill>
              <a:schemeClr val="tx1"/>
            </a:solidFill>
            <a:prstDash val="solid"/>
          </a:ln>
        </p:spPr>
      </p:sp>
      <p:sp>
        <p:nvSpPr>
          <p:cNvPr id="23" name="Text 21"/>
          <p:cNvSpPr txBox="1"/>
          <p:nvPr/>
        </p:nvSpPr>
        <p:spPr>
          <a:xfrm>
            <a:off x="640080" y="3657600"/>
            <a:ext cx="7863840" cy="411480"/>
          </a:xfrm>
          <a:prstGeom prst="rect">
            <a:avLst/>
          </a:prstGeom>
          <a:noFill/>
          <a:ln/>
        </p:spPr>
        <p:txBody>
          <a:bodyPr wrap="square" lIns="0" tIns="0" rIns="0" bIns="0" rtlCol="0" anchor="ctr"/>
          <a:lstStyle/>
          <a:p>
            <a:pPr indent="0" marL="0">
              <a:buNone/>
            </a:pPr>
            <a:r>
              <a:rPr lang="en-US" sz="1250" b="1" dirty="0">
                <a:solidFill>
                  <a:srgbClr val="7FD3CF"/>
                </a:solidFill>
              </a:rPr>
              <a:t>Key difference: </a:t>
            </a:r>
            <a:pPr indent="0" marL="0">
              <a:buNone/>
            </a:pPr>
            <a:r>
              <a:rPr lang="en-US" sz="1250" dirty="0">
                <a:solidFill>
                  <a:schemeClr val="bg1"/>
                </a:solidFill>
              </a:rPr>
              <a:t>both end at A = 5,000. Only XA hides the in-between state.</a:t>
            </a:r>
            <a:endParaRPr lang="en-US" sz="1250" dirty="0"/>
          </a:p>
        </p:txBody>
      </p:sp>
      <p:sp>
        <p:nvSpPr>
          <p:cNvPr id="24" name="Shape 22"/>
          <p:cNvSpPr/>
          <p:nvPr/>
        </p:nvSpPr>
        <p:spPr>
          <a:xfrm>
            <a:off x="457200" y="4160520"/>
            <a:ext cx="3977640" cy="502920"/>
          </a:xfrm>
          <a:prstGeom prst="roundRect">
            <a:avLst>
              <a:gd name="adj" fmla="val 14545"/>
            </a:avLst>
          </a:prstGeom>
          <a:solidFill>
            <a:schemeClr val="bg2"/>
          </a:solidFill>
          <a:ln w="6350">
            <a:solidFill>
              <a:srgbClr val="E1E6EB"/>
            </a:solidFill>
            <a:prstDash val="solid"/>
          </a:ln>
        </p:spPr>
      </p:sp>
      <p:sp>
        <p:nvSpPr>
          <p:cNvPr id="25" name="Text 23"/>
          <p:cNvSpPr txBox="1"/>
          <p:nvPr/>
        </p:nvSpPr>
        <p:spPr>
          <a:xfrm>
            <a:off x="640080" y="4178808"/>
            <a:ext cx="3611880" cy="466344"/>
          </a:xfrm>
          <a:prstGeom prst="rect">
            <a:avLst/>
          </a:prstGeom>
          <a:noFill/>
          <a:ln/>
        </p:spPr>
        <p:txBody>
          <a:bodyPr wrap="square" lIns="0" tIns="0" rIns="0" bIns="0" rtlCol="0" anchor="ctr"/>
          <a:lstStyle/>
          <a:p>
            <a:pPr indent="0" marL="0">
              <a:buNone/>
            </a:pPr>
            <a:r>
              <a:rPr lang="en-US" sz="1100" b="1" dirty="0">
                <a:solidFill>
                  <a:schemeClr val="accent4"/>
                </a:solidFill>
              </a:rPr>
              <a:t>Pick AT when: </a:t>
            </a:r>
            <a:pPr indent="0" marL="0">
              <a:buNone/>
            </a:pPr>
            <a:r>
              <a:rPr lang="en-US" sz="1100" dirty="0">
                <a:solidFill>
                  <a:schemeClr val="tx1"/>
                </a:solidFill>
              </a:rPr>
              <a:t>brief in-between reads are acceptable and you want simple setup.</a:t>
            </a:r>
            <a:endParaRPr lang="en-US" sz="1100" dirty="0"/>
          </a:p>
        </p:txBody>
      </p:sp>
      <p:sp>
        <p:nvSpPr>
          <p:cNvPr id="26" name="Shape 24"/>
          <p:cNvSpPr/>
          <p:nvPr/>
        </p:nvSpPr>
        <p:spPr>
          <a:xfrm>
            <a:off x="4709160" y="4160520"/>
            <a:ext cx="3977640" cy="502920"/>
          </a:xfrm>
          <a:prstGeom prst="roundRect">
            <a:avLst>
              <a:gd name="adj" fmla="val 14545"/>
            </a:avLst>
          </a:prstGeom>
          <a:solidFill>
            <a:schemeClr val="bg2"/>
          </a:solidFill>
          <a:ln w="6350">
            <a:solidFill>
              <a:srgbClr val="E1E6EB"/>
            </a:solidFill>
            <a:prstDash val="solid"/>
          </a:ln>
        </p:spPr>
      </p:sp>
      <p:sp>
        <p:nvSpPr>
          <p:cNvPr id="27" name="Text 25"/>
          <p:cNvSpPr txBox="1"/>
          <p:nvPr/>
        </p:nvSpPr>
        <p:spPr>
          <a:xfrm>
            <a:off x="4892040" y="4178808"/>
            <a:ext cx="3611880" cy="466344"/>
          </a:xfrm>
          <a:prstGeom prst="rect">
            <a:avLst/>
          </a:prstGeom>
          <a:noFill/>
          <a:ln/>
        </p:spPr>
        <p:txBody>
          <a:bodyPr wrap="square" lIns="0" tIns="0" rIns="0" bIns="0" rtlCol="0" anchor="ctr"/>
          <a:lstStyle/>
          <a:p>
            <a:pPr indent="0" marL="0">
              <a:buNone/>
            </a:pPr>
            <a:r>
              <a:rPr lang="en-US" sz="1100" b="1" dirty="0">
                <a:solidFill>
                  <a:schemeClr val="accent1"/>
                </a:solidFill>
              </a:rPr>
              <a:t>Pick XA when: </a:t>
            </a:r>
            <a:pPr indent="0" marL="0">
              <a:buNone/>
            </a:pPr>
            <a:r>
              <a:rPr lang="en-US" sz="1100" dirty="0">
                <a:solidFill>
                  <a:schemeClr val="tx1"/>
                </a:solidFill>
              </a:rPr>
              <a:t>money moves between our own DBs and strict isolation is required.</a:t>
            </a:r>
            <a:endParaRPr lang="en-US" sz="11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XA vs Saga: rollback vs compensation</a:t>
            </a:r>
            <a:endParaRPr lang="en-US" sz="2400" dirty="0"/>
          </a:p>
        </p:txBody>
      </p:sp>
      <p:sp>
        <p:nvSpPr>
          <p:cNvPr id="3" name="Text 1"/>
          <p:cNvSpPr txBox="1"/>
          <p:nvPr/>
        </p:nvSpPr>
        <p:spPr>
          <a:xfrm>
            <a:off x="457200" y="914400"/>
            <a:ext cx="8229600" cy="274320"/>
          </a:xfrm>
          <a:prstGeom prst="rect">
            <a:avLst/>
          </a:prstGeom>
          <a:noFill/>
          <a:ln/>
        </p:spPr>
        <p:txBody>
          <a:bodyPr wrap="square" lIns="0" tIns="0" rIns="0" bIns="0" rtlCol="0" anchor="t"/>
          <a:lstStyle/>
          <a:p>
            <a:pPr indent="0" marL="0">
              <a:buNone/>
            </a:pPr>
            <a:r>
              <a:rPr lang="en-US" sz="1200" b="1" i="1" dirty="0">
                <a:solidFill>
                  <a:schemeClr val="tx2"/>
                </a:solidFill>
              </a:rPr>
              <a:t>Scenario: </a:t>
            </a:r>
            <a:pPr indent="0" marL="0">
              <a:buNone/>
            </a:pPr>
            <a:r>
              <a:rPr lang="en-US" sz="1200" i="1" dirty="0">
                <a:solidFill>
                  <a:schemeClr val="tx2"/>
                </a:solidFill>
              </a:rPr>
              <a:t>Transfer A to B, 1,000. The credit to B fails.</a:t>
            </a:r>
            <a:endParaRPr lang="en-US" sz="1200" dirty="0"/>
          </a:p>
        </p:txBody>
      </p:sp>
      <p:sp>
        <p:nvSpPr>
          <p:cNvPr id="4" name="Shape 2"/>
          <p:cNvSpPr/>
          <p:nvPr/>
        </p:nvSpPr>
        <p:spPr>
          <a:xfrm>
            <a:off x="457200" y="1280160"/>
            <a:ext cx="3977640" cy="2286000"/>
          </a:xfrm>
          <a:prstGeom prst="roundRect">
            <a:avLst>
              <a:gd name="adj" fmla="val 4000"/>
            </a:avLst>
          </a:prstGeom>
          <a:solidFill>
            <a:srgbClr val="E3F2F1"/>
          </a:solidFill>
          <a:ln w="6350">
            <a:solidFill>
              <a:srgbClr val="E3F2F1"/>
            </a:solidFill>
            <a:prstDash val="solid"/>
          </a:ln>
        </p:spPr>
      </p:sp>
      <p:sp>
        <p:nvSpPr>
          <p:cNvPr id="5" name="Text 3"/>
          <p:cNvSpPr txBox="1"/>
          <p:nvPr/>
        </p:nvSpPr>
        <p:spPr>
          <a:xfrm>
            <a:off x="640080" y="1353312"/>
            <a:ext cx="3657600" cy="347472"/>
          </a:xfrm>
          <a:prstGeom prst="rect">
            <a:avLst/>
          </a:prstGeom>
          <a:noFill/>
          <a:ln/>
        </p:spPr>
        <p:txBody>
          <a:bodyPr wrap="square" lIns="0" tIns="0" rIns="0" bIns="0" rtlCol="0" anchor="ctr"/>
          <a:lstStyle/>
          <a:p>
            <a:pPr indent="0" marL="0">
              <a:buNone/>
            </a:pPr>
            <a:r>
              <a:rPr lang="en-US" sz="1600" b="1" dirty="0">
                <a:solidFill>
                  <a:schemeClr val="accent1"/>
                </a:solidFill>
              </a:rPr>
              <a:t>XA</a:t>
            </a:r>
            <a:pPr indent="0" marL="0">
              <a:buNone/>
            </a:pPr>
            <a:r>
              <a:rPr lang="en-US" sz="1150" i="1" dirty="0">
                <a:solidFill>
                  <a:schemeClr val="tx2"/>
                </a:solidFill>
              </a:rPr>
              <a:t>   prepare, then decide</a:t>
            </a:r>
            <a:endParaRPr lang="en-US" sz="1400" dirty="0"/>
          </a:p>
        </p:txBody>
      </p:sp>
      <p:sp>
        <p:nvSpPr>
          <p:cNvPr id="6" name="Text 4"/>
          <p:cNvSpPr/>
          <p:nvPr/>
        </p:nvSpPr>
        <p:spPr>
          <a:xfrm>
            <a:off x="640080" y="1837944"/>
            <a:ext cx="292608" cy="292608"/>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050" b="1" dirty="0">
                <a:solidFill>
                  <a:schemeClr val="bg1"/>
                </a:solidFill>
              </a:rPr>
              <a:t>1</a:t>
            </a:r>
            <a:endParaRPr lang="en-US" sz="1050" dirty="0"/>
          </a:p>
        </p:txBody>
      </p:sp>
      <p:sp>
        <p:nvSpPr>
          <p:cNvPr id="7" name="Text 5"/>
          <p:cNvSpPr txBox="1"/>
          <p:nvPr/>
        </p:nvSpPr>
        <p:spPr>
          <a:xfrm>
            <a:off x="1051560" y="1801368"/>
            <a:ext cx="3291840" cy="365760"/>
          </a:xfrm>
          <a:prstGeom prst="rect">
            <a:avLst/>
          </a:prstGeom>
          <a:noFill/>
          <a:ln/>
        </p:spPr>
        <p:txBody>
          <a:bodyPr wrap="square" lIns="0" tIns="0" rIns="0" bIns="0" rtlCol="0" anchor="ctr"/>
          <a:lstStyle/>
          <a:p>
            <a:pPr indent="0" marL="0">
              <a:buNone/>
            </a:pPr>
            <a:r>
              <a:rPr lang="en-US" sz="1200" dirty="0">
                <a:solidFill>
                  <a:schemeClr val="tx1"/>
                </a:solidFill>
              </a:rPr>
              <a:t>A and B prepare; B's prepare fails</a:t>
            </a:r>
            <a:endParaRPr lang="en-US" sz="1200" dirty="0"/>
          </a:p>
        </p:txBody>
      </p:sp>
      <p:sp>
        <p:nvSpPr>
          <p:cNvPr id="8" name="Text 6"/>
          <p:cNvSpPr/>
          <p:nvPr/>
        </p:nvSpPr>
        <p:spPr>
          <a:xfrm>
            <a:off x="640080" y="2267712"/>
            <a:ext cx="292608" cy="292608"/>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050" b="1" dirty="0">
                <a:solidFill>
                  <a:schemeClr val="bg1"/>
                </a:solidFill>
              </a:rPr>
              <a:t>2</a:t>
            </a:r>
            <a:endParaRPr lang="en-US" sz="1050" dirty="0"/>
          </a:p>
        </p:txBody>
      </p:sp>
      <p:sp>
        <p:nvSpPr>
          <p:cNvPr id="9" name="Text 7"/>
          <p:cNvSpPr txBox="1"/>
          <p:nvPr/>
        </p:nvSpPr>
        <p:spPr>
          <a:xfrm>
            <a:off x="1051560" y="2231136"/>
            <a:ext cx="3291840" cy="365760"/>
          </a:xfrm>
          <a:prstGeom prst="rect">
            <a:avLst/>
          </a:prstGeom>
          <a:noFill/>
          <a:ln/>
        </p:spPr>
        <p:txBody>
          <a:bodyPr wrap="square" lIns="0" tIns="0" rIns="0" bIns="0" rtlCol="0" anchor="ctr"/>
          <a:lstStyle/>
          <a:p>
            <a:pPr indent="0" marL="0">
              <a:buNone/>
            </a:pPr>
            <a:r>
              <a:rPr lang="en-US" sz="1200" dirty="0">
                <a:solidFill>
                  <a:schemeClr val="tx1"/>
                </a:solidFill>
              </a:rPr>
              <a:t>TC orders rollback to both databases</a:t>
            </a:r>
            <a:endParaRPr lang="en-US" sz="1200" dirty="0"/>
          </a:p>
        </p:txBody>
      </p:sp>
      <p:sp>
        <p:nvSpPr>
          <p:cNvPr id="10" name="Text 8"/>
          <p:cNvSpPr/>
          <p:nvPr/>
        </p:nvSpPr>
        <p:spPr>
          <a:xfrm>
            <a:off x="640080" y="2697480"/>
            <a:ext cx="292608" cy="292608"/>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050" b="1" dirty="0">
                <a:solidFill>
                  <a:schemeClr val="bg1"/>
                </a:solidFill>
              </a:rPr>
              <a:t>3</a:t>
            </a:r>
            <a:endParaRPr lang="en-US" sz="1050" dirty="0"/>
          </a:p>
        </p:txBody>
      </p:sp>
      <p:sp>
        <p:nvSpPr>
          <p:cNvPr id="11" name="Text 9"/>
          <p:cNvSpPr txBox="1"/>
          <p:nvPr/>
        </p:nvSpPr>
        <p:spPr>
          <a:xfrm>
            <a:off x="1051560" y="2660904"/>
            <a:ext cx="3291840" cy="365760"/>
          </a:xfrm>
          <a:prstGeom prst="rect">
            <a:avLst/>
          </a:prstGeom>
          <a:noFill/>
          <a:ln/>
        </p:spPr>
        <p:txBody>
          <a:bodyPr wrap="square" lIns="0" tIns="0" rIns="0" bIns="0" rtlCol="0" anchor="ctr"/>
          <a:lstStyle/>
          <a:p>
            <a:pPr indent="0" marL="0">
              <a:buNone/>
            </a:pPr>
            <a:r>
              <a:rPr lang="en-US" sz="1200" dirty="0">
                <a:solidFill>
                  <a:schemeClr val="tx1"/>
                </a:solidFill>
              </a:rPr>
              <a:t>A's prepared change disappears</a:t>
            </a:r>
            <a:endParaRPr lang="en-US" sz="1200" dirty="0"/>
          </a:p>
        </p:txBody>
      </p:sp>
      <p:sp>
        <p:nvSpPr>
          <p:cNvPr id="12" name="Text 10"/>
          <p:cNvSpPr/>
          <p:nvPr/>
        </p:nvSpPr>
        <p:spPr>
          <a:xfrm>
            <a:off x="640080" y="3108960"/>
            <a:ext cx="3611880" cy="365760"/>
          </a:xfrm>
          <a:prstGeom prst="roundRect">
            <a:avLst>
              <a:gd name="adj" fmla="val 20000"/>
            </a:avLst>
          </a:prstGeom>
          <a:solidFill>
            <a:schemeClr val="bg1"/>
          </a:solidFill>
          <a:ln w="12700">
            <a:solidFill>
              <a:schemeClr val="accent3"/>
            </a:solidFill>
          </a:ln>
        </p:spPr>
        <p:txBody>
          <a:bodyPr wrap="square" lIns="63500" tIns="63500" rIns="63500" bIns="63500" rtlCol="0" anchor="ctr"/>
          <a:lstStyle/>
          <a:p>
            <a:pPr algn="ctr" indent="0" marL="0">
              <a:buNone/>
            </a:pPr>
            <a:r>
              <a:rPr lang="en-US" sz="1200" b="1" dirty="0">
                <a:solidFill>
                  <a:schemeClr val="accent3"/>
                </a:solidFill>
              </a:rPr>
              <a:t>Nothing committed, no trace in history</a:t>
            </a:r>
            <a:endParaRPr lang="en-US" sz="1200" dirty="0"/>
          </a:p>
        </p:txBody>
      </p:sp>
      <p:sp>
        <p:nvSpPr>
          <p:cNvPr id="13" name="Shape 11"/>
          <p:cNvSpPr/>
          <p:nvPr/>
        </p:nvSpPr>
        <p:spPr>
          <a:xfrm>
            <a:off x="4709160" y="1280160"/>
            <a:ext cx="3977640" cy="2286000"/>
          </a:xfrm>
          <a:prstGeom prst="roundRect">
            <a:avLst>
              <a:gd name="adj" fmla="val 4000"/>
            </a:avLst>
          </a:prstGeom>
          <a:solidFill>
            <a:srgbClr val="ECECFB"/>
          </a:solidFill>
          <a:ln w="6350">
            <a:solidFill>
              <a:srgbClr val="ECECFB"/>
            </a:solidFill>
            <a:prstDash val="solid"/>
          </a:ln>
        </p:spPr>
      </p:sp>
      <p:sp>
        <p:nvSpPr>
          <p:cNvPr id="14" name="Text 12"/>
          <p:cNvSpPr txBox="1"/>
          <p:nvPr/>
        </p:nvSpPr>
        <p:spPr>
          <a:xfrm>
            <a:off x="4892040" y="1353312"/>
            <a:ext cx="3657600" cy="347472"/>
          </a:xfrm>
          <a:prstGeom prst="rect">
            <a:avLst/>
          </a:prstGeom>
          <a:noFill/>
          <a:ln/>
        </p:spPr>
        <p:txBody>
          <a:bodyPr wrap="square" lIns="0" tIns="0" rIns="0" bIns="0" rtlCol="0" anchor="ctr"/>
          <a:lstStyle/>
          <a:p>
            <a:pPr indent="0" marL="0">
              <a:buNone/>
            </a:pPr>
            <a:r>
              <a:rPr lang="en-US" sz="1600" b="1" dirty="0">
                <a:solidFill>
                  <a:schemeClr val="accent5"/>
                </a:solidFill>
              </a:rPr>
              <a:t>Saga</a:t>
            </a:r>
            <a:pPr indent="0" marL="0">
              <a:buNone/>
            </a:pPr>
            <a:r>
              <a:rPr lang="en-US" sz="1150" i="1" dirty="0">
                <a:solidFill>
                  <a:schemeClr val="tx2"/>
                </a:solidFill>
              </a:rPr>
              <a:t>   act, then compensate</a:t>
            </a:r>
            <a:endParaRPr lang="en-US" sz="1400" dirty="0"/>
          </a:p>
        </p:txBody>
      </p:sp>
      <p:sp>
        <p:nvSpPr>
          <p:cNvPr id="15" name="Text 13"/>
          <p:cNvSpPr/>
          <p:nvPr/>
        </p:nvSpPr>
        <p:spPr>
          <a:xfrm>
            <a:off x="4892040" y="1837944"/>
            <a:ext cx="292608" cy="292608"/>
          </a:xfrm>
          <a:prstGeom prst="ellipse">
            <a:avLst/>
          </a:prstGeom>
          <a:solidFill>
            <a:schemeClr val="accent5"/>
          </a:solidFill>
          <a:ln w="6350">
            <a:solidFill>
              <a:schemeClr val="accent5"/>
            </a:solidFill>
          </a:ln>
        </p:spPr>
        <p:txBody>
          <a:bodyPr wrap="square" lIns="0" tIns="0" rIns="0" bIns="0" rtlCol="0" anchor="ctr"/>
          <a:lstStyle/>
          <a:p>
            <a:pPr algn="ctr" indent="0" marL="0">
              <a:buNone/>
            </a:pPr>
            <a:r>
              <a:rPr lang="en-US" sz="1050" b="1" dirty="0">
                <a:solidFill>
                  <a:schemeClr val="bg1"/>
                </a:solidFill>
              </a:rPr>
              <a:t>1</a:t>
            </a:r>
            <a:endParaRPr lang="en-US" sz="1050" dirty="0"/>
          </a:p>
        </p:txBody>
      </p:sp>
      <p:sp>
        <p:nvSpPr>
          <p:cNvPr id="16" name="Text 14"/>
          <p:cNvSpPr txBox="1"/>
          <p:nvPr/>
        </p:nvSpPr>
        <p:spPr>
          <a:xfrm>
            <a:off x="5303520" y="1801368"/>
            <a:ext cx="3291840" cy="365760"/>
          </a:xfrm>
          <a:prstGeom prst="rect">
            <a:avLst/>
          </a:prstGeom>
          <a:noFill/>
          <a:ln/>
        </p:spPr>
        <p:txBody>
          <a:bodyPr wrap="square" lIns="0" tIns="0" rIns="0" bIns="0" rtlCol="0" anchor="ctr"/>
          <a:lstStyle/>
          <a:p>
            <a:pPr indent="0" marL="0">
              <a:buNone/>
            </a:pPr>
            <a:r>
              <a:rPr lang="en-US" sz="1200" dirty="0">
                <a:solidFill>
                  <a:schemeClr val="tx1"/>
                </a:solidFill>
              </a:rPr>
              <a:t>Debit A is committed: A = 4,000</a:t>
            </a:r>
            <a:endParaRPr lang="en-US" sz="1200" dirty="0"/>
          </a:p>
        </p:txBody>
      </p:sp>
      <p:sp>
        <p:nvSpPr>
          <p:cNvPr id="17" name="Text 15"/>
          <p:cNvSpPr/>
          <p:nvPr/>
        </p:nvSpPr>
        <p:spPr>
          <a:xfrm>
            <a:off x="4892040" y="2267712"/>
            <a:ext cx="292608" cy="292608"/>
          </a:xfrm>
          <a:prstGeom prst="ellipse">
            <a:avLst/>
          </a:prstGeom>
          <a:solidFill>
            <a:schemeClr val="accent5"/>
          </a:solidFill>
          <a:ln w="6350">
            <a:solidFill>
              <a:schemeClr val="accent5"/>
            </a:solidFill>
          </a:ln>
        </p:spPr>
        <p:txBody>
          <a:bodyPr wrap="square" lIns="0" tIns="0" rIns="0" bIns="0" rtlCol="0" anchor="ctr"/>
          <a:lstStyle/>
          <a:p>
            <a:pPr algn="ctr" indent="0" marL="0">
              <a:buNone/>
            </a:pPr>
            <a:r>
              <a:rPr lang="en-US" sz="1050" b="1" dirty="0">
                <a:solidFill>
                  <a:schemeClr val="bg1"/>
                </a:solidFill>
              </a:rPr>
              <a:t>2</a:t>
            </a:r>
            <a:endParaRPr lang="en-US" sz="1050" dirty="0"/>
          </a:p>
        </p:txBody>
      </p:sp>
      <p:sp>
        <p:nvSpPr>
          <p:cNvPr id="18" name="Text 16"/>
          <p:cNvSpPr txBox="1"/>
          <p:nvPr/>
        </p:nvSpPr>
        <p:spPr>
          <a:xfrm>
            <a:off x="5303520" y="2231136"/>
            <a:ext cx="3291840" cy="365760"/>
          </a:xfrm>
          <a:prstGeom prst="rect">
            <a:avLst/>
          </a:prstGeom>
          <a:noFill/>
          <a:ln/>
        </p:spPr>
        <p:txBody>
          <a:bodyPr wrap="square" lIns="0" tIns="0" rIns="0" bIns="0" rtlCol="0" anchor="ctr"/>
          <a:lstStyle/>
          <a:p>
            <a:pPr indent="0" marL="0">
              <a:buNone/>
            </a:pPr>
            <a:r>
              <a:rPr lang="en-US" sz="1200" dirty="0">
                <a:solidFill>
                  <a:schemeClr val="tx1"/>
                </a:solidFill>
              </a:rPr>
              <a:t>Credit B fails</a:t>
            </a:r>
            <a:endParaRPr lang="en-US" sz="1200" dirty="0"/>
          </a:p>
        </p:txBody>
      </p:sp>
      <p:sp>
        <p:nvSpPr>
          <p:cNvPr id="19" name="Text 17"/>
          <p:cNvSpPr/>
          <p:nvPr/>
        </p:nvSpPr>
        <p:spPr>
          <a:xfrm>
            <a:off x="4892040" y="2697480"/>
            <a:ext cx="292608" cy="292608"/>
          </a:xfrm>
          <a:prstGeom prst="ellipse">
            <a:avLst/>
          </a:prstGeom>
          <a:solidFill>
            <a:schemeClr val="accent5"/>
          </a:solidFill>
          <a:ln w="6350">
            <a:solidFill>
              <a:schemeClr val="accent5"/>
            </a:solidFill>
          </a:ln>
        </p:spPr>
        <p:txBody>
          <a:bodyPr wrap="square" lIns="0" tIns="0" rIns="0" bIns="0" rtlCol="0" anchor="ctr"/>
          <a:lstStyle/>
          <a:p>
            <a:pPr algn="ctr" indent="0" marL="0">
              <a:buNone/>
            </a:pPr>
            <a:r>
              <a:rPr lang="en-US" sz="1050" b="1" dirty="0">
                <a:solidFill>
                  <a:schemeClr val="bg1"/>
                </a:solidFill>
              </a:rPr>
              <a:t>3</a:t>
            </a:r>
            <a:endParaRPr lang="en-US" sz="1050" dirty="0"/>
          </a:p>
        </p:txBody>
      </p:sp>
      <p:sp>
        <p:nvSpPr>
          <p:cNvPr id="20" name="Text 18"/>
          <p:cNvSpPr txBox="1"/>
          <p:nvPr/>
        </p:nvSpPr>
        <p:spPr>
          <a:xfrm>
            <a:off x="5303520" y="2660904"/>
            <a:ext cx="3291840" cy="365760"/>
          </a:xfrm>
          <a:prstGeom prst="rect">
            <a:avLst/>
          </a:prstGeom>
          <a:noFill/>
          <a:ln/>
        </p:spPr>
        <p:txBody>
          <a:bodyPr wrap="square" lIns="0" tIns="0" rIns="0" bIns="0" rtlCol="0" anchor="ctr"/>
          <a:lstStyle/>
          <a:p>
            <a:pPr indent="0" marL="0">
              <a:buNone/>
            </a:pPr>
            <a:r>
              <a:rPr lang="en-US" sz="1200" dirty="0">
                <a:solidFill>
                  <a:schemeClr val="tx1"/>
                </a:solidFill>
              </a:rPr>
              <a:t>Compensation: reversal credit, A = 5,000</a:t>
            </a:r>
            <a:endParaRPr lang="en-US" sz="1200" dirty="0"/>
          </a:p>
        </p:txBody>
      </p:sp>
      <p:sp>
        <p:nvSpPr>
          <p:cNvPr id="21" name="Text 19"/>
          <p:cNvSpPr/>
          <p:nvPr/>
        </p:nvSpPr>
        <p:spPr>
          <a:xfrm>
            <a:off x="4892040" y="3108960"/>
            <a:ext cx="3611880" cy="365760"/>
          </a:xfrm>
          <a:prstGeom prst="roundRect">
            <a:avLst>
              <a:gd name="adj" fmla="val 20000"/>
            </a:avLst>
          </a:prstGeom>
          <a:solidFill>
            <a:schemeClr val="bg1"/>
          </a:solidFill>
          <a:ln w="12700">
            <a:solidFill>
              <a:schemeClr val="accent2"/>
            </a:solidFill>
          </a:ln>
        </p:spPr>
        <p:txBody>
          <a:bodyPr wrap="square" lIns="63500" tIns="63500" rIns="63500" bIns="63500" rtlCol="0" anchor="ctr"/>
          <a:lstStyle/>
          <a:p>
            <a:pPr algn="ctr" indent="0" marL="0">
              <a:buNone/>
            </a:pPr>
            <a:r>
              <a:rPr lang="en-US" sz="1200" b="1" dirty="0">
                <a:solidFill>
                  <a:schemeClr val="accent2"/>
                </a:solidFill>
              </a:rPr>
              <a:t>History shows debit + reversal</a:t>
            </a:r>
            <a:endParaRPr lang="en-US" sz="1200" dirty="0"/>
          </a:p>
        </p:txBody>
      </p:sp>
      <p:sp>
        <p:nvSpPr>
          <p:cNvPr id="22" name="Shape 20"/>
          <p:cNvSpPr/>
          <p:nvPr/>
        </p:nvSpPr>
        <p:spPr>
          <a:xfrm>
            <a:off x="457200" y="3657600"/>
            <a:ext cx="8229600" cy="411480"/>
          </a:xfrm>
          <a:prstGeom prst="roundRect">
            <a:avLst>
              <a:gd name="adj" fmla="val 17778"/>
            </a:avLst>
          </a:prstGeom>
          <a:solidFill>
            <a:schemeClr val="tx1"/>
          </a:solidFill>
          <a:ln w="6350">
            <a:solidFill>
              <a:schemeClr val="tx1"/>
            </a:solidFill>
            <a:prstDash val="solid"/>
          </a:ln>
        </p:spPr>
      </p:sp>
      <p:sp>
        <p:nvSpPr>
          <p:cNvPr id="23" name="Text 21"/>
          <p:cNvSpPr txBox="1"/>
          <p:nvPr/>
        </p:nvSpPr>
        <p:spPr>
          <a:xfrm>
            <a:off x="640080" y="3657600"/>
            <a:ext cx="7863840" cy="411480"/>
          </a:xfrm>
          <a:prstGeom prst="rect">
            <a:avLst/>
          </a:prstGeom>
          <a:noFill/>
          <a:ln/>
        </p:spPr>
        <p:txBody>
          <a:bodyPr wrap="square" lIns="0" tIns="0" rIns="0" bIns="0" rtlCol="0" anchor="ctr"/>
          <a:lstStyle/>
          <a:p>
            <a:pPr indent="0" marL="0">
              <a:buNone/>
            </a:pPr>
            <a:r>
              <a:rPr lang="en-US" sz="1250" b="1" dirty="0">
                <a:solidFill>
                  <a:srgbClr val="7FD3CF"/>
                </a:solidFill>
              </a:rPr>
              <a:t>Key difference: </a:t>
            </a:r>
            <a:pPr indent="0" marL="0">
              <a:buNone/>
            </a:pPr>
            <a:r>
              <a:rPr lang="en-US" sz="1250" dirty="0">
                <a:solidFill>
                  <a:schemeClr val="bg1"/>
                </a:solidFill>
              </a:rPr>
              <a:t>XA undoes the change inside the database. Saga runs a new business action to fix it.</a:t>
            </a:r>
            <a:endParaRPr lang="en-US" sz="1250" dirty="0"/>
          </a:p>
        </p:txBody>
      </p:sp>
      <p:sp>
        <p:nvSpPr>
          <p:cNvPr id="24" name="Shape 22"/>
          <p:cNvSpPr/>
          <p:nvPr/>
        </p:nvSpPr>
        <p:spPr>
          <a:xfrm>
            <a:off x="457200" y="4160520"/>
            <a:ext cx="3977640" cy="502920"/>
          </a:xfrm>
          <a:prstGeom prst="roundRect">
            <a:avLst>
              <a:gd name="adj" fmla="val 14545"/>
            </a:avLst>
          </a:prstGeom>
          <a:solidFill>
            <a:schemeClr val="bg2"/>
          </a:solidFill>
          <a:ln w="6350">
            <a:solidFill>
              <a:srgbClr val="E1E6EB"/>
            </a:solidFill>
            <a:prstDash val="solid"/>
          </a:ln>
        </p:spPr>
      </p:sp>
      <p:sp>
        <p:nvSpPr>
          <p:cNvPr id="25" name="Text 23"/>
          <p:cNvSpPr txBox="1"/>
          <p:nvPr/>
        </p:nvSpPr>
        <p:spPr>
          <a:xfrm>
            <a:off x="640080" y="4178808"/>
            <a:ext cx="3611880" cy="466344"/>
          </a:xfrm>
          <a:prstGeom prst="rect">
            <a:avLst/>
          </a:prstGeom>
          <a:noFill/>
          <a:ln/>
        </p:spPr>
        <p:txBody>
          <a:bodyPr wrap="square" lIns="0" tIns="0" rIns="0" bIns="0" rtlCol="0" anchor="ctr"/>
          <a:lstStyle/>
          <a:p>
            <a:pPr indent="0" marL="0">
              <a:buNone/>
            </a:pPr>
            <a:r>
              <a:rPr lang="en-US" sz="1100" b="1" dirty="0">
                <a:solidFill>
                  <a:schemeClr val="accent1"/>
                </a:solidFill>
              </a:rPr>
              <a:t>Pick XA when: </a:t>
            </a:r>
            <a:pPr indent="0" marL="0">
              <a:buNone/>
            </a:pPr>
            <a:r>
              <a:rPr lang="en-US" sz="1100" dirty="0">
                <a:solidFill>
                  <a:schemeClr val="tx1"/>
                </a:solidFill>
              </a:rPr>
              <a:t>a short core transfer across our own XA databases.</a:t>
            </a:r>
            <a:endParaRPr lang="en-US" sz="1100" dirty="0"/>
          </a:p>
        </p:txBody>
      </p:sp>
      <p:sp>
        <p:nvSpPr>
          <p:cNvPr id="26" name="Shape 24"/>
          <p:cNvSpPr/>
          <p:nvPr/>
        </p:nvSpPr>
        <p:spPr>
          <a:xfrm>
            <a:off x="4709160" y="4160520"/>
            <a:ext cx="3977640" cy="502920"/>
          </a:xfrm>
          <a:prstGeom prst="roundRect">
            <a:avLst>
              <a:gd name="adj" fmla="val 14545"/>
            </a:avLst>
          </a:prstGeom>
          <a:solidFill>
            <a:schemeClr val="bg2"/>
          </a:solidFill>
          <a:ln w="6350">
            <a:solidFill>
              <a:srgbClr val="E1E6EB"/>
            </a:solidFill>
            <a:prstDash val="solid"/>
          </a:ln>
        </p:spPr>
      </p:sp>
      <p:sp>
        <p:nvSpPr>
          <p:cNvPr id="27" name="Text 25"/>
          <p:cNvSpPr txBox="1"/>
          <p:nvPr/>
        </p:nvSpPr>
        <p:spPr>
          <a:xfrm>
            <a:off x="4892040" y="4178808"/>
            <a:ext cx="3611880" cy="466344"/>
          </a:xfrm>
          <a:prstGeom prst="rect">
            <a:avLst/>
          </a:prstGeom>
          <a:noFill/>
          <a:ln/>
        </p:spPr>
        <p:txBody>
          <a:bodyPr wrap="square" lIns="0" tIns="0" rIns="0" bIns="0" rtlCol="0" anchor="ctr"/>
          <a:lstStyle/>
          <a:p>
            <a:pPr indent="0" marL="0">
              <a:buNone/>
            </a:pPr>
            <a:r>
              <a:rPr lang="en-US" sz="1100" b="1" dirty="0">
                <a:solidFill>
                  <a:schemeClr val="accent5"/>
                </a:solidFill>
              </a:rPr>
              <a:t>Pick Saga when: </a:t>
            </a:r>
            <a:pPr indent="0" marL="0">
              <a:buNone/>
            </a:pPr>
            <a:r>
              <a:rPr lang="en-US" sz="1100" dirty="0">
                <a:solidFill>
                  <a:schemeClr val="tx1"/>
                </a:solidFill>
              </a:rPr>
              <a:t>a long workflow or external system: loan approval, card gateway.</a:t>
            </a:r>
            <a:endParaRPr lang="en-US" sz="11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XA vs TCC: two ways to stop double spending</a:t>
            </a:r>
            <a:endParaRPr lang="en-US" sz="2400" dirty="0"/>
          </a:p>
        </p:txBody>
      </p:sp>
      <p:sp>
        <p:nvSpPr>
          <p:cNvPr id="3" name="Text 1"/>
          <p:cNvSpPr txBox="1"/>
          <p:nvPr/>
        </p:nvSpPr>
        <p:spPr>
          <a:xfrm>
            <a:off x="457200" y="914400"/>
            <a:ext cx="8229600" cy="274320"/>
          </a:xfrm>
          <a:prstGeom prst="rect">
            <a:avLst/>
          </a:prstGeom>
          <a:noFill/>
          <a:ln/>
        </p:spPr>
        <p:txBody>
          <a:bodyPr wrap="square" lIns="0" tIns="0" rIns="0" bIns="0" rtlCol="0" anchor="t"/>
          <a:lstStyle/>
          <a:p>
            <a:pPr indent="0" marL="0">
              <a:buNone/>
            </a:pPr>
            <a:r>
              <a:rPr lang="en-US" sz="1200" b="1" i="1" dirty="0">
                <a:solidFill>
                  <a:schemeClr val="tx2"/>
                </a:solidFill>
              </a:rPr>
              <a:t>Scenario: </a:t>
            </a:r>
            <a:pPr indent="0" marL="0">
              <a:buNone/>
            </a:pPr>
            <a:r>
              <a:rPr lang="en-US" sz="1200" i="1" dirty="0">
                <a:solidFill>
                  <a:schemeClr val="tx2"/>
                </a:solidFill>
              </a:rPr>
              <a:t>A has 1,000. Transfer 1 sends 1,000 to B; transfer 2 sends 800 to C at the same time.</a:t>
            </a:r>
            <a:endParaRPr lang="en-US" sz="1200" dirty="0"/>
          </a:p>
        </p:txBody>
      </p:sp>
      <p:sp>
        <p:nvSpPr>
          <p:cNvPr id="4" name="Shape 2"/>
          <p:cNvSpPr/>
          <p:nvPr/>
        </p:nvSpPr>
        <p:spPr>
          <a:xfrm>
            <a:off x="457200" y="1280160"/>
            <a:ext cx="3977640" cy="2286000"/>
          </a:xfrm>
          <a:prstGeom prst="roundRect">
            <a:avLst>
              <a:gd name="adj" fmla="val 4000"/>
            </a:avLst>
          </a:prstGeom>
          <a:solidFill>
            <a:srgbClr val="E3F2F1"/>
          </a:solidFill>
          <a:ln w="6350">
            <a:solidFill>
              <a:srgbClr val="E3F2F1"/>
            </a:solidFill>
            <a:prstDash val="solid"/>
          </a:ln>
        </p:spPr>
      </p:sp>
      <p:sp>
        <p:nvSpPr>
          <p:cNvPr id="5" name="Text 3"/>
          <p:cNvSpPr txBox="1"/>
          <p:nvPr/>
        </p:nvSpPr>
        <p:spPr>
          <a:xfrm>
            <a:off x="640080" y="1353312"/>
            <a:ext cx="3657600" cy="347472"/>
          </a:xfrm>
          <a:prstGeom prst="rect">
            <a:avLst/>
          </a:prstGeom>
          <a:noFill/>
          <a:ln/>
        </p:spPr>
        <p:txBody>
          <a:bodyPr wrap="square" lIns="0" tIns="0" rIns="0" bIns="0" rtlCol="0" anchor="ctr"/>
          <a:lstStyle/>
          <a:p>
            <a:pPr indent="0" marL="0">
              <a:buNone/>
            </a:pPr>
            <a:r>
              <a:rPr lang="en-US" sz="1600" b="1" dirty="0">
                <a:solidFill>
                  <a:schemeClr val="accent1"/>
                </a:solidFill>
              </a:rPr>
              <a:t>XA</a:t>
            </a:r>
            <a:pPr indent="0" marL="0">
              <a:buNone/>
            </a:pPr>
            <a:r>
              <a:rPr lang="en-US" sz="1150" i="1" dirty="0">
                <a:solidFill>
                  <a:schemeClr val="tx2"/>
                </a:solidFill>
              </a:rPr>
              <a:t>   prepare, then decide</a:t>
            </a:r>
            <a:endParaRPr lang="en-US" sz="1400" dirty="0"/>
          </a:p>
        </p:txBody>
      </p:sp>
      <p:sp>
        <p:nvSpPr>
          <p:cNvPr id="6" name="Text 4"/>
          <p:cNvSpPr/>
          <p:nvPr/>
        </p:nvSpPr>
        <p:spPr>
          <a:xfrm>
            <a:off x="640080" y="1837944"/>
            <a:ext cx="292608" cy="292608"/>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050" b="1" dirty="0">
                <a:solidFill>
                  <a:schemeClr val="bg1"/>
                </a:solidFill>
              </a:rPr>
              <a:t>1</a:t>
            </a:r>
            <a:endParaRPr lang="en-US" sz="1050" dirty="0"/>
          </a:p>
        </p:txBody>
      </p:sp>
      <p:sp>
        <p:nvSpPr>
          <p:cNvPr id="7" name="Text 5"/>
          <p:cNvSpPr txBox="1"/>
          <p:nvPr/>
        </p:nvSpPr>
        <p:spPr>
          <a:xfrm>
            <a:off x="1051560" y="1801368"/>
            <a:ext cx="3291840" cy="365760"/>
          </a:xfrm>
          <a:prstGeom prst="rect">
            <a:avLst/>
          </a:prstGeom>
          <a:noFill/>
          <a:ln/>
        </p:spPr>
        <p:txBody>
          <a:bodyPr wrap="square" lIns="0" tIns="0" rIns="0" bIns="0" rtlCol="0" anchor="ctr"/>
          <a:lstStyle/>
          <a:p>
            <a:pPr indent="0" marL="0">
              <a:buNone/>
            </a:pPr>
            <a:r>
              <a:rPr lang="en-US" sz="1200" dirty="0">
                <a:solidFill>
                  <a:schemeClr val="tx1"/>
                </a:solidFill>
              </a:rPr>
              <a:t>Transfer 1 prepares, locks A's row</a:t>
            </a:r>
            <a:endParaRPr lang="en-US" sz="1200" dirty="0"/>
          </a:p>
        </p:txBody>
      </p:sp>
      <p:sp>
        <p:nvSpPr>
          <p:cNvPr id="8" name="Text 6"/>
          <p:cNvSpPr/>
          <p:nvPr/>
        </p:nvSpPr>
        <p:spPr>
          <a:xfrm>
            <a:off x="640080" y="2267712"/>
            <a:ext cx="292608" cy="292608"/>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050" b="1" dirty="0">
                <a:solidFill>
                  <a:schemeClr val="bg1"/>
                </a:solidFill>
              </a:rPr>
              <a:t>2</a:t>
            </a:r>
            <a:endParaRPr lang="en-US" sz="1050" dirty="0"/>
          </a:p>
        </p:txBody>
      </p:sp>
      <p:sp>
        <p:nvSpPr>
          <p:cNvPr id="9" name="Text 7"/>
          <p:cNvSpPr txBox="1"/>
          <p:nvPr/>
        </p:nvSpPr>
        <p:spPr>
          <a:xfrm>
            <a:off x="1051560" y="2231136"/>
            <a:ext cx="3291840" cy="365760"/>
          </a:xfrm>
          <a:prstGeom prst="rect">
            <a:avLst/>
          </a:prstGeom>
          <a:noFill/>
          <a:ln/>
        </p:spPr>
        <p:txBody>
          <a:bodyPr wrap="square" lIns="0" tIns="0" rIns="0" bIns="0" rtlCol="0" anchor="ctr"/>
          <a:lstStyle/>
          <a:p>
            <a:pPr indent="0" marL="0">
              <a:buNone/>
            </a:pPr>
            <a:r>
              <a:rPr lang="en-US" sz="1200" dirty="0">
                <a:solidFill>
                  <a:schemeClr val="tx1"/>
                </a:solidFill>
              </a:rPr>
              <a:t>Transfer 2 waits on the database lock</a:t>
            </a:r>
            <a:endParaRPr lang="en-US" sz="1200" dirty="0"/>
          </a:p>
        </p:txBody>
      </p:sp>
      <p:sp>
        <p:nvSpPr>
          <p:cNvPr id="10" name="Text 8"/>
          <p:cNvSpPr/>
          <p:nvPr/>
        </p:nvSpPr>
        <p:spPr>
          <a:xfrm>
            <a:off x="640080" y="2697480"/>
            <a:ext cx="292608" cy="292608"/>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050" b="1" dirty="0">
                <a:solidFill>
                  <a:schemeClr val="bg1"/>
                </a:solidFill>
              </a:rPr>
              <a:t>3</a:t>
            </a:r>
            <a:endParaRPr lang="en-US" sz="1050" dirty="0"/>
          </a:p>
        </p:txBody>
      </p:sp>
      <p:sp>
        <p:nvSpPr>
          <p:cNvPr id="11" name="Text 9"/>
          <p:cNvSpPr txBox="1"/>
          <p:nvPr/>
        </p:nvSpPr>
        <p:spPr>
          <a:xfrm>
            <a:off x="1051560" y="2660904"/>
            <a:ext cx="3291840" cy="365760"/>
          </a:xfrm>
          <a:prstGeom prst="rect">
            <a:avLst/>
          </a:prstGeom>
          <a:noFill/>
          <a:ln/>
        </p:spPr>
        <p:txBody>
          <a:bodyPr wrap="square" lIns="0" tIns="0" rIns="0" bIns="0" rtlCol="0" anchor="ctr"/>
          <a:lstStyle/>
          <a:p>
            <a:pPr indent="0" marL="0">
              <a:buNone/>
            </a:pPr>
            <a:r>
              <a:rPr lang="en-US" sz="1200" dirty="0">
                <a:solidFill>
                  <a:schemeClr val="tx1"/>
                </a:solidFill>
              </a:rPr>
              <a:t>Transfer 1 commits, A = 0; transfer 2 rejected</a:t>
            </a:r>
            <a:endParaRPr lang="en-US" sz="1200" dirty="0"/>
          </a:p>
        </p:txBody>
      </p:sp>
      <p:sp>
        <p:nvSpPr>
          <p:cNvPr id="12" name="Text 10"/>
          <p:cNvSpPr/>
          <p:nvPr/>
        </p:nvSpPr>
        <p:spPr>
          <a:xfrm>
            <a:off x="640080" y="3108960"/>
            <a:ext cx="3611880" cy="365760"/>
          </a:xfrm>
          <a:prstGeom prst="roundRect">
            <a:avLst>
              <a:gd name="adj" fmla="val 20000"/>
            </a:avLst>
          </a:prstGeom>
          <a:solidFill>
            <a:schemeClr val="bg1"/>
          </a:solidFill>
          <a:ln w="12700">
            <a:solidFill>
              <a:schemeClr val="accent3"/>
            </a:solidFill>
          </a:ln>
        </p:spPr>
        <p:txBody>
          <a:bodyPr wrap="square" lIns="63500" tIns="63500" rIns="63500" bIns="63500" rtlCol="0" anchor="ctr"/>
          <a:lstStyle/>
          <a:p>
            <a:pPr algn="ctr" indent="0" marL="0">
              <a:buNone/>
            </a:pPr>
            <a:r>
              <a:rPr lang="en-US" sz="1200" b="1" dirty="0">
                <a:solidFill>
                  <a:schemeClr val="accent3"/>
                </a:solidFill>
              </a:rPr>
              <a:t>Database locks protect the rule</a:t>
            </a:r>
            <a:endParaRPr lang="en-US" sz="1200" dirty="0"/>
          </a:p>
        </p:txBody>
      </p:sp>
      <p:sp>
        <p:nvSpPr>
          <p:cNvPr id="13" name="Shape 11"/>
          <p:cNvSpPr/>
          <p:nvPr/>
        </p:nvSpPr>
        <p:spPr>
          <a:xfrm>
            <a:off x="4709160" y="1280160"/>
            <a:ext cx="3977640" cy="2286000"/>
          </a:xfrm>
          <a:prstGeom prst="roundRect">
            <a:avLst>
              <a:gd name="adj" fmla="val 4000"/>
            </a:avLst>
          </a:prstGeom>
          <a:solidFill>
            <a:srgbClr val="FDF3E2"/>
          </a:solidFill>
          <a:ln w="6350">
            <a:solidFill>
              <a:srgbClr val="FDF3E2"/>
            </a:solidFill>
            <a:prstDash val="solid"/>
          </a:ln>
        </p:spPr>
      </p:sp>
      <p:sp>
        <p:nvSpPr>
          <p:cNvPr id="14" name="Text 12"/>
          <p:cNvSpPr txBox="1"/>
          <p:nvPr/>
        </p:nvSpPr>
        <p:spPr>
          <a:xfrm>
            <a:off x="4892040" y="1353312"/>
            <a:ext cx="3657600" cy="347472"/>
          </a:xfrm>
          <a:prstGeom prst="rect">
            <a:avLst/>
          </a:prstGeom>
          <a:noFill/>
          <a:ln/>
        </p:spPr>
        <p:txBody>
          <a:bodyPr wrap="square" lIns="0" tIns="0" rIns="0" bIns="0" rtlCol="0" anchor="ctr"/>
          <a:lstStyle/>
          <a:p>
            <a:pPr indent="0" marL="0">
              <a:buNone/>
            </a:pPr>
            <a:r>
              <a:rPr lang="en-US" sz="1600" b="1" dirty="0">
                <a:solidFill>
                  <a:schemeClr val="accent4"/>
                </a:solidFill>
              </a:rPr>
              <a:t>TCC</a:t>
            </a:r>
            <a:pPr indent="0" marL="0">
              <a:buNone/>
            </a:pPr>
            <a:r>
              <a:rPr lang="en-US" sz="1150" i="1" dirty="0">
                <a:solidFill>
                  <a:schemeClr val="tx2"/>
                </a:solidFill>
              </a:rPr>
              <a:t>   reserve, then confirm</a:t>
            </a:r>
            <a:endParaRPr lang="en-US" sz="1400" dirty="0"/>
          </a:p>
        </p:txBody>
      </p:sp>
      <p:sp>
        <p:nvSpPr>
          <p:cNvPr id="15" name="Text 13"/>
          <p:cNvSpPr/>
          <p:nvPr/>
        </p:nvSpPr>
        <p:spPr>
          <a:xfrm>
            <a:off x="4892040" y="1837944"/>
            <a:ext cx="292608" cy="292608"/>
          </a:xfrm>
          <a:prstGeom prst="ellipse">
            <a:avLst/>
          </a:prstGeom>
          <a:solidFill>
            <a:schemeClr val="accent4"/>
          </a:solidFill>
          <a:ln w="6350">
            <a:solidFill>
              <a:schemeClr val="accent4"/>
            </a:solidFill>
          </a:ln>
        </p:spPr>
        <p:txBody>
          <a:bodyPr wrap="square" lIns="0" tIns="0" rIns="0" bIns="0" rtlCol="0" anchor="ctr"/>
          <a:lstStyle/>
          <a:p>
            <a:pPr algn="ctr" indent="0" marL="0">
              <a:buNone/>
            </a:pPr>
            <a:r>
              <a:rPr lang="en-US" sz="1050" b="1" dirty="0">
                <a:solidFill>
                  <a:schemeClr val="bg1"/>
                </a:solidFill>
              </a:rPr>
              <a:t>1</a:t>
            </a:r>
            <a:endParaRPr lang="en-US" sz="1050" dirty="0"/>
          </a:p>
        </p:txBody>
      </p:sp>
      <p:sp>
        <p:nvSpPr>
          <p:cNvPr id="16" name="Text 14"/>
          <p:cNvSpPr txBox="1"/>
          <p:nvPr/>
        </p:nvSpPr>
        <p:spPr>
          <a:xfrm>
            <a:off x="5303520" y="1801368"/>
            <a:ext cx="3291840" cy="365760"/>
          </a:xfrm>
          <a:prstGeom prst="rect">
            <a:avLst/>
          </a:prstGeom>
          <a:noFill/>
          <a:ln/>
        </p:spPr>
        <p:txBody>
          <a:bodyPr wrap="square" lIns="0" tIns="0" rIns="0" bIns="0" rtlCol="0" anchor="ctr"/>
          <a:lstStyle/>
          <a:p>
            <a:pPr indent="0" marL="0">
              <a:buNone/>
            </a:pPr>
            <a:r>
              <a:rPr lang="en-US" sz="1200" dirty="0">
                <a:solidFill>
                  <a:schemeClr val="tx1"/>
                </a:solidFill>
              </a:rPr>
              <a:t>Transfer 1 Try: hold 1,000, spendable = 0</a:t>
            </a:r>
            <a:endParaRPr lang="en-US" sz="1200" dirty="0"/>
          </a:p>
        </p:txBody>
      </p:sp>
      <p:sp>
        <p:nvSpPr>
          <p:cNvPr id="17" name="Text 15"/>
          <p:cNvSpPr/>
          <p:nvPr/>
        </p:nvSpPr>
        <p:spPr>
          <a:xfrm>
            <a:off x="4892040" y="2267712"/>
            <a:ext cx="292608" cy="292608"/>
          </a:xfrm>
          <a:prstGeom prst="ellipse">
            <a:avLst/>
          </a:prstGeom>
          <a:solidFill>
            <a:schemeClr val="accent4"/>
          </a:solidFill>
          <a:ln w="6350">
            <a:solidFill>
              <a:schemeClr val="accent4"/>
            </a:solidFill>
          </a:ln>
        </p:spPr>
        <p:txBody>
          <a:bodyPr wrap="square" lIns="0" tIns="0" rIns="0" bIns="0" rtlCol="0" anchor="ctr"/>
          <a:lstStyle/>
          <a:p>
            <a:pPr algn="ctr" indent="0" marL="0">
              <a:buNone/>
            </a:pPr>
            <a:r>
              <a:rPr lang="en-US" sz="1050" b="1" dirty="0">
                <a:solidFill>
                  <a:schemeClr val="bg1"/>
                </a:solidFill>
              </a:rPr>
              <a:t>2</a:t>
            </a:r>
            <a:endParaRPr lang="en-US" sz="1050" dirty="0"/>
          </a:p>
        </p:txBody>
      </p:sp>
      <p:sp>
        <p:nvSpPr>
          <p:cNvPr id="18" name="Text 16"/>
          <p:cNvSpPr txBox="1"/>
          <p:nvPr/>
        </p:nvSpPr>
        <p:spPr>
          <a:xfrm>
            <a:off x="5303520" y="2231136"/>
            <a:ext cx="3291840" cy="365760"/>
          </a:xfrm>
          <a:prstGeom prst="rect">
            <a:avLst/>
          </a:prstGeom>
          <a:noFill/>
          <a:ln/>
        </p:spPr>
        <p:txBody>
          <a:bodyPr wrap="square" lIns="0" tIns="0" rIns="0" bIns="0" rtlCol="0" anchor="ctr"/>
          <a:lstStyle/>
          <a:p>
            <a:pPr indent="0" marL="0">
              <a:buNone/>
            </a:pPr>
            <a:r>
              <a:rPr lang="en-US" sz="1200" dirty="0">
                <a:solidFill>
                  <a:schemeClr val="tx1"/>
                </a:solidFill>
              </a:rPr>
              <a:t>Transfer 2 Try sees spendable 0: rejected</a:t>
            </a:r>
            <a:endParaRPr lang="en-US" sz="1200" dirty="0"/>
          </a:p>
        </p:txBody>
      </p:sp>
      <p:sp>
        <p:nvSpPr>
          <p:cNvPr id="19" name="Text 17"/>
          <p:cNvSpPr/>
          <p:nvPr/>
        </p:nvSpPr>
        <p:spPr>
          <a:xfrm>
            <a:off x="4892040" y="2697480"/>
            <a:ext cx="292608" cy="292608"/>
          </a:xfrm>
          <a:prstGeom prst="ellipse">
            <a:avLst/>
          </a:prstGeom>
          <a:solidFill>
            <a:schemeClr val="accent4"/>
          </a:solidFill>
          <a:ln w="6350">
            <a:solidFill>
              <a:schemeClr val="accent4"/>
            </a:solidFill>
          </a:ln>
        </p:spPr>
        <p:txBody>
          <a:bodyPr wrap="square" lIns="0" tIns="0" rIns="0" bIns="0" rtlCol="0" anchor="ctr"/>
          <a:lstStyle/>
          <a:p>
            <a:pPr algn="ctr" indent="0" marL="0">
              <a:buNone/>
            </a:pPr>
            <a:r>
              <a:rPr lang="en-US" sz="1050" b="1" dirty="0">
                <a:solidFill>
                  <a:schemeClr val="bg1"/>
                </a:solidFill>
              </a:rPr>
              <a:t>3</a:t>
            </a:r>
            <a:endParaRPr lang="en-US" sz="1050" dirty="0"/>
          </a:p>
        </p:txBody>
      </p:sp>
      <p:sp>
        <p:nvSpPr>
          <p:cNvPr id="20" name="Text 18"/>
          <p:cNvSpPr txBox="1"/>
          <p:nvPr/>
        </p:nvSpPr>
        <p:spPr>
          <a:xfrm>
            <a:off x="5303520" y="2660904"/>
            <a:ext cx="3291840" cy="365760"/>
          </a:xfrm>
          <a:prstGeom prst="rect">
            <a:avLst/>
          </a:prstGeom>
          <a:noFill/>
          <a:ln/>
        </p:spPr>
        <p:txBody>
          <a:bodyPr wrap="square" lIns="0" tIns="0" rIns="0" bIns="0" rtlCol="0" anchor="ctr"/>
          <a:lstStyle/>
          <a:p>
            <a:pPr indent="0" marL="0">
              <a:buNone/>
            </a:pPr>
            <a:r>
              <a:rPr lang="en-US" sz="1200" dirty="0">
                <a:solidFill>
                  <a:schemeClr val="tx1"/>
                </a:solidFill>
              </a:rPr>
              <a:t>Transfer 1 Confirm: money moves to B</a:t>
            </a:r>
            <a:endParaRPr lang="en-US" sz="1200" dirty="0"/>
          </a:p>
        </p:txBody>
      </p:sp>
      <p:sp>
        <p:nvSpPr>
          <p:cNvPr id="21" name="Text 19"/>
          <p:cNvSpPr/>
          <p:nvPr/>
        </p:nvSpPr>
        <p:spPr>
          <a:xfrm>
            <a:off x="4892040" y="3108960"/>
            <a:ext cx="3611880" cy="365760"/>
          </a:xfrm>
          <a:prstGeom prst="roundRect">
            <a:avLst>
              <a:gd name="adj" fmla="val 20000"/>
            </a:avLst>
          </a:prstGeom>
          <a:solidFill>
            <a:schemeClr val="bg1"/>
          </a:solidFill>
          <a:ln w="12700">
            <a:solidFill>
              <a:schemeClr val="accent3"/>
            </a:solidFill>
          </a:ln>
        </p:spPr>
        <p:txBody>
          <a:bodyPr wrap="square" lIns="63500" tIns="63500" rIns="63500" bIns="63500" rtlCol="0" anchor="ctr"/>
          <a:lstStyle/>
          <a:p>
            <a:pPr algn="ctr" indent="0" marL="0">
              <a:buNone/>
            </a:pPr>
            <a:r>
              <a:rPr lang="en-US" sz="1200" b="1" dirty="0">
                <a:solidFill>
                  <a:schemeClr val="accent3"/>
                </a:solidFill>
              </a:rPr>
              <a:t>Your reservation logic protects the rule</a:t>
            </a:r>
            <a:endParaRPr lang="en-US" sz="1200" dirty="0"/>
          </a:p>
        </p:txBody>
      </p:sp>
      <p:sp>
        <p:nvSpPr>
          <p:cNvPr id="22" name="Shape 20"/>
          <p:cNvSpPr/>
          <p:nvPr/>
        </p:nvSpPr>
        <p:spPr>
          <a:xfrm>
            <a:off x="457200" y="3657600"/>
            <a:ext cx="8229600" cy="411480"/>
          </a:xfrm>
          <a:prstGeom prst="roundRect">
            <a:avLst>
              <a:gd name="adj" fmla="val 17778"/>
            </a:avLst>
          </a:prstGeom>
          <a:solidFill>
            <a:schemeClr val="tx1"/>
          </a:solidFill>
          <a:ln w="6350">
            <a:solidFill>
              <a:schemeClr val="tx1"/>
            </a:solidFill>
            <a:prstDash val="solid"/>
          </a:ln>
        </p:spPr>
      </p:sp>
      <p:sp>
        <p:nvSpPr>
          <p:cNvPr id="23" name="Text 21"/>
          <p:cNvSpPr txBox="1"/>
          <p:nvPr/>
        </p:nvSpPr>
        <p:spPr>
          <a:xfrm>
            <a:off x="640080" y="3657600"/>
            <a:ext cx="7863840" cy="411480"/>
          </a:xfrm>
          <a:prstGeom prst="rect">
            <a:avLst/>
          </a:prstGeom>
          <a:noFill/>
          <a:ln/>
        </p:spPr>
        <p:txBody>
          <a:bodyPr wrap="square" lIns="0" tIns="0" rIns="0" bIns="0" rtlCol="0" anchor="ctr"/>
          <a:lstStyle/>
          <a:p>
            <a:pPr indent="0" marL="0">
              <a:buNone/>
            </a:pPr>
            <a:r>
              <a:rPr lang="en-US" sz="1250" b="1" dirty="0">
                <a:solidFill>
                  <a:srgbClr val="7FD3CF"/>
                </a:solidFill>
              </a:rPr>
              <a:t>Key difference: </a:t>
            </a:r>
            <a:pPr indent="0" marL="0">
              <a:buNone/>
            </a:pPr>
            <a:r>
              <a:rPr lang="en-US" sz="1250" dirty="0">
                <a:solidFill>
                  <a:schemeClr val="bg1"/>
                </a:solidFill>
              </a:rPr>
              <a:t>XA isolates with database locks. TCC isolates with business reservations you design.</a:t>
            </a:r>
            <a:endParaRPr lang="en-US" sz="1250" dirty="0"/>
          </a:p>
        </p:txBody>
      </p:sp>
      <p:sp>
        <p:nvSpPr>
          <p:cNvPr id="24" name="Shape 22"/>
          <p:cNvSpPr/>
          <p:nvPr/>
        </p:nvSpPr>
        <p:spPr>
          <a:xfrm>
            <a:off x="457200" y="4160520"/>
            <a:ext cx="3977640" cy="502920"/>
          </a:xfrm>
          <a:prstGeom prst="roundRect">
            <a:avLst>
              <a:gd name="adj" fmla="val 14545"/>
            </a:avLst>
          </a:prstGeom>
          <a:solidFill>
            <a:schemeClr val="bg2"/>
          </a:solidFill>
          <a:ln w="6350">
            <a:solidFill>
              <a:srgbClr val="E1E6EB"/>
            </a:solidFill>
            <a:prstDash val="solid"/>
          </a:ln>
        </p:spPr>
      </p:sp>
      <p:sp>
        <p:nvSpPr>
          <p:cNvPr id="25" name="Text 23"/>
          <p:cNvSpPr txBox="1"/>
          <p:nvPr/>
        </p:nvSpPr>
        <p:spPr>
          <a:xfrm>
            <a:off x="640080" y="4178808"/>
            <a:ext cx="3611880" cy="466344"/>
          </a:xfrm>
          <a:prstGeom prst="rect">
            <a:avLst/>
          </a:prstGeom>
          <a:noFill/>
          <a:ln/>
        </p:spPr>
        <p:txBody>
          <a:bodyPr wrap="square" lIns="0" tIns="0" rIns="0" bIns="0" rtlCol="0" anchor="ctr"/>
          <a:lstStyle/>
          <a:p>
            <a:pPr indent="0" marL="0">
              <a:buNone/>
            </a:pPr>
            <a:r>
              <a:rPr lang="en-US" sz="1100" b="1" dirty="0">
                <a:solidFill>
                  <a:schemeClr val="accent1"/>
                </a:solidFill>
              </a:rPr>
              <a:t>Pick XA when: </a:t>
            </a:r>
            <a:pPr indent="0" marL="0">
              <a:buNone/>
            </a:pPr>
            <a:r>
              <a:rPr lang="en-US" sz="1100" dirty="0">
                <a:solidFill>
                  <a:schemeClr val="tx1"/>
                </a:solidFill>
              </a:rPr>
              <a:t>databases support XA, transfers are short and you want less code.</a:t>
            </a:r>
            <a:endParaRPr lang="en-US" sz="1100" dirty="0"/>
          </a:p>
        </p:txBody>
      </p:sp>
      <p:sp>
        <p:nvSpPr>
          <p:cNvPr id="26" name="Shape 24"/>
          <p:cNvSpPr/>
          <p:nvPr/>
        </p:nvSpPr>
        <p:spPr>
          <a:xfrm>
            <a:off x="4709160" y="4160520"/>
            <a:ext cx="3977640" cy="502920"/>
          </a:xfrm>
          <a:prstGeom prst="roundRect">
            <a:avLst>
              <a:gd name="adj" fmla="val 14545"/>
            </a:avLst>
          </a:prstGeom>
          <a:solidFill>
            <a:schemeClr val="bg2"/>
          </a:solidFill>
          <a:ln w="6350">
            <a:solidFill>
              <a:srgbClr val="E1E6EB"/>
            </a:solidFill>
            <a:prstDash val="solid"/>
          </a:ln>
        </p:spPr>
      </p:sp>
      <p:sp>
        <p:nvSpPr>
          <p:cNvPr id="27" name="Text 25"/>
          <p:cNvSpPr txBox="1"/>
          <p:nvPr/>
        </p:nvSpPr>
        <p:spPr>
          <a:xfrm>
            <a:off x="4892040" y="4178808"/>
            <a:ext cx="3611880" cy="466344"/>
          </a:xfrm>
          <a:prstGeom prst="rect">
            <a:avLst/>
          </a:prstGeom>
          <a:noFill/>
          <a:ln/>
        </p:spPr>
        <p:txBody>
          <a:bodyPr wrap="square" lIns="0" tIns="0" rIns="0" bIns="0" rtlCol="0" anchor="ctr"/>
          <a:lstStyle/>
          <a:p>
            <a:pPr indent="0" marL="0">
              <a:buNone/>
            </a:pPr>
            <a:r>
              <a:rPr lang="en-US" sz="1100" b="1" dirty="0">
                <a:solidFill>
                  <a:schemeClr val="accent4"/>
                </a:solidFill>
              </a:rPr>
              <a:t>Pick TCC when: </a:t>
            </a:r>
            <a:pPr indent="0" marL="0">
              <a:buNone/>
            </a:pPr>
            <a:r>
              <a:rPr lang="en-US" sz="1100" dirty="0">
                <a:solidFill>
                  <a:schemeClr val="tx1"/>
                </a:solidFill>
              </a:rPr>
              <a:t>high throughput, no long DB locks, clear reserve rules.</a:t>
            </a:r>
            <a:endParaRPr lang="en-US" sz="11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AT vs TCC: change then undo, or hold then confirm</a:t>
            </a:r>
            <a:endParaRPr lang="en-US" sz="2400" dirty="0"/>
          </a:p>
        </p:txBody>
      </p:sp>
      <p:sp>
        <p:nvSpPr>
          <p:cNvPr id="3" name="Text 1"/>
          <p:cNvSpPr txBox="1"/>
          <p:nvPr/>
        </p:nvSpPr>
        <p:spPr>
          <a:xfrm>
            <a:off x="457200" y="914400"/>
            <a:ext cx="8229600" cy="274320"/>
          </a:xfrm>
          <a:prstGeom prst="rect">
            <a:avLst/>
          </a:prstGeom>
          <a:noFill/>
          <a:ln/>
        </p:spPr>
        <p:txBody>
          <a:bodyPr wrap="square" lIns="0" tIns="0" rIns="0" bIns="0" rtlCol="0" anchor="t"/>
          <a:lstStyle/>
          <a:p>
            <a:pPr indent="0" marL="0">
              <a:buNone/>
            </a:pPr>
            <a:r>
              <a:rPr lang="en-US" sz="1200" b="1" i="1" dirty="0">
                <a:solidFill>
                  <a:schemeClr val="tx2"/>
                </a:solidFill>
              </a:rPr>
              <a:t>Scenario: </a:t>
            </a:r>
            <a:pPr indent="0" marL="0">
              <a:buNone/>
            </a:pPr>
            <a:r>
              <a:rPr lang="en-US" sz="1200" i="1" dirty="0">
                <a:solidFill>
                  <a:schemeClr val="tx2"/>
                </a:solidFill>
              </a:rPr>
              <a:t>Transfer A to B, 1,000. B's step fails.</a:t>
            </a:r>
            <a:endParaRPr lang="en-US" sz="1200" dirty="0"/>
          </a:p>
        </p:txBody>
      </p:sp>
      <p:sp>
        <p:nvSpPr>
          <p:cNvPr id="4" name="Shape 2"/>
          <p:cNvSpPr/>
          <p:nvPr/>
        </p:nvSpPr>
        <p:spPr>
          <a:xfrm>
            <a:off x="457200" y="1280160"/>
            <a:ext cx="3977640" cy="2286000"/>
          </a:xfrm>
          <a:prstGeom prst="roundRect">
            <a:avLst>
              <a:gd name="adj" fmla="val 4000"/>
            </a:avLst>
          </a:prstGeom>
          <a:solidFill>
            <a:srgbClr val="FDF3E2"/>
          </a:solidFill>
          <a:ln w="6350">
            <a:solidFill>
              <a:srgbClr val="FDF3E2"/>
            </a:solidFill>
            <a:prstDash val="solid"/>
          </a:ln>
        </p:spPr>
      </p:sp>
      <p:sp>
        <p:nvSpPr>
          <p:cNvPr id="5" name="Text 3"/>
          <p:cNvSpPr txBox="1"/>
          <p:nvPr/>
        </p:nvSpPr>
        <p:spPr>
          <a:xfrm>
            <a:off x="640080" y="1353312"/>
            <a:ext cx="3657600" cy="347472"/>
          </a:xfrm>
          <a:prstGeom prst="rect">
            <a:avLst/>
          </a:prstGeom>
          <a:noFill/>
          <a:ln/>
        </p:spPr>
        <p:txBody>
          <a:bodyPr wrap="square" lIns="0" tIns="0" rIns="0" bIns="0" rtlCol="0" anchor="ctr"/>
          <a:lstStyle/>
          <a:p>
            <a:pPr indent="0" marL="0">
              <a:buNone/>
            </a:pPr>
            <a:r>
              <a:rPr lang="en-US" sz="1600" b="1" dirty="0">
                <a:solidFill>
                  <a:schemeClr val="accent4"/>
                </a:solidFill>
              </a:rPr>
              <a:t>AT</a:t>
            </a:r>
            <a:pPr indent="0" marL="0">
              <a:buNone/>
            </a:pPr>
            <a:r>
              <a:rPr lang="en-US" sz="1150" i="1" dirty="0">
                <a:solidFill>
                  <a:schemeClr val="tx2"/>
                </a:solidFill>
              </a:rPr>
              <a:t>   commit + undo log</a:t>
            </a:r>
            <a:endParaRPr lang="en-US" sz="1400" dirty="0"/>
          </a:p>
        </p:txBody>
      </p:sp>
      <p:sp>
        <p:nvSpPr>
          <p:cNvPr id="6" name="Text 4"/>
          <p:cNvSpPr/>
          <p:nvPr/>
        </p:nvSpPr>
        <p:spPr>
          <a:xfrm>
            <a:off x="640080" y="1837944"/>
            <a:ext cx="292608" cy="292608"/>
          </a:xfrm>
          <a:prstGeom prst="ellipse">
            <a:avLst/>
          </a:prstGeom>
          <a:solidFill>
            <a:schemeClr val="accent4"/>
          </a:solidFill>
          <a:ln w="6350">
            <a:solidFill>
              <a:schemeClr val="accent4"/>
            </a:solidFill>
          </a:ln>
        </p:spPr>
        <p:txBody>
          <a:bodyPr wrap="square" lIns="0" tIns="0" rIns="0" bIns="0" rtlCol="0" anchor="ctr"/>
          <a:lstStyle/>
          <a:p>
            <a:pPr algn="ctr" indent="0" marL="0">
              <a:buNone/>
            </a:pPr>
            <a:r>
              <a:rPr lang="en-US" sz="1050" b="1" dirty="0">
                <a:solidFill>
                  <a:schemeClr val="bg1"/>
                </a:solidFill>
              </a:rPr>
              <a:t>1</a:t>
            </a:r>
            <a:endParaRPr lang="en-US" sz="1050" dirty="0"/>
          </a:p>
        </p:txBody>
      </p:sp>
      <p:sp>
        <p:nvSpPr>
          <p:cNvPr id="7" name="Text 5"/>
          <p:cNvSpPr txBox="1"/>
          <p:nvPr/>
        </p:nvSpPr>
        <p:spPr>
          <a:xfrm>
            <a:off x="1051560" y="1801368"/>
            <a:ext cx="3291840" cy="365760"/>
          </a:xfrm>
          <a:prstGeom prst="rect">
            <a:avLst/>
          </a:prstGeom>
          <a:noFill/>
          <a:ln/>
        </p:spPr>
        <p:txBody>
          <a:bodyPr wrap="square" lIns="0" tIns="0" rIns="0" bIns="0" rtlCol="0" anchor="ctr"/>
          <a:lstStyle/>
          <a:p>
            <a:pPr indent="0" marL="0">
              <a:buNone/>
            </a:pPr>
            <a:r>
              <a:rPr lang="en-US" sz="1200" dirty="0">
                <a:solidFill>
                  <a:schemeClr val="tx1"/>
                </a:solidFill>
              </a:rPr>
              <a:t>Debit A committed: 4,000, undo log saved</a:t>
            </a:r>
            <a:endParaRPr lang="en-US" sz="1200" dirty="0"/>
          </a:p>
        </p:txBody>
      </p:sp>
      <p:sp>
        <p:nvSpPr>
          <p:cNvPr id="8" name="Text 6"/>
          <p:cNvSpPr/>
          <p:nvPr/>
        </p:nvSpPr>
        <p:spPr>
          <a:xfrm>
            <a:off x="640080" y="2267712"/>
            <a:ext cx="292608" cy="292608"/>
          </a:xfrm>
          <a:prstGeom prst="ellipse">
            <a:avLst/>
          </a:prstGeom>
          <a:solidFill>
            <a:schemeClr val="accent4"/>
          </a:solidFill>
          <a:ln w="6350">
            <a:solidFill>
              <a:schemeClr val="accent4"/>
            </a:solidFill>
          </a:ln>
        </p:spPr>
        <p:txBody>
          <a:bodyPr wrap="square" lIns="0" tIns="0" rIns="0" bIns="0" rtlCol="0" anchor="ctr"/>
          <a:lstStyle/>
          <a:p>
            <a:pPr algn="ctr" indent="0" marL="0">
              <a:buNone/>
            </a:pPr>
            <a:r>
              <a:rPr lang="en-US" sz="1050" b="1" dirty="0">
                <a:solidFill>
                  <a:schemeClr val="bg1"/>
                </a:solidFill>
              </a:rPr>
              <a:t>2</a:t>
            </a:r>
            <a:endParaRPr lang="en-US" sz="1050" dirty="0"/>
          </a:p>
        </p:txBody>
      </p:sp>
      <p:sp>
        <p:nvSpPr>
          <p:cNvPr id="9" name="Text 7"/>
          <p:cNvSpPr txBox="1"/>
          <p:nvPr/>
        </p:nvSpPr>
        <p:spPr>
          <a:xfrm>
            <a:off x="1051560" y="2231136"/>
            <a:ext cx="3291840" cy="365760"/>
          </a:xfrm>
          <a:prstGeom prst="rect">
            <a:avLst/>
          </a:prstGeom>
          <a:noFill/>
          <a:ln/>
        </p:spPr>
        <p:txBody>
          <a:bodyPr wrap="square" lIns="0" tIns="0" rIns="0" bIns="0" rtlCol="0" anchor="ctr"/>
          <a:lstStyle/>
          <a:p>
            <a:pPr indent="0" marL="0">
              <a:buNone/>
            </a:pPr>
            <a:r>
              <a:rPr lang="en-US" sz="1200" dirty="0">
                <a:solidFill>
                  <a:schemeClr val="tx1"/>
                </a:solidFill>
              </a:rPr>
              <a:t>B's step fails</a:t>
            </a:r>
            <a:endParaRPr lang="en-US" sz="1200" dirty="0"/>
          </a:p>
        </p:txBody>
      </p:sp>
      <p:sp>
        <p:nvSpPr>
          <p:cNvPr id="10" name="Text 8"/>
          <p:cNvSpPr/>
          <p:nvPr/>
        </p:nvSpPr>
        <p:spPr>
          <a:xfrm>
            <a:off x="640080" y="2697480"/>
            <a:ext cx="292608" cy="292608"/>
          </a:xfrm>
          <a:prstGeom prst="ellipse">
            <a:avLst/>
          </a:prstGeom>
          <a:solidFill>
            <a:schemeClr val="accent4"/>
          </a:solidFill>
          <a:ln w="6350">
            <a:solidFill>
              <a:schemeClr val="accent4"/>
            </a:solidFill>
          </a:ln>
        </p:spPr>
        <p:txBody>
          <a:bodyPr wrap="square" lIns="0" tIns="0" rIns="0" bIns="0" rtlCol="0" anchor="ctr"/>
          <a:lstStyle/>
          <a:p>
            <a:pPr algn="ctr" indent="0" marL="0">
              <a:buNone/>
            </a:pPr>
            <a:r>
              <a:rPr lang="en-US" sz="1050" b="1" dirty="0">
                <a:solidFill>
                  <a:schemeClr val="bg1"/>
                </a:solidFill>
              </a:rPr>
              <a:t>3</a:t>
            </a:r>
            <a:endParaRPr lang="en-US" sz="1050" dirty="0"/>
          </a:p>
        </p:txBody>
      </p:sp>
      <p:sp>
        <p:nvSpPr>
          <p:cNvPr id="11" name="Text 9"/>
          <p:cNvSpPr txBox="1"/>
          <p:nvPr/>
        </p:nvSpPr>
        <p:spPr>
          <a:xfrm>
            <a:off x="1051560" y="2660904"/>
            <a:ext cx="3291840" cy="365760"/>
          </a:xfrm>
          <a:prstGeom prst="rect">
            <a:avLst/>
          </a:prstGeom>
          <a:noFill/>
          <a:ln/>
        </p:spPr>
        <p:txBody>
          <a:bodyPr wrap="square" lIns="0" tIns="0" rIns="0" bIns="0" rtlCol="0" anchor="ctr"/>
          <a:lstStyle/>
          <a:p>
            <a:pPr indent="0" marL="0">
              <a:buNone/>
            </a:pPr>
            <a:r>
              <a:rPr lang="en-US" sz="1200" dirty="0">
                <a:solidFill>
                  <a:schemeClr val="tx1"/>
                </a:solidFill>
              </a:rPr>
              <a:t>Seata restores A to 5,000 automatically</a:t>
            </a:r>
            <a:endParaRPr lang="en-US" sz="1200" dirty="0"/>
          </a:p>
        </p:txBody>
      </p:sp>
      <p:sp>
        <p:nvSpPr>
          <p:cNvPr id="12" name="Text 10"/>
          <p:cNvSpPr/>
          <p:nvPr/>
        </p:nvSpPr>
        <p:spPr>
          <a:xfrm>
            <a:off x="640080" y="3108960"/>
            <a:ext cx="3611880" cy="365760"/>
          </a:xfrm>
          <a:prstGeom prst="roundRect">
            <a:avLst>
              <a:gd name="adj" fmla="val 20000"/>
            </a:avLst>
          </a:prstGeom>
          <a:solidFill>
            <a:schemeClr val="bg1"/>
          </a:solidFill>
          <a:ln w="12700">
            <a:solidFill>
              <a:schemeClr val="accent2"/>
            </a:solidFill>
          </a:ln>
        </p:spPr>
        <p:txBody>
          <a:bodyPr wrap="square" lIns="63500" tIns="63500" rIns="63500" bIns="63500" rtlCol="0" anchor="ctr"/>
          <a:lstStyle/>
          <a:p>
            <a:pPr algn="ctr" indent="0" marL="0">
              <a:buNone/>
            </a:pPr>
            <a:r>
              <a:rPr lang="en-US" sz="1200" b="1" dirty="0">
                <a:solidFill>
                  <a:schemeClr val="accent2"/>
                </a:solidFill>
              </a:rPr>
              <a:t>Others could see 4,000 for a moment</a:t>
            </a:r>
            <a:endParaRPr lang="en-US" sz="1200" dirty="0"/>
          </a:p>
        </p:txBody>
      </p:sp>
      <p:sp>
        <p:nvSpPr>
          <p:cNvPr id="13" name="Shape 11"/>
          <p:cNvSpPr/>
          <p:nvPr/>
        </p:nvSpPr>
        <p:spPr>
          <a:xfrm>
            <a:off x="4709160" y="1280160"/>
            <a:ext cx="3977640" cy="2286000"/>
          </a:xfrm>
          <a:prstGeom prst="roundRect">
            <a:avLst>
              <a:gd name="adj" fmla="val 4000"/>
            </a:avLst>
          </a:prstGeom>
          <a:solidFill>
            <a:srgbClr val="FDF3E2"/>
          </a:solidFill>
          <a:ln w="6350">
            <a:solidFill>
              <a:srgbClr val="FDF3E2"/>
            </a:solidFill>
            <a:prstDash val="solid"/>
          </a:ln>
        </p:spPr>
      </p:sp>
      <p:sp>
        <p:nvSpPr>
          <p:cNvPr id="14" name="Text 12"/>
          <p:cNvSpPr txBox="1"/>
          <p:nvPr/>
        </p:nvSpPr>
        <p:spPr>
          <a:xfrm>
            <a:off x="4892040" y="1353312"/>
            <a:ext cx="3657600" cy="347472"/>
          </a:xfrm>
          <a:prstGeom prst="rect">
            <a:avLst/>
          </a:prstGeom>
          <a:noFill/>
          <a:ln/>
        </p:spPr>
        <p:txBody>
          <a:bodyPr wrap="square" lIns="0" tIns="0" rIns="0" bIns="0" rtlCol="0" anchor="ctr"/>
          <a:lstStyle/>
          <a:p>
            <a:pPr indent="0" marL="0">
              <a:buNone/>
            </a:pPr>
            <a:r>
              <a:rPr lang="en-US" sz="1600" b="1" dirty="0">
                <a:solidFill>
                  <a:schemeClr val="accent4"/>
                </a:solidFill>
              </a:rPr>
              <a:t>TCC</a:t>
            </a:r>
            <a:pPr indent="0" marL="0">
              <a:buNone/>
            </a:pPr>
            <a:r>
              <a:rPr lang="en-US" sz="1150" i="1" dirty="0">
                <a:solidFill>
                  <a:schemeClr val="tx2"/>
                </a:solidFill>
              </a:rPr>
              <a:t>   reserve, then confirm</a:t>
            </a:r>
            <a:endParaRPr lang="en-US" sz="1400" dirty="0"/>
          </a:p>
        </p:txBody>
      </p:sp>
      <p:sp>
        <p:nvSpPr>
          <p:cNvPr id="15" name="Text 13"/>
          <p:cNvSpPr/>
          <p:nvPr/>
        </p:nvSpPr>
        <p:spPr>
          <a:xfrm>
            <a:off x="4892040" y="1837944"/>
            <a:ext cx="292608" cy="292608"/>
          </a:xfrm>
          <a:prstGeom prst="ellipse">
            <a:avLst/>
          </a:prstGeom>
          <a:solidFill>
            <a:schemeClr val="accent4"/>
          </a:solidFill>
          <a:ln w="6350">
            <a:solidFill>
              <a:schemeClr val="accent4"/>
            </a:solidFill>
          </a:ln>
        </p:spPr>
        <p:txBody>
          <a:bodyPr wrap="square" lIns="0" tIns="0" rIns="0" bIns="0" rtlCol="0" anchor="ctr"/>
          <a:lstStyle/>
          <a:p>
            <a:pPr algn="ctr" indent="0" marL="0">
              <a:buNone/>
            </a:pPr>
            <a:r>
              <a:rPr lang="en-US" sz="1050" b="1" dirty="0">
                <a:solidFill>
                  <a:schemeClr val="bg1"/>
                </a:solidFill>
              </a:rPr>
              <a:t>1</a:t>
            </a:r>
            <a:endParaRPr lang="en-US" sz="1050" dirty="0"/>
          </a:p>
        </p:txBody>
      </p:sp>
      <p:sp>
        <p:nvSpPr>
          <p:cNvPr id="16" name="Text 14"/>
          <p:cNvSpPr txBox="1"/>
          <p:nvPr/>
        </p:nvSpPr>
        <p:spPr>
          <a:xfrm>
            <a:off x="5303520" y="1801368"/>
            <a:ext cx="3291840" cy="365760"/>
          </a:xfrm>
          <a:prstGeom prst="rect">
            <a:avLst/>
          </a:prstGeom>
          <a:noFill/>
          <a:ln/>
        </p:spPr>
        <p:txBody>
          <a:bodyPr wrap="square" lIns="0" tIns="0" rIns="0" bIns="0" rtlCol="0" anchor="ctr"/>
          <a:lstStyle/>
          <a:p>
            <a:pPr indent="0" marL="0">
              <a:buNone/>
            </a:pPr>
            <a:r>
              <a:rPr lang="en-US" sz="1200" dirty="0">
                <a:solidFill>
                  <a:schemeClr val="tx1"/>
                </a:solidFill>
              </a:rPr>
              <a:t>Try: hold 1,000; real balance stays 5,000</a:t>
            </a:r>
            <a:endParaRPr lang="en-US" sz="1200" dirty="0"/>
          </a:p>
        </p:txBody>
      </p:sp>
      <p:sp>
        <p:nvSpPr>
          <p:cNvPr id="17" name="Text 15"/>
          <p:cNvSpPr/>
          <p:nvPr/>
        </p:nvSpPr>
        <p:spPr>
          <a:xfrm>
            <a:off x="4892040" y="2267712"/>
            <a:ext cx="292608" cy="292608"/>
          </a:xfrm>
          <a:prstGeom prst="ellipse">
            <a:avLst/>
          </a:prstGeom>
          <a:solidFill>
            <a:schemeClr val="accent4"/>
          </a:solidFill>
          <a:ln w="6350">
            <a:solidFill>
              <a:schemeClr val="accent4"/>
            </a:solidFill>
          </a:ln>
        </p:spPr>
        <p:txBody>
          <a:bodyPr wrap="square" lIns="0" tIns="0" rIns="0" bIns="0" rtlCol="0" anchor="ctr"/>
          <a:lstStyle/>
          <a:p>
            <a:pPr algn="ctr" indent="0" marL="0">
              <a:buNone/>
            </a:pPr>
            <a:r>
              <a:rPr lang="en-US" sz="1050" b="1" dirty="0">
                <a:solidFill>
                  <a:schemeClr val="bg1"/>
                </a:solidFill>
              </a:rPr>
              <a:t>2</a:t>
            </a:r>
            <a:endParaRPr lang="en-US" sz="1050" dirty="0"/>
          </a:p>
        </p:txBody>
      </p:sp>
      <p:sp>
        <p:nvSpPr>
          <p:cNvPr id="18" name="Text 16"/>
          <p:cNvSpPr txBox="1"/>
          <p:nvPr/>
        </p:nvSpPr>
        <p:spPr>
          <a:xfrm>
            <a:off x="5303520" y="2231136"/>
            <a:ext cx="3291840" cy="365760"/>
          </a:xfrm>
          <a:prstGeom prst="rect">
            <a:avLst/>
          </a:prstGeom>
          <a:noFill/>
          <a:ln/>
        </p:spPr>
        <p:txBody>
          <a:bodyPr wrap="square" lIns="0" tIns="0" rIns="0" bIns="0" rtlCol="0" anchor="ctr"/>
          <a:lstStyle/>
          <a:p>
            <a:pPr indent="0" marL="0">
              <a:buNone/>
            </a:pPr>
            <a:r>
              <a:rPr lang="en-US" sz="1200" dirty="0">
                <a:solidFill>
                  <a:schemeClr val="tx1"/>
                </a:solidFill>
              </a:rPr>
              <a:t>B's Try fails</a:t>
            </a:r>
            <a:endParaRPr lang="en-US" sz="1200" dirty="0"/>
          </a:p>
        </p:txBody>
      </p:sp>
      <p:sp>
        <p:nvSpPr>
          <p:cNvPr id="19" name="Text 17"/>
          <p:cNvSpPr/>
          <p:nvPr/>
        </p:nvSpPr>
        <p:spPr>
          <a:xfrm>
            <a:off x="4892040" y="2697480"/>
            <a:ext cx="292608" cy="292608"/>
          </a:xfrm>
          <a:prstGeom prst="ellipse">
            <a:avLst/>
          </a:prstGeom>
          <a:solidFill>
            <a:schemeClr val="accent4"/>
          </a:solidFill>
          <a:ln w="6350">
            <a:solidFill>
              <a:schemeClr val="accent4"/>
            </a:solidFill>
          </a:ln>
        </p:spPr>
        <p:txBody>
          <a:bodyPr wrap="square" lIns="0" tIns="0" rIns="0" bIns="0" rtlCol="0" anchor="ctr"/>
          <a:lstStyle/>
          <a:p>
            <a:pPr algn="ctr" indent="0" marL="0">
              <a:buNone/>
            </a:pPr>
            <a:r>
              <a:rPr lang="en-US" sz="1050" b="1" dirty="0">
                <a:solidFill>
                  <a:schemeClr val="bg1"/>
                </a:solidFill>
              </a:rPr>
              <a:t>3</a:t>
            </a:r>
            <a:endParaRPr lang="en-US" sz="1050" dirty="0"/>
          </a:p>
        </p:txBody>
      </p:sp>
      <p:sp>
        <p:nvSpPr>
          <p:cNvPr id="20" name="Text 18"/>
          <p:cNvSpPr txBox="1"/>
          <p:nvPr/>
        </p:nvSpPr>
        <p:spPr>
          <a:xfrm>
            <a:off x="5303520" y="2660904"/>
            <a:ext cx="3291840" cy="365760"/>
          </a:xfrm>
          <a:prstGeom prst="rect">
            <a:avLst/>
          </a:prstGeom>
          <a:noFill/>
          <a:ln/>
        </p:spPr>
        <p:txBody>
          <a:bodyPr wrap="square" lIns="0" tIns="0" rIns="0" bIns="0" rtlCol="0" anchor="ctr"/>
          <a:lstStyle/>
          <a:p>
            <a:pPr indent="0" marL="0">
              <a:buNone/>
            </a:pPr>
            <a:r>
              <a:rPr lang="en-US" sz="1200" dirty="0">
                <a:solidFill>
                  <a:schemeClr val="tx1"/>
                </a:solidFill>
              </a:rPr>
              <a:t>Your Cancel releases the hold</a:t>
            </a:r>
            <a:endParaRPr lang="en-US" sz="1200" dirty="0"/>
          </a:p>
        </p:txBody>
      </p:sp>
      <p:sp>
        <p:nvSpPr>
          <p:cNvPr id="21" name="Text 19"/>
          <p:cNvSpPr/>
          <p:nvPr/>
        </p:nvSpPr>
        <p:spPr>
          <a:xfrm>
            <a:off x="4892040" y="3108960"/>
            <a:ext cx="3611880" cy="365760"/>
          </a:xfrm>
          <a:prstGeom prst="roundRect">
            <a:avLst>
              <a:gd name="adj" fmla="val 20000"/>
            </a:avLst>
          </a:prstGeom>
          <a:solidFill>
            <a:schemeClr val="bg1"/>
          </a:solidFill>
          <a:ln w="12700">
            <a:solidFill>
              <a:schemeClr val="accent3"/>
            </a:solidFill>
          </a:ln>
        </p:spPr>
        <p:txBody>
          <a:bodyPr wrap="square" lIns="63500" tIns="63500" rIns="63500" bIns="63500" rtlCol="0" anchor="ctr"/>
          <a:lstStyle/>
          <a:p>
            <a:pPr algn="ctr" indent="0" marL="0">
              <a:buNone/>
            </a:pPr>
            <a:r>
              <a:rPr lang="en-US" sz="1200" b="1" dirty="0">
                <a:solidFill>
                  <a:schemeClr val="accent3"/>
                </a:solidFill>
              </a:rPr>
              <a:t>Balance never changed; only a hold existed</a:t>
            </a:r>
            <a:endParaRPr lang="en-US" sz="1200" dirty="0"/>
          </a:p>
        </p:txBody>
      </p:sp>
      <p:sp>
        <p:nvSpPr>
          <p:cNvPr id="22" name="Shape 20"/>
          <p:cNvSpPr/>
          <p:nvPr/>
        </p:nvSpPr>
        <p:spPr>
          <a:xfrm>
            <a:off x="457200" y="3657600"/>
            <a:ext cx="8229600" cy="411480"/>
          </a:xfrm>
          <a:prstGeom prst="roundRect">
            <a:avLst>
              <a:gd name="adj" fmla="val 17778"/>
            </a:avLst>
          </a:prstGeom>
          <a:solidFill>
            <a:schemeClr val="tx1"/>
          </a:solidFill>
          <a:ln w="6350">
            <a:solidFill>
              <a:schemeClr val="tx1"/>
            </a:solidFill>
            <a:prstDash val="solid"/>
          </a:ln>
        </p:spPr>
      </p:sp>
      <p:sp>
        <p:nvSpPr>
          <p:cNvPr id="23" name="Text 21"/>
          <p:cNvSpPr txBox="1"/>
          <p:nvPr/>
        </p:nvSpPr>
        <p:spPr>
          <a:xfrm>
            <a:off x="640080" y="3657600"/>
            <a:ext cx="7863840" cy="411480"/>
          </a:xfrm>
          <a:prstGeom prst="rect">
            <a:avLst/>
          </a:prstGeom>
          <a:noFill/>
          <a:ln/>
        </p:spPr>
        <p:txBody>
          <a:bodyPr wrap="square" lIns="0" tIns="0" rIns="0" bIns="0" rtlCol="0" anchor="ctr"/>
          <a:lstStyle/>
          <a:p>
            <a:pPr indent="0" marL="0">
              <a:buNone/>
            </a:pPr>
            <a:r>
              <a:rPr lang="en-US" sz="1250" b="1" dirty="0">
                <a:solidFill>
                  <a:srgbClr val="7FD3CF"/>
                </a:solidFill>
              </a:rPr>
              <a:t>Key difference: </a:t>
            </a:r>
            <a:pPr indent="0" marL="0">
              <a:buNone/>
            </a:pPr>
            <a:r>
              <a:rPr lang="en-US" sz="1250" dirty="0">
                <a:solidFill>
                  <a:schemeClr val="bg1"/>
                </a:solidFill>
              </a:rPr>
              <a:t>AT changes the data, then undoes it. TCC never changes the real balance until Confirm.</a:t>
            </a:r>
            <a:endParaRPr lang="en-US" sz="1250" dirty="0"/>
          </a:p>
        </p:txBody>
      </p:sp>
      <p:sp>
        <p:nvSpPr>
          <p:cNvPr id="24" name="Shape 22"/>
          <p:cNvSpPr/>
          <p:nvPr/>
        </p:nvSpPr>
        <p:spPr>
          <a:xfrm>
            <a:off x="457200" y="4160520"/>
            <a:ext cx="3977640" cy="502920"/>
          </a:xfrm>
          <a:prstGeom prst="roundRect">
            <a:avLst>
              <a:gd name="adj" fmla="val 14545"/>
            </a:avLst>
          </a:prstGeom>
          <a:solidFill>
            <a:schemeClr val="bg2"/>
          </a:solidFill>
          <a:ln w="6350">
            <a:solidFill>
              <a:srgbClr val="E1E6EB"/>
            </a:solidFill>
            <a:prstDash val="solid"/>
          </a:ln>
        </p:spPr>
      </p:sp>
      <p:sp>
        <p:nvSpPr>
          <p:cNvPr id="25" name="Text 23"/>
          <p:cNvSpPr txBox="1"/>
          <p:nvPr/>
        </p:nvSpPr>
        <p:spPr>
          <a:xfrm>
            <a:off x="640080" y="4178808"/>
            <a:ext cx="3611880" cy="466344"/>
          </a:xfrm>
          <a:prstGeom prst="rect">
            <a:avLst/>
          </a:prstGeom>
          <a:noFill/>
          <a:ln/>
        </p:spPr>
        <p:txBody>
          <a:bodyPr wrap="square" lIns="0" tIns="0" rIns="0" bIns="0" rtlCol="0" anchor="ctr"/>
          <a:lstStyle/>
          <a:p>
            <a:pPr indent="0" marL="0">
              <a:buNone/>
            </a:pPr>
            <a:r>
              <a:rPr lang="en-US" sz="1100" b="1" dirty="0">
                <a:solidFill>
                  <a:schemeClr val="accent4"/>
                </a:solidFill>
              </a:rPr>
              <a:t>Pick AT when: </a:t>
            </a:r>
            <a:pPr indent="0" marL="0">
              <a:buNone/>
            </a:pPr>
            <a:r>
              <a:rPr lang="en-US" sz="1100" dirty="0">
                <a:solidFill>
                  <a:schemeClr val="tx1"/>
                </a:solidFill>
              </a:rPr>
              <a:t>simple CRUD services and fast adoption with little code.</a:t>
            </a:r>
            <a:endParaRPr lang="en-US" sz="1100" dirty="0"/>
          </a:p>
        </p:txBody>
      </p:sp>
      <p:sp>
        <p:nvSpPr>
          <p:cNvPr id="26" name="Shape 24"/>
          <p:cNvSpPr/>
          <p:nvPr/>
        </p:nvSpPr>
        <p:spPr>
          <a:xfrm>
            <a:off x="4709160" y="4160520"/>
            <a:ext cx="3977640" cy="502920"/>
          </a:xfrm>
          <a:prstGeom prst="roundRect">
            <a:avLst>
              <a:gd name="adj" fmla="val 14545"/>
            </a:avLst>
          </a:prstGeom>
          <a:solidFill>
            <a:schemeClr val="bg2"/>
          </a:solidFill>
          <a:ln w="6350">
            <a:solidFill>
              <a:srgbClr val="E1E6EB"/>
            </a:solidFill>
            <a:prstDash val="solid"/>
          </a:ln>
        </p:spPr>
      </p:sp>
      <p:sp>
        <p:nvSpPr>
          <p:cNvPr id="27" name="Text 25"/>
          <p:cNvSpPr txBox="1"/>
          <p:nvPr/>
        </p:nvSpPr>
        <p:spPr>
          <a:xfrm>
            <a:off x="4892040" y="4178808"/>
            <a:ext cx="3611880" cy="466344"/>
          </a:xfrm>
          <a:prstGeom prst="rect">
            <a:avLst/>
          </a:prstGeom>
          <a:noFill/>
          <a:ln/>
        </p:spPr>
        <p:txBody>
          <a:bodyPr wrap="square" lIns="0" tIns="0" rIns="0" bIns="0" rtlCol="0" anchor="ctr"/>
          <a:lstStyle/>
          <a:p>
            <a:pPr indent="0" marL="0">
              <a:buNone/>
            </a:pPr>
            <a:r>
              <a:rPr lang="en-US" sz="1100" b="1" dirty="0">
                <a:solidFill>
                  <a:schemeClr val="accent4"/>
                </a:solidFill>
              </a:rPr>
              <a:t>Pick TCC when: </a:t>
            </a:r>
            <a:pPr indent="0" marL="0">
              <a:buNone/>
            </a:pPr>
            <a:r>
              <a:rPr lang="en-US" sz="1100" dirty="0">
                <a:solidFill>
                  <a:schemeClr val="tx1"/>
                </a:solidFill>
              </a:rPr>
              <a:t>reserving money or stock, and the team can own the extra code.</a:t>
            </a:r>
            <a:endParaRPr lang="en-US" sz="11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AT vs Saga: automatic undo vs business compensation</a:t>
            </a:r>
            <a:endParaRPr lang="en-US" sz="2400" dirty="0"/>
          </a:p>
        </p:txBody>
      </p:sp>
      <p:sp>
        <p:nvSpPr>
          <p:cNvPr id="3" name="Text 1"/>
          <p:cNvSpPr txBox="1"/>
          <p:nvPr/>
        </p:nvSpPr>
        <p:spPr>
          <a:xfrm>
            <a:off x="457200" y="914400"/>
            <a:ext cx="8229600" cy="274320"/>
          </a:xfrm>
          <a:prstGeom prst="rect">
            <a:avLst/>
          </a:prstGeom>
          <a:noFill/>
          <a:ln/>
        </p:spPr>
        <p:txBody>
          <a:bodyPr wrap="square" lIns="0" tIns="0" rIns="0" bIns="0" rtlCol="0" anchor="t"/>
          <a:lstStyle/>
          <a:p>
            <a:pPr indent="0" marL="0">
              <a:buNone/>
            </a:pPr>
            <a:r>
              <a:rPr lang="en-US" sz="1200" b="1" i="1" dirty="0">
                <a:solidFill>
                  <a:schemeClr val="tx2"/>
                </a:solidFill>
              </a:rPr>
              <a:t>Scenario: </a:t>
            </a:r>
            <a:pPr indent="0" marL="0">
              <a:buNone/>
            </a:pPr>
            <a:r>
              <a:rPr lang="en-US" sz="1200" i="1" dirty="0">
                <a:solidFill>
                  <a:schemeClr val="tx2"/>
                </a:solidFill>
              </a:rPr>
              <a:t>Transfer A to B, 1,000. B's step fails.</a:t>
            </a:r>
            <a:endParaRPr lang="en-US" sz="1200" dirty="0"/>
          </a:p>
        </p:txBody>
      </p:sp>
      <p:sp>
        <p:nvSpPr>
          <p:cNvPr id="4" name="Shape 2"/>
          <p:cNvSpPr/>
          <p:nvPr/>
        </p:nvSpPr>
        <p:spPr>
          <a:xfrm>
            <a:off x="457200" y="1280160"/>
            <a:ext cx="3977640" cy="2286000"/>
          </a:xfrm>
          <a:prstGeom prst="roundRect">
            <a:avLst>
              <a:gd name="adj" fmla="val 4000"/>
            </a:avLst>
          </a:prstGeom>
          <a:solidFill>
            <a:srgbClr val="FDF3E2"/>
          </a:solidFill>
          <a:ln w="6350">
            <a:solidFill>
              <a:srgbClr val="FDF3E2"/>
            </a:solidFill>
            <a:prstDash val="solid"/>
          </a:ln>
        </p:spPr>
      </p:sp>
      <p:sp>
        <p:nvSpPr>
          <p:cNvPr id="5" name="Text 3"/>
          <p:cNvSpPr txBox="1"/>
          <p:nvPr/>
        </p:nvSpPr>
        <p:spPr>
          <a:xfrm>
            <a:off x="640080" y="1353312"/>
            <a:ext cx="3657600" cy="347472"/>
          </a:xfrm>
          <a:prstGeom prst="rect">
            <a:avLst/>
          </a:prstGeom>
          <a:noFill/>
          <a:ln/>
        </p:spPr>
        <p:txBody>
          <a:bodyPr wrap="square" lIns="0" tIns="0" rIns="0" bIns="0" rtlCol="0" anchor="ctr"/>
          <a:lstStyle/>
          <a:p>
            <a:pPr indent="0" marL="0">
              <a:buNone/>
            </a:pPr>
            <a:r>
              <a:rPr lang="en-US" sz="1600" b="1" dirty="0">
                <a:solidFill>
                  <a:schemeClr val="accent4"/>
                </a:solidFill>
              </a:rPr>
              <a:t>AT</a:t>
            </a:r>
            <a:pPr indent="0" marL="0">
              <a:buNone/>
            </a:pPr>
            <a:r>
              <a:rPr lang="en-US" sz="1150" i="1" dirty="0">
                <a:solidFill>
                  <a:schemeClr val="tx2"/>
                </a:solidFill>
              </a:rPr>
              <a:t>   commit + undo log</a:t>
            </a:r>
            <a:endParaRPr lang="en-US" sz="1400" dirty="0"/>
          </a:p>
        </p:txBody>
      </p:sp>
      <p:sp>
        <p:nvSpPr>
          <p:cNvPr id="6" name="Text 4"/>
          <p:cNvSpPr/>
          <p:nvPr/>
        </p:nvSpPr>
        <p:spPr>
          <a:xfrm>
            <a:off x="640080" y="1837944"/>
            <a:ext cx="292608" cy="292608"/>
          </a:xfrm>
          <a:prstGeom prst="ellipse">
            <a:avLst/>
          </a:prstGeom>
          <a:solidFill>
            <a:schemeClr val="accent4"/>
          </a:solidFill>
          <a:ln w="6350">
            <a:solidFill>
              <a:schemeClr val="accent4"/>
            </a:solidFill>
          </a:ln>
        </p:spPr>
        <p:txBody>
          <a:bodyPr wrap="square" lIns="0" tIns="0" rIns="0" bIns="0" rtlCol="0" anchor="ctr"/>
          <a:lstStyle/>
          <a:p>
            <a:pPr algn="ctr" indent="0" marL="0">
              <a:buNone/>
            </a:pPr>
            <a:r>
              <a:rPr lang="en-US" sz="1050" b="1" dirty="0">
                <a:solidFill>
                  <a:schemeClr val="bg1"/>
                </a:solidFill>
              </a:rPr>
              <a:t>1</a:t>
            </a:r>
            <a:endParaRPr lang="en-US" sz="1050" dirty="0"/>
          </a:p>
        </p:txBody>
      </p:sp>
      <p:sp>
        <p:nvSpPr>
          <p:cNvPr id="7" name="Text 5"/>
          <p:cNvSpPr txBox="1"/>
          <p:nvPr/>
        </p:nvSpPr>
        <p:spPr>
          <a:xfrm>
            <a:off x="1051560" y="1801368"/>
            <a:ext cx="3291840" cy="365760"/>
          </a:xfrm>
          <a:prstGeom prst="rect">
            <a:avLst/>
          </a:prstGeom>
          <a:noFill/>
          <a:ln/>
        </p:spPr>
        <p:txBody>
          <a:bodyPr wrap="square" lIns="0" tIns="0" rIns="0" bIns="0" rtlCol="0" anchor="ctr"/>
          <a:lstStyle/>
          <a:p>
            <a:pPr indent="0" marL="0">
              <a:buNone/>
            </a:pPr>
            <a:r>
              <a:rPr lang="en-US" sz="1200" dirty="0">
                <a:solidFill>
                  <a:schemeClr val="tx1"/>
                </a:solidFill>
              </a:rPr>
              <a:t>Debit A committed, undo log saved</a:t>
            </a:r>
            <a:endParaRPr lang="en-US" sz="1200" dirty="0"/>
          </a:p>
        </p:txBody>
      </p:sp>
      <p:sp>
        <p:nvSpPr>
          <p:cNvPr id="8" name="Text 6"/>
          <p:cNvSpPr/>
          <p:nvPr/>
        </p:nvSpPr>
        <p:spPr>
          <a:xfrm>
            <a:off x="640080" y="2267712"/>
            <a:ext cx="292608" cy="292608"/>
          </a:xfrm>
          <a:prstGeom prst="ellipse">
            <a:avLst/>
          </a:prstGeom>
          <a:solidFill>
            <a:schemeClr val="accent4"/>
          </a:solidFill>
          <a:ln w="6350">
            <a:solidFill>
              <a:schemeClr val="accent4"/>
            </a:solidFill>
          </a:ln>
        </p:spPr>
        <p:txBody>
          <a:bodyPr wrap="square" lIns="0" tIns="0" rIns="0" bIns="0" rtlCol="0" anchor="ctr"/>
          <a:lstStyle/>
          <a:p>
            <a:pPr algn="ctr" indent="0" marL="0">
              <a:buNone/>
            </a:pPr>
            <a:r>
              <a:rPr lang="en-US" sz="1050" b="1" dirty="0">
                <a:solidFill>
                  <a:schemeClr val="bg1"/>
                </a:solidFill>
              </a:rPr>
              <a:t>2</a:t>
            </a:r>
            <a:endParaRPr lang="en-US" sz="1050" dirty="0"/>
          </a:p>
        </p:txBody>
      </p:sp>
      <p:sp>
        <p:nvSpPr>
          <p:cNvPr id="9" name="Text 7"/>
          <p:cNvSpPr txBox="1"/>
          <p:nvPr/>
        </p:nvSpPr>
        <p:spPr>
          <a:xfrm>
            <a:off x="1051560" y="2231136"/>
            <a:ext cx="3291840" cy="365760"/>
          </a:xfrm>
          <a:prstGeom prst="rect">
            <a:avLst/>
          </a:prstGeom>
          <a:noFill/>
          <a:ln/>
        </p:spPr>
        <p:txBody>
          <a:bodyPr wrap="square" lIns="0" tIns="0" rIns="0" bIns="0" rtlCol="0" anchor="ctr"/>
          <a:lstStyle/>
          <a:p>
            <a:pPr indent="0" marL="0">
              <a:buNone/>
            </a:pPr>
            <a:r>
              <a:rPr lang="en-US" sz="1200" dirty="0">
                <a:solidFill>
                  <a:schemeClr val="tx1"/>
                </a:solidFill>
              </a:rPr>
              <a:t>B's step fails</a:t>
            </a:r>
            <a:endParaRPr lang="en-US" sz="1200" dirty="0"/>
          </a:p>
        </p:txBody>
      </p:sp>
      <p:sp>
        <p:nvSpPr>
          <p:cNvPr id="10" name="Text 8"/>
          <p:cNvSpPr/>
          <p:nvPr/>
        </p:nvSpPr>
        <p:spPr>
          <a:xfrm>
            <a:off x="640080" y="2697480"/>
            <a:ext cx="292608" cy="292608"/>
          </a:xfrm>
          <a:prstGeom prst="ellipse">
            <a:avLst/>
          </a:prstGeom>
          <a:solidFill>
            <a:schemeClr val="accent4"/>
          </a:solidFill>
          <a:ln w="6350">
            <a:solidFill>
              <a:schemeClr val="accent4"/>
            </a:solidFill>
          </a:ln>
        </p:spPr>
        <p:txBody>
          <a:bodyPr wrap="square" lIns="0" tIns="0" rIns="0" bIns="0" rtlCol="0" anchor="ctr"/>
          <a:lstStyle/>
          <a:p>
            <a:pPr algn="ctr" indent="0" marL="0">
              <a:buNone/>
            </a:pPr>
            <a:r>
              <a:rPr lang="en-US" sz="1050" b="1" dirty="0">
                <a:solidFill>
                  <a:schemeClr val="bg1"/>
                </a:solidFill>
              </a:rPr>
              <a:t>3</a:t>
            </a:r>
            <a:endParaRPr lang="en-US" sz="1050" dirty="0"/>
          </a:p>
        </p:txBody>
      </p:sp>
      <p:sp>
        <p:nvSpPr>
          <p:cNvPr id="11" name="Text 9"/>
          <p:cNvSpPr txBox="1"/>
          <p:nvPr/>
        </p:nvSpPr>
        <p:spPr>
          <a:xfrm>
            <a:off x="1051560" y="2660904"/>
            <a:ext cx="3291840" cy="365760"/>
          </a:xfrm>
          <a:prstGeom prst="rect">
            <a:avLst/>
          </a:prstGeom>
          <a:noFill/>
          <a:ln/>
        </p:spPr>
        <p:txBody>
          <a:bodyPr wrap="square" lIns="0" tIns="0" rIns="0" bIns="0" rtlCol="0" anchor="ctr"/>
          <a:lstStyle/>
          <a:p>
            <a:pPr indent="0" marL="0">
              <a:buNone/>
            </a:pPr>
            <a:r>
              <a:rPr lang="en-US" sz="1200" dirty="0">
                <a:solidFill>
                  <a:schemeClr val="tx1"/>
                </a:solidFill>
              </a:rPr>
              <a:t>Seata writes back the before-image: 5,000</a:t>
            </a:r>
            <a:endParaRPr lang="en-US" sz="1200" dirty="0"/>
          </a:p>
        </p:txBody>
      </p:sp>
      <p:sp>
        <p:nvSpPr>
          <p:cNvPr id="12" name="Text 10"/>
          <p:cNvSpPr/>
          <p:nvPr/>
        </p:nvSpPr>
        <p:spPr>
          <a:xfrm>
            <a:off x="640080" y="3108960"/>
            <a:ext cx="3611880" cy="365760"/>
          </a:xfrm>
          <a:prstGeom prst="roundRect">
            <a:avLst>
              <a:gd name="adj" fmla="val 20000"/>
            </a:avLst>
          </a:prstGeom>
          <a:solidFill>
            <a:schemeClr val="bg1"/>
          </a:solidFill>
          <a:ln w="12700">
            <a:solidFill>
              <a:schemeClr val="accent3"/>
            </a:solidFill>
          </a:ln>
        </p:spPr>
        <p:txBody>
          <a:bodyPr wrap="square" lIns="63500" tIns="63500" rIns="63500" bIns="63500" rtlCol="0" anchor="ctr"/>
          <a:lstStyle/>
          <a:p>
            <a:pPr algn="ctr" indent="0" marL="0">
              <a:buNone/>
            </a:pPr>
            <a:r>
              <a:rPr lang="en-US" sz="1200" b="1" dirty="0">
                <a:solidFill>
                  <a:schemeClr val="accent3"/>
                </a:solidFill>
              </a:rPr>
              <a:t>Row restored as if nothing happened</a:t>
            </a:r>
            <a:endParaRPr lang="en-US" sz="1200" dirty="0"/>
          </a:p>
        </p:txBody>
      </p:sp>
      <p:sp>
        <p:nvSpPr>
          <p:cNvPr id="13" name="Shape 11"/>
          <p:cNvSpPr/>
          <p:nvPr/>
        </p:nvSpPr>
        <p:spPr>
          <a:xfrm>
            <a:off x="4709160" y="1280160"/>
            <a:ext cx="3977640" cy="2286000"/>
          </a:xfrm>
          <a:prstGeom prst="roundRect">
            <a:avLst>
              <a:gd name="adj" fmla="val 4000"/>
            </a:avLst>
          </a:prstGeom>
          <a:solidFill>
            <a:srgbClr val="ECECFB"/>
          </a:solidFill>
          <a:ln w="6350">
            <a:solidFill>
              <a:srgbClr val="ECECFB"/>
            </a:solidFill>
            <a:prstDash val="solid"/>
          </a:ln>
        </p:spPr>
      </p:sp>
      <p:sp>
        <p:nvSpPr>
          <p:cNvPr id="14" name="Text 12"/>
          <p:cNvSpPr txBox="1"/>
          <p:nvPr/>
        </p:nvSpPr>
        <p:spPr>
          <a:xfrm>
            <a:off x="4892040" y="1353312"/>
            <a:ext cx="3657600" cy="347472"/>
          </a:xfrm>
          <a:prstGeom prst="rect">
            <a:avLst/>
          </a:prstGeom>
          <a:noFill/>
          <a:ln/>
        </p:spPr>
        <p:txBody>
          <a:bodyPr wrap="square" lIns="0" tIns="0" rIns="0" bIns="0" rtlCol="0" anchor="ctr"/>
          <a:lstStyle/>
          <a:p>
            <a:pPr indent="0" marL="0">
              <a:buNone/>
            </a:pPr>
            <a:r>
              <a:rPr lang="en-US" sz="1600" b="1" dirty="0">
                <a:solidFill>
                  <a:schemeClr val="accent5"/>
                </a:solidFill>
              </a:rPr>
              <a:t>Saga</a:t>
            </a:r>
            <a:pPr indent="0" marL="0">
              <a:buNone/>
            </a:pPr>
            <a:r>
              <a:rPr lang="en-US" sz="1150" i="1" dirty="0">
                <a:solidFill>
                  <a:schemeClr val="tx2"/>
                </a:solidFill>
              </a:rPr>
              <a:t>   act, then compensate</a:t>
            </a:r>
            <a:endParaRPr lang="en-US" sz="1400" dirty="0"/>
          </a:p>
        </p:txBody>
      </p:sp>
      <p:sp>
        <p:nvSpPr>
          <p:cNvPr id="15" name="Text 13"/>
          <p:cNvSpPr/>
          <p:nvPr/>
        </p:nvSpPr>
        <p:spPr>
          <a:xfrm>
            <a:off x="4892040" y="1837944"/>
            <a:ext cx="292608" cy="292608"/>
          </a:xfrm>
          <a:prstGeom prst="ellipse">
            <a:avLst/>
          </a:prstGeom>
          <a:solidFill>
            <a:schemeClr val="accent5"/>
          </a:solidFill>
          <a:ln w="6350">
            <a:solidFill>
              <a:schemeClr val="accent5"/>
            </a:solidFill>
          </a:ln>
        </p:spPr>
        <p:txBody>
          <a:bodyPr wrap="square" lIns="0" tIns="0" rIns="0" bIns="0" rtlCol="0" anchor="ctr"/>
          <a:lstStyle/>
          <a:p>
            <a:pPr algn="ctr" indent="0" marL="0">
              <a:buNone/>
            </a:pPr>
            <a:r>
              <a:rPr lang="en-US" sz="1050" b="1" dirty="0">
                <a:solidFill>
                  <a:schemeClr val="bg1"/>
                </a:solidFill>
              </a:rPr>
              <a:t>1</a:t>
            </a:r>
            <a:endParaRPr lang="en-US" sz="1050" dirty="0"/>
          </a:p>
        </p:txBody>
      </p:sp>
      <p:sp>
        <p:nvSpPr>
          <p:cNvPr id="16" name="Text 14"/>
          <p:cNvSpPr txBox="1"/>
          <p:nvPr/>
        </p:nvSpPr>
        <p:spPr>
          <a:xfrm>
            <a:off x="5303520" y="1801368"/>
            <a:ext cx="3291840" cy="365760"/>
          </a:xfrm>
          <a:prstGeom prst="rect">
            <a:avLst/>
          </a:prstGeom>
          <a:noFill/>
          <a:ln/>
        </p:spPr>
        <p:txBody>
          <a:bodyPr wrap="square" lIns="0" tIns="0" rIns="0" bIns="0" rtlCol="0" anchor="ctr"/>
          <a:lstStyle/>
          <a:p>
            <a:pPr indent="0" marL="0">
              <a:buNone/>
            </a:pPr>
            <a:r>
              <a:rPr lang="en-US" sz="1200" dirty="0">
                <a:solidFill>
                  <a:schemeClr val="tx1"/>
                </a:solidFill>
              </a:rPr>
              <a:t>Debit A committed: 4,000</a:t>
            </a:r>
            <a:endParaRPr lang="en-US" sz="1200" dirty="0"/>
          </a:p>
        </p:txBody>
      </p:sp>
      <p:sp>
        <p:nvSpPr>
          <p:cNvPr id="17" name="Text 15"/>
          <p:cNvSpPr/>
          <p:nvPr/>
        </p:nvSpPr>
        <p:spPr>
          <a:xfrm>
            <a:off x="4892040" y="2267712"/>
            <a:ext cx="292608" cy="292608"/>
          </a:xfrm>
          <a:prstGeom prst="ellipse">
            <a:avLst/>
          </a:prstGeom>
          <a:solidFill>
            <a:schemeClr val="accent5"/>
          </a:solidFill>
          <a:ln w="6350">
            <a:solidFill>
              <a:schemeClr val="accent5"/>
            </a:solidFill>
          </a:ln>
        </p:spPr>
        <p:txBody>
          <a:bodyPr wrap="square" lIns="0" tIns="0" rIns="0" bIns="0" rtlCol="0" anchor="ctr"/>
          <a:lstStyle/>
          <a:p>
            <a:pPr algn="ctr" indent="0" marL="0">
              <a:buNone/>
            </a:pPr>
            <a:r>
              <a:rPr lang="en-US" sz="1050" b="1" dirty="0">
                <a:solidFill>
                  <a:schemeClr val="bg1"/>
                </a:solidFill>
              </a:rPr>
              <a:t>2</a:t>
            </a:r>
            <a:endParaRPr lang="en-US" sz="1050" dirty="0"/>
          </a:p>
        </p:txBody>
      </p:sp>
      <p:sp>
        <p:nvSpPr>
          <p:cNvPr id="18" name="Text 16"/>
          <p:cNvSpPr txBox="1"/>
          <p:nvPr/>
        </p:nvSpPr>
        <p:spPr>
          <a:xfrm>
            <a:off x="5303520" y="2231136"/>
            <a:ext cx="3291840" cy="365760"/>
          </a:xfrm>
          <a:prstGeom prst="rect">
            <a:avLst/>
          </a:prstGeom>
          <a:noFill/>
          <a:ln/>
        </p:spPr>
        <p:txBody>
          <a:bodyPr wrap="square" lIns="0" tIns="0" rIns="0" bIns="0" rtlCol="0" anchor="ctr"/>
          <a:lstStyle/>
          <a:p>
            <a:pPr indent="0" marL="0">
              <a:buNone/>
            </a:pPr>
            <a:r>
              <a:rPr lang="en-US" sz="1200" dirty="0">
                <a:solidFill>
                  <a:schemeClr val="tx1"/>
                </a:solidFill>
              </a:rPr>
              <a:t>B's step fails</a:t>
            </a:r>
            <a:endParaRPr lang="en-US" sz="1200" dirty="0"/>
          </a:p>
        </p:txBody>
      </p:sp>
      <p:sp>
        <p:nvSpPr>
          <p:cNvPr id="19" name="Text 17"/>
          <p:cNvSpPr/>
          <p:nvPr/>
        </p:nvSpPr>
        <p:spPr>
          <a:xfrm>
            <a:off x="4892040" y="2697480"/>
            <a:ext cx="292608" cy="292608"/>
          </a:xfrm>
          <a:prstGeom prst="ellipse">
            <a:avLst/>
          </a:prstGeom>
          <a:solidFill>
            <a:schemeClr val="accent5"/>
          </a:solidFill>
          <a:ln w="6350">
            <a:solidFill>
              <a:schemeClr val="accent5"/>
            </a:solidFill>
          </a:ln>
        </p:spPr>
        <p:txBody>
          <a:bodyPr wrap="square" lIns="0" tIns="0" rIns="0" bIns="0" rtlCol="0" anchor="ctr"/>
          <a:lstStyle/>
          <a:p>
            <a:pPr algn="ctr" indent="0" marL="0">
              <a:buNone/>
            </a:pPr>
            <a:r>
              <a:rPr lang="en-US" sz="1050" b="1" dirty="0">
                <a:solidFill>
                  <a:schemeClr val="bg1"/>
                </a:solidFill>
              </a:rPr>
              <a:t>3</a:t>
            </a:r>
            <a:endParaRPr lang="en-US" sz="1050" dirty="0"/>
          </a:p>
        </p:txBody>
      </p:sp>
      <p:sp>
        <p:nvSpPr>
          <p:cNvPr id="20" name="Text 18"/>
          <p:cNvSpPr txBox="1"/>
          <p:nvPr/>
        </p:nvSpPr>
        <p:spPr>
          <a:xfrm>
            <a:off x="5303520" y="2660904"/>
            <a:ext cx="3291840" cy="365760"/>
          </a:xfrm>
          <a:prstGeom prst="rect">
            <a:avLst/>
          </a:prstGeom>
          <a:noFill/>
          <a:ln/>
        </p:spPr>
        <p:txBody>
          <a:bodyPr wrap="square" lIns="0" tIns="0" rIns="0" bIns="0" rtlCol="0" anchor="ctr"/>
          <a:lstStyle/>
          <a:p>
            <a:pPr indent="0" marL="0">
              <a:buNone/>
            </a:pPr>
            <a:r>
              <a:rPr lang="en-US" sz="1200" dirty="0">
                <a:solidFill>
                  <a:schemeClr val="tx1"/>
                </a:solidFill>
              </a:rPr>
              <a:t>Your compensation posts a reversal credit</a:t>
            </a:r>
            <a:endParaRPr lang="en-US" sz="1200" dirty="0"/>
          </a:p>
        </p:txBody>
      </p:sp>
      <p:sp>
        <p:nvSpPr>
          <p:cNvPr id="21" name="Text 19"/>
          <p:cNvSpPr/>
          <p:nvPr/>
        </p:nvSpPr>
        <p:spPr>
          <a:xfrm>
            <a:off x="4892040" y="3108960"/>
            <a:ext cx="3611880" cy="365760"/>
          </a:xfrm>
          <a:prstGeom prst="roundRect">
            <a:avLst>
              <a:gd name="adj" fmla="val 20000"/>
            </a:avLst>
          </a:prstGeom>
          <a:solidFill>
            <a:schemeClr val="bg1"/>
          </a:solidFill>
          <a:ln w="12700">
            <a:solidFill>
              <a:schemeClr val="accent2"/>
            </a:solidFill>
          </a:ln>
        </p:spPr>
        <p:txBody>
          <a:bodyPr wrap="square" lIns="63500" tIns="63500" rIns="63500" bIns="63500" rtlCol="0" anchor="ctr"/>
          <a:lstStyle/>
          <a:p>
            <a:pPr algn="ctr" indent="0" marL="0">
              <a:buNone/>
            </a:pPr>
            <a:r>
              <a:rPr lang="en-US" sz="1200" b="1" dirty="0">
                <a:solidFill>
                  <a:schemeClr val="accent2"/>
                </a:solidFill>
              </a:rPr>
              <a:t>Debit and reversal both stay in history</a:t>
            </a:r>
            <a:endParaRPr lang="en-US" sz="1200" dirty="0"/>
          </a:p>
        </p:txBody>
      </p:sp>
      <p:sp>
        <p:nvSpPr>
          <p:cNvPr id="22" name="Shape 20"/>
          <p:cNvSpPr/>
          <p:nvPr/>
        </p:nvSpPr>
        <p:spPr>
          <a:xfrm>
            <a:off x="457200" y="3657600"/>
            <a:ext cx="8229600" cy="411480"/>
          </a:xfrm>
          <a:prstGeom prst="roundRect">
            <a:avLst>
              <a:gd name="adj" fmla="val 17778"/>
            </a:avLst>
          </a:prstGeom>
          <a:solidFill>
            <a:schemeClr val="tx1"/>
          </a:solidFill>
          <a:ln w="6350">
            <a:solidFill>
              <a:schemeClr val="tx1"/>
            </a:solidFill>
            <a:prstDash val="solid"/>
          </a:ln>
        </p:spPr>
      </p:sp>
      <p:sp>
        <p:nvSpPr>
          <p:cNvPr id="23" name="Text 21"/>
          <p:cNvSpPr txBox="1"/>
          <p:nvPr/>
        </p:nvSpPr>
        <p:spPr>
          <a:xfrm>
            <a:off x="640080" y="3657600"/>
            <a:ext cx="7863840" cy="411480"/>
          </a:xfrm>
          <a:prstGeom prst="rect">
            <a:avLst/>
          </a:prstGeom>
          <a:noFill/>
          <a:ln/>
        </p:spPr>
        <p:txBody>
          <a:bodyPr wrap="square" lIns="0" tIns="0" rIns="0" bIns="0" rtlCol="0" anchor="ctr"/>
          <a:lstStyle/>
          <a:p>
            <a:pPr indent="0" marL="0">
              <a:buNone/>
            </a:pPr>
            <a:r>
              <a:rPr lang="en-US" sz="1250" b="1" dirty="0">
                <a:solidFill>
                  <a:srgbClr val="7FD3CF"/>
                </a:solidFill>
              </a:rPr>
              <a:t>Key difference: </a:t>
            </a:r>
            <a:pPr indent="0" marL="0">
              <a:buNone/>
            </a:pPr>
            <a:r>
              <a:rPr lang="en-US" sz="1250" dirty="0">
                <a:solidFill>
                  <a:schemeClr val="bg1"/>
                </a:solidFill>
              </a:rPr>
              <a:t>both commit early. AT's undo is automatic and data-level; Saga's compensation is your business action.</a:t>
            </a:r>
            <a:endParaRPr lang="en-US" sz="1250" dirty="0"/>
          </a:p>
        </p:txBody>
      </p:sp>
      <p:sp>
        <p:nvSpPr>
          <p:cNvPr id="24" name="Shape 22"/>
          <p:cNvSpPr/>
          <p:nvPr/>
        </p:nvSpPr>
        <p:spPr>
          <a:xfrm>
            <a:off x="457200" y="4160520"/>
            <a:ext cx="3977640" cy="502920"/>
          </a:xfrm>
          <a:prstGeom prst="roundRect">
            <a:avLst>
              <a:gd name="adj" fmla="val 14545"/>
            </a:avLst>
          </a:prstGeom>
          <a:solidFill>
            <a:schemeClr val="bg2"/>
          </a:solidFill>
          <a:ln w="6350">
            <a:solidFill>
              <a:srgbClr val="E1E6EB"/>
            </a:solidFill>
            <a:prstDash val="solid"/>
          </a:ln>
        </p:spPr>
      </p:sp>
      <p:sp>
        <p:nvSpPr>
          <p:cNvPr id="25" name="Text 23"/>
          <p:cNvSpPr txBox="1"/>
          <p:nvPr/>
        </p:nvSpPr>
        <p:spPr>
          <a:xfrm>
            <a:off x="640080" y="4178808"/>
            <a:ext cx="3611880" cy="466344"/>
          </a:xfrm>
          <a:prstGeom prst="rect">
            <a:avLst/>
          </a:prstGeom>
          <a:noFill/>
          <a:ln/>
        </p:spPr>
        <p:txBody>
          <a:bodyPr wrap="square" lIns="0" tIns="0" rIns="0" bIns="0" rtlCol="0" anchor="ctr"/>
          <a:lstStyle/>
          <a:p>
            <a:pPr indent="0" marL="0">
              <a:buNone/>
            </a:pPr>
            <a:r>
              <a:rPr lang="en-US" sz="1100" b="1" dirty="0">
                <a:solidFill>
                  <a:schemeClr val="accent4"/>
                </a:solidFill>
              </a:rPr>
              <a:t>Pick AT when: </a:t>
            </a:r>
            <a:pPr indent="0" marL="0">
              <a:buNone/>
            </a:pPr>
            <a:r>
              <a:rPr lang="en-US" sz="1100" dirty="0">
                <a:solidFill>
                  <a:schemeClr val="tx1"/>
                </a:solidFill>
              </a:rPr>
              <a:t>a short, DB-only flow inside one request.</a:t>
            </a:r>
            <a:endParaRPr lang="en-US" sz="1100" dirty="0"/>
          </a:p>
        </p:txBody>
      </p:sp>
      <p:sp>
        <p:nvSpPr>
          <p:cNvPr id="26" name="Shape 24"/>
          <p:cNvSpPr/>
          <p:nvPr/>
        </p:nvSpPr>
        <p:spPr>
          <a:xfrm>
            <a:off x="4709160" y="4160520"/>
            <a:ext cx="3977640" cy="502920"/>
          </a:xfrm>
          <a:prstGeom prst="roundRect">
            <a:avLst>
              <a:gd name="adj" fmla="val 14545"/>
            </a:avLst>
          </a:prstGeom>
          <a:solidFill>
            <a:schemeClr val="bg2"/>
          </a:solidFill>
          <a:ln w="6350">
            <a:solidFill>
              <a:srgbClr val="E1E6EB"/>
            </a:solidFill>
            <a:prstDash val="solid"/>
          </a:ln>
        </p:spPr>
      </p:sp>
      <p:sp>
        <p:nvSpPr>
          <p:cNvPr id="27" name="Text 25"/>
          <p:cNvSpPr txBox="1"/>
          <p:nvPr/>
        </p:nvSpPr>
        <p:spPr>
          <a:xfrm>
            <a:off x="4892040" y="4178808"/>
            <a:ext cx="3611880" cy="466344"/>
          </a:xfrm>
          <a:prstGeom prst="rect">
            <a:avLst/>
          </a:prstGeom>
          <a:noFill/>
          <a:ln/>
        </p:spPr>
        <p:txBody>
          <a:bodyPr wrap="square" lIns="0" tIns="0" rIns="0" bIns="0" rtlCol="0" anchor="ctr"/>
          <a:lstStyle/>
          <a:p>
            <a:pPr indent="0" marL="0">
              <a:buNone/>
            </a:pPr>
            <a:r>
              <a:rPr lang="en-US" sz="1100" b="1" dirty="0">
                <a:solidFill>
                  <a:schemeClr val="accent5"/>
                </a:solidFill>
              </a:rPr>
              <a:t>Pick Saga when: </a:t>
            </a:r>
            <a:pPr indent="0" marL="0">
              <a:buNone/>
            </a:pPr>
            <a:r>
              <a:rPr lang="en-US" sz="1100" dirty="0">
                <a:solidFill>
                  <a:schemeClr val="tx1"/>
                </a:solidFill>
              </a:rPr>
              <a:t>long, multi-step flows, possibly hours apart or external.</a:t>
            </a:r>
            <a:endParaRPr lang="en-US" sz="11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TCC vs Saga: reserve first, or act first?</a:t>
            </a:r>
            <a:endParaRPr lang="en-US" sz="2400" dirty="0"/>
          </a:p>
        </p:txBody>
      </p:sp>
      <p:sp>
        <p:nvSpPr>
          <p:cNvPr id="3" name="Text 1"/>
          <p:cNvSpPr txBox="1"/>
          <p:nvPr/>
        </p:nvSpPr>
        <p:spPr>
          <a:xfrm>
            <a:off x="457200" y="914400"/>
            <a:ext cx="8229600" cy="274320"/>
          </a:xfrm>
          <a:prstGeom prst="rect">
            <a:avLst/>
          </a:prstGeom>
          <a:noFill/>
          <a:ln/>
        </p:spPr>
        <p:txBody>
          <a:bodyPr wrap="square" lIns="0" tIns="0" rIns="0" bIns="0" rtlCol="0" anchor="t"/>
          <a:lstStyle/>
          <a:p>
            <a:pPr indent="0" marL="0">
              <a:buNone/>
            </a:pPr>
            <a:r>
              <a:rPr lang="en-US" sz="1200" b="1" i="1" dirty="0">
                <a:solidFill>
                  <a:schemeClr val="tx2"/>
                </a:solidFill>
              </a:rPr>
              <a:t>Scenario: </a:t>
            </a:r>
            <a:pPr indent="0" marL="0">
              <a:buNone/>
            </a:pPr>
            <a:r>
              <a:rPr lang="en-US" sz="1200" i="1" dirty="0">
                <a:solidFill>
                  <a:schemeClr val="tx2"/>
                </a:solidFill>
              </a:rPr>
              <a:t>Transfer A to B, 1,000. B's step fails.</a:t>
            </a:r>
            <a:endParaRPr lang="en-US" sz="1200" dirty="0"/>
          </a:p>
        </p:txBody>
      </p:sp>
      <p:sp>
        <p:nvSpPr>
          <p:cNvPr id="4" name="Shape 2"/>
          <p:cNvSpPr/>
          <p:nvPr/>
        </p:nvSpPr>
        <p:spPr>
          <a:xfrm>
            <a:off x="457200" y="1280160"/>
            <a:ext cx="3977640" cy="2286000"/>
          </a:xfrm>
          <a:prstGeom prst="roundRect">
            <a:avLst>
              <a:gd name="adj" fmla="val 4000"/>
            </a:avLst>
          </a:prstGeom>
          <a:solidFill>
            <a:srgbClr val="FDF3E2"/>
          </a:solidFill>
          <a:ln w="6350">
            <a:solidFill>
              <a:srgbClr val="FDF3E2"/>
            </a:solidFill>
            <a:prstDash val="solid"/>
          </a:ln>
        </p:spPr>
      </p:sp>
      <p:sp>
        <p:nvSpPr>
          <p:cNvPr id="5" name="Text 3"/>
          <p:cNvSpPr txBox="1"/>
          <p:nvPr/>
        </p:nvSpPr>
        <p:spPr>
          <a:xfrm>
            <a:off x="640080" y="1353312"/>
            <a:ext cx="3657600" cy="347472"/>
          </a:xfrm>
          <a:prstGeom prst="rect">
            <a:avLst/>
          </a:prstGeom>
          <a:noFill/>
          <a:ln/>
        </p:spPr>
        <p:txBody>
          <a:bodyPr wrap="square" lIns="0" tIns="0" rIns="0" bIns="0" rtlCol="0" anchor="ctr"/>
          <a:lstStyle/>
          <a:p>
            <a:pPr indent="0" marL="0">
              <a:buNone/>
            </a:pPr>
            <a:r>
              <a:rPr lang="en-US" sz="1600" b="1" dirty="0">
                <a:solidFill>
                  <a:schemeClr val="accent4"/>
                </a:solidFill>
              </a:rPr>
              <a:t>TCC</a:t>
            </a:r>
            <a:pPr indent="0" marL="0">
              <a:buNone/>
            </a:pPr>
            <a:r>
              <a:rPr lang="en-US" sz="1150" i="1" dirty="0">
                <a:solidFill>
                  <a:schemeClr val="tx2"/>
                </a:solidFill>
              </a:rPr>
              <a:t>   reserve, then confirm</a:t>
            </a:r>
            <a:endParaRPr lang="en-US" sz="1400" dirty="0"/>
          </a:p>
        </p:txBody>
      </p:sp>
      <p:sp>
        <p:nvSpPr>
          <p:cNvPr id="6" name="Text 4"/>
          <p:cNvSpPr/>
          <p:nvPr/>
        </p:nvSpPr>
        <p:spPr>
          <a:xfrm>
            <a:off x="640080" y="1837944"/>
            <a:ext cx="292608" cy="292608"/>
          </a:xfrm>
          <a:prstGeom prst="ellipse">
            <a:avLst/>
          </a:prstGeom>
          <a:solidFill>
            <a:schemeClr val="accent4"/>
          </a:solidFill>
          <a:ln w="6350">
            <a:solidFill>
              <a:schemeClr val="accent4"/>
            </a:solidFill>
          </a:ln>
        </p:spPr>
        <p:txBody>
          <a:bodyPr wrap="square" lIns="0" tIns="0" rIns="0" bIns="0" rtlCol="0" anchor="ctr"/>
          <a:lstStyle/>
          <a:p>
            <a:pPr algn="ctr" indent="0" marL="0">
              <a:buNone/>
            </a:pPr>
            <a:r>
              <a:rPr lang="en-US" sz="1050" b="1" dirty="0">
                <a:solidFill>
                  <a:schemeClr val="bg1"/>
                </a:solidFill>
              </a:rPr>
              <a:t>1</a:t>
            </a:r>
            <a:endParaRPr lang="en-US" sz="1050" dirty="0"/>
          </a:p>
        </p:txBody>
      </p:sp>
      <p:sp>
        <p:nvSpPr>
          <p:cNvPr id="7" name="Text 5"/>
          <p:cNvSpPr txBox="1"/>
          <p:nvPr/>
        </p:nvSpPr>
        <p:spPr>
          <a:xfrm>
            <a:off x="1051560" y="1801368"/>
            <a:ext cx="3291840" cy="365760"/>
          </a:xfrm>
          <a:prstGeom prst="rect">
            <a:avLst/>
          </a:prstGeom>
          <a:noFill/>
          <a:ln/>
        </p:spPr>
        <p:txBody>
          <a:bodyPr wrap="square" lIns="0" tIns="0" rIns="0" bIns="0" rtlCol="0" anchor="ctr"/>
          <a:lstStyle/>
          <a:p>
            <a:pPr indent="0" marL="0">
              <a:buNone/>
            </a:pPr>
            <a:r>
              <a:rPr lang="en-US" sz="1200" dirty="0">
                <a:solidFill>
                  <a:schemeClr val="tx1"/>
                </a:solidFill>
              </a:rPr>
              <a:t>Try: hold 1,000, money not spent</a:t>
            </a:r>
            <a:endParaRPr lang="en-US" sz="1200" dirty="0"/>
          </a:p>
        </p:txBody>
      </p:sp>
      <p:sp>
        <p:nvSpPr>
          <p:cNvPr id="8" name="Text 6"/>
          <p:cNvSpPr/>
          <p:nvPr/>
        </p:nvSpPr>
        <p:spPr>
          <a:xfrm>
            <a:off x="640080" y="2267712"/>
            <a:ext cx="292608" cy="292608"/>
          </a:xfrm>
          <a:prstGeom prst="ellipse">
            <a:avLst/>
          </a:prstGeom>
          <a:solidFill>
            <a:schemeClr val="accent4"/>
          </a:solidFill>
          <a:ln w="6350">
            <a:solidFill>
              <a:schemeClr val="accent4"/>
            </a:solidFill>
          </a:ln>
        </p:spPr>
        <p:txBody>
          <a:bodyPr wrap="square" lIns="0" tIns="0" rIns="0" bIns="0" rtlCol="0" anchor="ctr"/>
          <a:lstStyle/>
          <a:p>
            <a:pPr algn="ctr" indent="0" marL="0">
              <a:buNone/>
            </a:pPr>
            <a:r>
              <a:rPr lang="en-US" sz="1050" b="1" dirty="0">
                <a:solidFill>
                  <a:schemeClr val="bg1"/>
                </a:solidFill>
              </a:rPr>
              <a:t>2</a:t>
            </a:r>
            <a:endParaRPr lang="en-US" sz="1050" dirty="0"/>
          </a:p>
        </p:txBody>
      </p:sp>
      <p:sp>
        <p:nvSpPr>
          <p:cNvPr id="9" name="Text 7"/>
          <p:cNvSpPr txBox="1"/>
          <p:nvPr/>
        </p:nvSpPr>
        <p:spPr>
          <a:xfrm>
            <a:off x="1051560" y="2231136"/>
            <a:ext cx="3291840" cy="365760"/>
          </a:xfrm>
          <a:prstGeom prst="rect">
            <a:avLst/>
          </a:prstGeom>
          <a:noFill/>
          <a:ln/>
        </p:spPr>
        <p:txBody>
          <a:bodyPr wrap="square" lIns="0" tIns="0" rIns="0" bIns="0" rtlCol="0" anchor="ctr"/>
          <a:lstStyle/>
          <a:p>
            <a:pPr indent="0" marL="0">
              <a:buNone/>
            </a:pPr>
            <a:r>
              <a:rPr lang="en-US" sz="1200" dirty="0">
                <a:solidFill>
                  <a:schemeClr val="tx1"/>
                </a:solidFill>
              </a:rPr>
              <a:t>B's Try fails</a:t>
            </a:r>
            <a:endParaRPr lang="en-US" sz="1200" dirty="0"/>
          </a:p>
        </p:txBody>
      </p:sp>
      <p:sp>
        <p:nvSpPr>
          <p:cNvPr id="10" name="Text 8"/>
          <p:cNvSpPr/>
          <p:nvPr/>
        </p:nvSpPr>
        <p:spPr>
          <a:xfrm>
            <a:off x="640080" y="2697480"/>
            <a:ext cx="292608" cy="292608"/>
          </a:xfrm>
          <a:prstGeom prst="ellipse">
            <a:avLst/>
          </a:prstGeom>
          <a:solidFill>
            <a:schemeClr val="accent4"/>
          </a:solidFill>
          <a:ln w="6350">
            <a:solidFill>
              <a:schemeClr val="accent4"/>
            </a:solidFill>
          </a:ln>
        </p:spPr>
        <p:txBody>
          <a:bodyPr wrap="square" lIns="0" tIns="0" rIns="0" bIns="0" rtlCol="0" anchor="ctr"/>
          <a:lstStyle/>
          <a:p>
            <a:pPr algn="ctr" indent="0" marL="0">
              <a:buNone/>
            </a:pPr>
            <a:r>
              <a:rPr lang="en-US" sz="1050" b="1" dirty="0">
                <a:solidFill>
                  <a:schemeClr val="bg1"/>
                </a:solidFill>
              </a:rPr>
              <a:t>3</a:t>
            </a:r>
            <a:endParaRPr lang="en-US" sz="1050" dirty="0"/>
          </a:p>
        </p:txBody>
      </p:sp>
      <p:sp>
        <p:nvSpPr>
          <p:cNvPr id="11" name="Text 9"/>
          <p:cNvSpPr txBox="1"/>
          <p:nvPr/>
        </p:nvSpPr>
        <p:spPr>
          <a:xfrm>
            <a:off x="1051560" y="2660904"/>
            <a:ext cx="3291840" cy="365760"/>
          </a:xfrm>
          <a:prstGeom prst="rect">
            <a:avLst/>
          </a:prstGeom>
          <a:noFill/>
          <a:ln/>
        </p:spPr>
        <p:txBody>
          <a:bodyPr wrap="square" lIns="0" tIns="0" rIns="0" bIns="0" rtlCol="0" anchor="ctr"/>
          <a:lstStyle/>
          <a:p>
            <a:pPr indent="0" marL="0">
              <a:buNone/>
            </a:pPr>
            <a:r>
              <a:rPr lang="en-US" sz="1200" dirty="0">
                <a:solidFill>
                  <a:schemeClr val="tx1"/>
                </a:solidFill>
              </a:rPr>
              <a:t>Cancel releases the hold</a:t>
            </a:r>
            <a:endParaRPr lang="en-US" sz="1200" dirty="0"/>
          </a:p>
        </p:txBody>
      </p:sp>
      <p:sp>
        <p:nvSpPr>
          <p:cNvPr id="12" name="Text 10"/>
          <p:cNvSpPr/>
          <p:nvPr/>
        </p:nvSpPr>
        <p:spPr>
          <a:xfrm>
            <a:off x="640080" y="3108960"/>
            <a:ext cx="3611880" cy="365760"/>
          </a:xfrm>
          <a:prstGeom prst="roundRect">
            <a:avLst>
              <a:gd name="adj" fmla="val 20000"/>
            </a:avLst>
          </a:prstGeom>
          <a:solidFill>
            <a:schemeClr val="bg1"/>
          </a:solidFill>
          <a:ln w="12700">
            <a:solidFill>
              <a:schemeClr val="accent3"/>
            </a:solidFill>
          </a:ln>
        </p:spPr>
        <p:txBody>
          <a:bodyPr wrap="square" lIns="63500" tIns="63500" rIns="63500" bIns="63500" rtlCol="0" anchor="ctr"/>
          <a:lstStyle/>
          <a:p>
            <a:pPr algn="ctr" indent="0" marL="0">
              <a:buNone/>
            </a:pPr>
            <a:r>
              <a:rPr lang="en-US" sz="1200" b="1" dirty="0">
                <a:solidFill>
                  <a:schemeClr val="accent3"/>
                </a:solidFill>
              </a:rPr>
              <a:t>Money was only held, never moved</a:t>
            </a:r>
            <a:endParaRPr lang="en-US" sz="1200" dirty="0"/>
          </a:p>
        </p:txBody>
      </p:sp>
      <p:sp>
        <p:nvSpPr>
          <p:cNvPr id="13" name="Shape 11"/>
          <p:cNvSpPr/>
          <p:nvPr/>
        </p:nvSpPr>
        <p:spPr>
          <a:xfrm>
            <a:off x="4709160" y="1280160"/>
            <a:ext cx="3977640" cy="2286000"/>
          </a:xfrm>
          <a:prstGeom prst="roundRect">
            <a:avLst>
              <a:gd name="adj" fmla="val 4000"/>
            </a:avLst>
          </a:prstGeom>
          <a:solidFill>
            <a:srgbClr val="ECECFB"/>
          </a:solidFill>
          <a:ln w="6350">
            <a:solidFill>
              <a:srgbClr val="ECECFB"/>
            </a:solidFill>
            <a:prstDash val="solid"/>
          </a:ln>
        </p:spPr>
      </p:sp>
      <p:sp>
        <p:nvSpPr>
          <p:cNvPr id="14" name="Text 12"/>
          <p:cNvSpPr txBox="1"/>
          <p:nvPr/>
        </p:nvSpPr>
        <p:spPr>
          <a:xfrm>
            <a:off x="4892040" y="1353312"/>
            <a:ext cx="3657600" cy="347472"/>
          </a:xfrm>
          <a:prstGeom prst="rect">
            <a:avLst/>
          </a:prstGeom>
          <a:noFill/>
          <a:ln/>
        </p:spPr>
        <p:txBody>
          <a:bodyPr wrap="square" lIns="0" tIns="0" rIns="0" bIns="0" rtlCol="0" anchor="ctr"/>
          <a:lstStyle/>
          <a:p>
            <a:pPr indent="0" marL="0">
              <a:buNone/>
            </a:pPr>
            <a:r>
              <a:rPr lang="en-US" sz="1600" b="1" dirty="0">
                <a:solidFill>
                  <a:schemeClr val="accent5"/>
                </a:solidFill>
              </a:rPr>
              <a:t>Saga</a:t>
            </a:r>
            <a:pPr indent="0" marL="0">
              <a:buNone/>
            </a:pPr>
            <a:r>
              <a:rPr lang="en-US" sz="1150" i="1" dirty="0">
                <a:solidFill>
                  <a:schemeClr val="tx2"/>
                </a:solidFill>
              </a:rPr>
              <a:t>   act, then compensate</a:t>
            </a:r>
            <a:endParaRPr lang="en-US" sz="1400" dirty="0"/>
          </a:p>
        </p:txBody>
      </p:sp>
      <p:sp>
        <p:nvSpPr>
          <p:cNvPr id="15" name="Text 13"/>
          <p:cNvSpPr/>
          <p:nvPr/>
        </p:nvSpPr>
        <p:spPr>
          <a:xfrm>
            <a:off x="4892040" y="1837944"/>
            <a:ext cx="292608" cy="292608"/>
          </a:xfrm>
          <a:prstGeom prst="ellipse">
            <a:avLst/>
          </a:prstGeom>
          <a:solidFill>
            <a:schemeClr val="accent5"/>
          </a:solidFill>
          <a:ln w="6350">
            <a:solidFill>
              <a:schemeClr val="accent5"/>
            </a:solidFill>
          </a:ln>
        </p:spPr>
        <p:txBody>
          <a:bodyPr wrap="square" lIns="0" tIns="0" rIns="0" bIns="0" rtlCol="0" anchor="ctr"/>
          <a:lstStyle/>
          <a:p>
            <a:pPr algn="ctr" indent="0" marL="0">
              <a:buNone/>
            </a:pPr>
            <a:r>
              <a:rPr lang="en-US" sz="1050" b="1" dirty="0">
                <a:solidFill>
                  <a:schemeClr val="bg1"/>
                </a:solidFill>
              </a:rPr>
              <a:t>1</a:t>
            </a:r>
            <a:endParaRPr lang="en-US" sz="1050" dirty="0"/>
          </a:p>
        </p:txBody>
      </p:sp>
      <p:sp>
        <p:nvSpPr>
          <p:cNvPr id="16" name="Text 14"/>
          <p:cNvSpPr txBox="1"/>
          <p:nvPr/>
        </p:nvSpPr>
        <p:spPr>
          <a:xfrm>
            <a:off x="5303520" y="1801368"/>
            <a:ext cx="3291840" cy="365760"/>
          </a:xfrm>
          <a:prstGeom prst="rect">
            <a:avLst/>
          </a:prstGeom>
          <a:noFill/>
          <a:ln/>
        </p:spPr>
        <p:txBody>
          <a:bodyPr wrap="square" lIns="0" tIns="0" rIns="0" bIns="0" rtlCol="0" anchor="ctr"/>
          <a:lstStyle/>
          <a:p>
            <a:pPr indent="0" marL="0">
              <a:buNone/>
            </a:pPr>
            <a:r>
              <a:rPr lang="en-US" sz="1200" dirty="0">
                <a:solidFill>
                  <a:schemeClr val="tx1"/>
                </a:solidFill>
              </a:rPr>
              <a:t>Debit A: money really leaves A</a:t>
            </a:r>
            <a:endParaRPr lang="en-US" sz="1200" dirty="0"/>
          </a:p>
        </p:txBody>
      </p:sp>
      <p:sp>
        <p:nvSpPr>
          <p:cNvPr id="17" name="Text 15"/>
          <p:cNvSpPr/>
          <p:nvPr/>
        </p:nvSpPr>
        <p:spPr>
          <a:xfrm>
            <a:off x="4892040" y="2267712"/>
            <a:ext cx="292608" cy="292608"/>
          </a:xfrm>
          <a:prstGeom prst="ellipse">
            <a:avLst/>
          </a:prstGeom>
          <a:solidFill>
            <a:schemeClr val="accent5"/>
          </a:solidFill>
          <a:ln w="6350">
            <a:solidFill>
              <a:schemeClr val="accent5"/>
            </a:solidFill>
          </a:ln>
        </p:spPr>
        <p:txBody>
          <a:bodyPr wrap="square" lIns="0" tIns="0" rIns="0" bIns="0" rtlCol="0" anchor="ctr"/>
          <a:lstStyle/>
          <a:p>
            <a:pPr algn="ctr" indent="0" marL="0">
              <a:buNone/>
            </a:pPr>
            <a:r>
              <a:rPr lang="en-US" sz="1050" b="1" dirty="0">
                <a:solidFill>
                  <a:schemeClr val="bg1"/>
                </a:solidFill>
              </a:rPr>
              <a:t>2</a:t>
            </a:r>
            <a:endParaRPr lang="en-US" sz="1050" dirty="0"/>
          </a:p>
        </p:txBody>
      </p:sp>
      <p:sp>
        <p:nvSpPr>
          <p:cNvPr id="18" name="Text 16"/>
          <p:cNvSpPr txBox="1"/>
          <p:nvPr/>
        </p:nvSpPr>
        <p:spPr>
          <a:xfrm>
            <a:off x="5303520" y="2231136"/>
            <a:ext cx="3291840" cy="365760"/>
          </a:xfrm>
          <a:prstGeom prst="rect">
            <a:avLst/>
          </a:prstGeom>
          <a:noFill/>
          <a:ln/>
        </p:spPr>
        <p:txBody>
          <a:bodyPr wrap="square" lIns="0" tIns="0" rIns="0" bIns="0" rtlCol="0" anchor="ctr"/>
          <a:lstStyle/>
          <a:p>
            <a:pPr indent="0" marL="0">
              <a:buNone/>
            </a:pPr>
            <a:r>
              <a:rPr lang="en-US" sz="1200" dirty="0">
                <a:solidFill>
                  <a:schemeClr val="tx1"/>
                </a:solidFill>
              </a:rPr>
              <a:t>Credit B fails</a:t>
            </a:r>
            <a:endParaRPr lang="en-US" sz="1200" dirty="0"/>
          </a:p>
        </p:txBody>
      </p:sp>
      <p:sp>
        <p:nvSpPr>
          <p:cNvPr id="19" name="Text 17"/>
          <p:cNvSpPr/>
          <p:nvPr/>
        </p:nvSpPr>
        <p:spPr>
          <a:xfrm>
            <a:off x="4892040" y="2697480"/>
            <a:ext cx="292608" cy="292608"/>
          </a:xfrm>
          <a:prstGeom prst="ellipse">
            <a:avLst/>
          </a:prstGeom>
          <a:solidFill>
            <a:schemeClr val="accent5"/>
          </a:solidFill>
          <a:ln w="6350">
            <a:solidFill>
              <a:schemeClr val="accent5"/>
            </a:solidFill>
          </a:ln>
        </p:spPr>
        <p:txBody>
          <a:bodyPr wrap="square" lIns="0" tIns="0" rIns="0" bIns="0" rtlCol="0" anchor="ctr"/>
          <a:lstStyle/>
          <a:p>
            <a:pPr algn="ctr" indent="0" marL="0">
              <a:buNone/>
            </a:pPr>
            <a:r>
              <a:rPr lang="en-US" sz="1050" b="1" dirty="0">
                <a:solidFill>
                  <a:schemeClr val="bg1"/>
                </a:solidFill>
              </a:rPr>
              <a:t>3</a:t>
            </a:r>
            <a:endParaRPr lang="en-US" sz="1050" dirty="0"/>
          </a:p>
        </p:txBody>
      </p:sp>
      <p:sp>
        <p:nvSpPr>
          <p:cNvPr id="20" name="Text 18"/>
          <p:cNvSpPr txBox="1"/>
          <p:nvPr/>
        </p:nvSpPr>
        <p:spPr>
          <a:xfrm>
            <a:off x="5303520" y="2660904"/>
            <a:ext cx="3291840" cy="365760"/>
          </a:xfrm>
          <a:prstGeom prst="rect">
            <a:avLst/>
          </a:prstGeom>
          <a:noFill/>
          <a:ln/>
        </p:spPr>
        <p:txBody>
          <a:bodyPr wrap="square" lIns="0" tIns="0" rIns="0" bIns="0" rtlCol="0" anchor="ctr"/>
          <a:lstStyle/>
          <a:p>
            <a:pPr indent="0" marL="0">
              <a:buNone/>
            </a:pPr>
            <a:r>
              <a:rPr lang="en-US" sz="1200" dirty="0">
                <a:solidFill>
                  <a:schemeClr val="tx1"/>
                </a:solidFill>
              </a:rPr>
              <a:t>Compensate: send money back to A</a:t>
            </a:r>
            <a:endParaRPr lang="en-US" sz="1200" dirty="0"/>
          </a:p>
        </p:txBody>
      </p:sp>
      <p:sp>
        <p:nvSpPr>
          <p:cNvPr id="21" name="Text 19"/>
          <p:cNvSpPr/>
          <p:nvPr/>
        </p:nvSpPr>
        <p:spPr>
          <a:xfrm>
            <a:off x="4892040" y="3108960"/>
            <a:ext cx="3611880" cy="365760"/>
          </a:xfrm>
          <a:prstGeom prst="roundRect">
            <a:avLst>
              <a:gd name="adj" fmla="val 20000"/>
            </a:avLst>
          </a:prstGeom>
          <a:solidFill>
            <a:schemeClr val="bg1"/>
          </a:solidFill>
          <a:ln w="12700">
            <a:solidFill>
              <a:schemeClr val="accent2"/>
            </a:solidFill>
          </a:ln>
        </p:spPr>
        <p:txBody>
          <a:bodyPr wrap="square" lIns="63500" tIns="63500" rIns="63500" bIns="63500" rtlCol="0" anchor="ctr"/>
          <a:lstStyle/>
          <a:p>
            <a:pPr algn="ctr" indent="0" marL="0">
              <a:buNone/>
            </a:pPr>
            <a:r>
              <a:rPr lang="en-US" sz="1200" b="1" dirty="0">
                <a:solidFill>
                  <a:schemeClr val="accent2"/>
                </a:solidFill>
              </a:rPr>
              <a:t>Money moved, then moved back</a:t>
            </a:r>
            <a:endParaRPr lang="en-US" sz="1200" dirty="0"/>
          </a:p>
        </p:txBody>
      </p:sp>
      <p:sp>
        <p:nvSpPr>
          <p:cNvPr id="22" name="Shape 20"/>
          <p:cNvSpPr/>
          <p:nvPr/>
        </p:nvSpPr>
        <p:spPr>
          <a:xfrm>
            <a:off x="457200" y="3657600"/>
            <a:ext cx="8229600" cy="411480"/>
          </a:xfrm>
          <a:prstGeom prst="roundRect">
            <a:avLst>
              <a:gd name="adj" fmla="val 17778"/>
            </a:avLst>
          </a:prstGeom>
          <a:solidFill>
            <a:schemeClr val="tx1"/>
          </a:solidFill>
          <a:ln w="6350">
            <a:solidFill>
              <a:schemeClr val="tx1"/>
            </a:solidFill>
            <a:prstDash val="solid"/>
          </a:ln>
        </p:spPr>
      </p:sp>
      <p:sp>
        <p:nvSpPr>
          <p:cNvPr id="23" name="Text 21"/>
          <p:cNvSpPr txBox="1"/>
          <p:nvPr/>
        </p:nvSpPr>
        <p:spPr>
          <a:xfrm>
            <a:off x="640080" y="3657600"/>
            <a:ext cx="7863840" cy="411480"/>
          </a:xfrm>
          <a:prstGeom prst="rect">
            <a:avLst/>
          </a:prstGeom>
          <a:noFill/>
          <a:ln/>
        </p:spPr>
        <p:txBody>
          <a:bodyPr wrap="square" lIns="0" tIns="0" rIns="0" bIns="0" rtlCol="0" anchor="ctr"/>
          <a:lstStyle/>
          <a:p>
            <a:pPr indent="0" marL="0">
              <a:buNone/>
            </a:pPr>
            <a:r>
              <a:rPr lang="en-US" sz="1250" b="1" dirty="0">
                <a:solidFill>
                  <a:srgbClr val="7FD3CF"/>
                </a:solidFill>
              </a:rPr>
              <a:t>Key difference: </a:t>
            </a:r>
            <a:pPr indent="0" marL="0">
              <a:buNone/>
            </a:pPr>
            <a:r>
              <a:rPr lang="en-US" sz="1250" dirty="0">
                <a:solidFill>
                  <a:schemeClr val="bg1"/>
                </a:solidFill>
              </a:rPr>
              <a:t>TCC reserves before acting. Saga acts first and fixes later.</a:t>
            </a:r>
            <a:endParaRPr lang="en-US" sz="1250" dirty="0"/>
          </a:p>
        </p:txBody>
      </p:sp>
      <p:sp>
        <p:nvSpPr>
          <p:cNvPr id="24" name="Shape 22"/>
          <p:cNvSpPr/>
          <p:nvPr/>
        </p:nvSpPr>
        <p:spPr>
          <a:xfrm>
            <a:off x="457200" y="4160520"/>
            <a:ext cx="3977640" cy="502920"/>
          </a:xfrm>
          <a:prstGeom prst="roundRect">
            <a:avLst>
              <a:gd name="adj" fmla="val 14545"/>
            </a:avLst>
          </a:prstGeom>
          <a:solidFill>
            <a:schemeClr val="bg2"/>
          </a:solidFill>
          <a:ln w="6350">
            <a:solidFill>
              <a:srgbClr val="E1E6EB"/>
            </a:solidFill>
            <a:prstDash val="solid"/>
          </a:ln>
        </p:spPr>
      </p:sp>
      <p:sp>
        <p:nvSpPr>
          <p:cNvPr id="25" name="Text 23"/>
          <p:cNvSpPr txBox="1"/>
          <p:nvPr/>
        </p:nvSpPr>
        <p:spPr>
          <a:xfrm>
            <a:off x="640080" y="4178808"/>
            <a:ext cx="3611880" cy="466344"/>
          </a:xfrm>
          <a:prstGeom prst="rect">
            <a:avLst/>
          </a:prstGeom>
          <a:noFill/>
          <a:ln/>
        </p:spPr>
        <p:txBody>
          <a:bodyPr wrap="square" lIns="0" tIns="0" rIns="0" bIns="0" rtlCol="0" anchor="ctr"/>
          <a:lstStyle/>
          <a:p>
            <a:pPr indent="0" marL="0">
              <a:buNone/>
            </a:pPr>
            <a:r>
              <a:rPr lang="en-US" sz="1100" b="1" dirty="0">
                <a:solidFill>
                  <a:schemeClr val="accent4"/>
                </a:solidFill>
              </a:rPr>
              <a:t>Pick TCC when: </a:t>
            </a:r>
            <a:pPr indent="0" marL="0">
              <a:buNone/>
            </a:pPr>
            <a:r>
              <a:rPr lang="en-US" sz="1100" dirty="0">
                <a:solidFill>
                  <a:schemeClr val="tx1"/>
                </a:solidFill>
              </a:rPr>
              <a:t>you must stop double spending during the flow.</a:t>
            </a:r>
            <a:endParaRPr lang="en-US" sz="1100" dirty="0"/>
          </a:p>
        </p:txBody>
      </p:sp>
      <p:sp>
        <p:nvSpPr>
          <p:cNvPr id="26" name="Shape 24"/>
          <p:cNvSpPr/>
          <p:nvPr/>
        </p:nvSpPr>
        <p:spPr>
          <a:xfrm>
            <a:off x="4709160" y="4160520"/>
            <a:ext cx="3977640" cy="502920"/>
          </a:xfrm>
          <a:prstGeom prst="roundRect">
            <a:avLst>
              <a:gd name="adj" fmla="val 14545"/>
            </a:avLst>
          </a:prstGeom>
          <a:solidFill>
            <a:schemeClr val="bg2"/>
          </a:solidFill>
          <a:ln w="6350">
            <a:solidFill>
              <a:srgbClr val="E1E6EB"/>
            </a:solidFill>
            <a:prstDash val="solid"/>
          </a:ln>
        </p:spPr>
      </p:sp>
      <p:sp>
        <p:nvSpPr>
          <p:cNvPr id="27" name="Text 25"/>
          <p:cNvSpPr txBox="1"/>
          <p:nvPr/>
        </p:nvSpPr>
        <p:spPr>
          <a:xfrm>
            <a:off x="4892040" y="4178808"/>
            <a:ext cx="3611880" cy="466344"/>
          </a:xfrm>
          <a:prstGeom prst="rect">
            <a:avLst/>
          </a:prstGeom>
          <a:noFill/>
          <a:ln/>
        </p:spPr>
        <p:txBody>
          <a:bodyPr wrap="square" lIns="0" tIns="0" rIns="0" bIns="0" rtlCol="0" anchor="ctr"/>
          <a:lstStyle/>
          <a:p>
            <a:pPr indent="0" marL="0">
              <a:buNone/>
            </a:pPr>
            <a:r>
              <a:rPr lang="en-US" sz="1100" b="1" dirty="0">
                <a:solidFill>
                  <a:schemeClr val="accent5"/>
                </a:solidFill>
              </a:rPr>
              <a:t>Pick Saga when: </a:t>
            </a:r>
            <a:pPr indent="0" marL="0">
              <a:buNone/>
            </a:pPr>
            <a:r>
              <a:rPr lang="en-US" sz="1100" dirty="0">
                <a:solidFill>
                  <a:schemeClr val="tx1"/>
                </a:solidFill>
              </a:rPr>
              <a:t>the process is long and reserving resources is impractical.</a:t>
            </a:r>
            <a:endParaRPr lang="en-US" sz="11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Head-to-head cheat sheet</a:t>
            </a:r>
            <a:endParaRPr lang="en-US" sz="24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463040"/>
                <a:gridCol w="3657600"/>
                <a:gridCol w="3108960"/>
              </a:tblGrid>
              <a:tr h="457200">
                <a:tc>
                  <a:txBody>
                    <a:bodyPr/>
                    <a:lstStyle/>
                    <a:p>
                      <a:pPr algn="ctr" indent="0" marL="0">
                        <a:buNone/>
                      </a:pPr>
                      <a:r>
                        <a:rPr lang="en-US" sz="1200" b="1" dirty="0">
                          <a:solidFill>
                            <a:schemeClr val="bg1"/>
                          </a:solidFill>
                        </a:rPr>
                        <a:t>Pair</a:t>
                      </a:r>
                      <a:endParaRPr lang="en-US" sz="120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1"/>
                    </a:solidFill>
                  </a:tcPr>
                </a:tc>
                <a:tc>
                  <a:txBody>
                    <a:bodyPr/>
                    <a:lstStyle/>
                    <a:p>
                      <a:pPr algn="ctr" indent="0" marL="0">
                        <a:buNone/>
                      </a:pPr>
                      <a:r>
                        <a:rPr lang="en-US" sz="1200" b="1" dirty="0">
                          <a:solidFill>
                            <a:schemeClr val="bg1"/>
                          </a:solidFill>
                        </a:rPr>
                        <a:t>Key difference</a:t>
                      </a:r>
                      <a:endParaRPr lang="en-US" sz="120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1"/>
                    </a:solidFill>
                  </a:tcPr>
                </a:tc>
                <a:tc>
                  <a:txBody>
                    <a:bodyPr/>
                    <a:lstStyle/>
                    <a:p>
                      <a:pPr algn="ctr" indent="0" marL="0">
                        <a:buNone/>
                      </a:pPr>
                      <a:r>
                        <a:rPr lang="en-US" sz="1200" b="1" dirty="0">
                          <a:solidFill>
                            <a:schemeClr val="bg1"/>
                          </a:solidFill>
                        </a:rPr>
                        <a:t>Lean towards</a:t>
                      </a:r>
                      <a:endParaRPr lang="en-US" sz="120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1"/>
                    </a:solidFill>
                  </a:tcPr>
                </a:tc>
              </a:tr>
              <a:tr h="457200">
                <a:tc>
                  <a:txBody>
                    <a:bodyPr/>
                    <a:lstStyle/>
                    <a:p>
                      <a:pPr indent="0" marL="0">
                        <a:buNone/>
                      </a:pPr>
                      <a:r>
                        <a:rPr lang="en-US" sz="1200" b="1" dirty="0">
                          <a:solidFill>
                            <a:schemeClr val="tx1"/>
                          </a:solidFill>
                        </a:rPr>
                        <a:t>AT vs XA</a:t>
                      </a:r>
                      <a:endParaRPr lang="en-US" sz="120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Only XA hides the in-between state</a:t>
                      </a:r>
                      <a:endParaRPr lang="en-US" sz="115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50" dirty="0">
                          <a:solidFill>
                            <a:schemeClr val="tx1"/>
                          </a:solidFill>
                        </a:rPr>
                        <a:t>XA for money between our DBs</a:t>
                      </a:r>
                      <a:endParaRPr lang="en-US" sz="115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457200">
                <a:tc>
                  <a:txBody>
                    <a:bodyPr/>
                    <a:lstStyle/>
                    <a:p>
                      <a:pPr indent="0" marL="0">
                        <a:buNone/>
                      </a:pPr>
                      <a:r>
                        <a:rPr lang="en-US" sz="1200" b="1" dirty="0">
                          <a:solidFill>
                            <a:schemeClr val="tx1"/>
                          </a:solidFill>
                        </a:rPr>
                        <a:t>XA vs Saga</a:t>
                      </a:r>
                      <a:endParaRPr lang="en-US" sz="120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Database rollback vs new reversal action</a:t>
                      </a:r>
                      <a:endParaRPr lang="en-US" sz="115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50" dirty="0">
                          <a:solidFill>
                            <a:schemeClr val="tx1"/>
                          </a:solidFill>
                        </a:rPr>
                        <a:t>XA for core transfer, Saga for long flows</a:t>
                      </a:r>
                      <a:endParaRPr lang="en-US" sz="115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457200">
                <a:tc>
                  <a:txBody>
                    <a:bodyPr/>
                    <a:lstStyle/>
                    <a:p>
                      <a:pPr indent="0" marL="0">
                        <a:buNone/>
                      </a:pPr>
                      <a:r>
                        <a:rPr lang="en-US" sz="1200" b="1" dirty="0">
                          <a:solidFill>
                            <a:schemeClr val="tx1"/>
                          </a:solidFill>
                        </a:rPr>
                        <a:t>XA vs TCC</a:t>
                      </a:r>
                      <a:endParaRPr lang="en-US" sz="120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Database locks vs business reservations</a:t>
                      </a:r>
                      <a:endParaRPr lang="en-US" sz="115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50" dirty="0">
                          <a:solidFill>
                            <a:schemeClr val="tx1"/>
                          </a:solidFill>
                        </a:rPr>
                        <a:t>XA for less code, TCC for throughput</a:t>
                      </a:r>
                      <a:endParaRPr lang="en-US" sz="115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457200">
                <a:tc>
                  <a:txBody>
                    <a:bodyPr/>
                    <a:lstStyle/>
                    <a:p>
                      <a:pPr indent="0" marL="0">
                        <a:buNone/>
                      </a:pPr>
                      <a:r>
                        <a:rPr lang="en-US" sz="1200" b="1" dirty="0">
                          <a:solidFill>
                            <a:schemeClr val="tx1"/>
                          </a:solidFill>
                        </a:rPr>
                        <a:t>AT vs TCC</a:t>
                      </a:r>
                      <a:endParaRPr lang="en-US" sz="120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Change then undo vs hold then confirm</a:t>
                      </a:r>
                      <a:endParaRPr lang="en-US" sz="115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50" dirty="0">
                          <a:solidFill>
                            <a:schemeClr val="tx1"/>
                          </a:solidFill>
                        </a:rPr>
                        <a:t>TCC when reserving money or stock</a:t>
                      </a:r>
                      <a:endParaRPr lang="en-US" sz="115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457200">
                <a:tc>
                  <a:txBody>
                    <a:bodyPr/>
                    <a:lstStyle/>
                    <a:p>
                      <a:pPr indent="0" marL="0">
                        <a:buNone/>
                      </a:pPr>
                      <a:r>
                        <a:rPr lang="en-US" sz="1200" b="1" dirty="0">
                          <a:solidFill>
                            <a:schemeClr val="tx1"/>
                          </a:solidFill>
                        </a:rPr>
                        <a:t>AT vs Saga</a:t>
                      </a:r>
                      <a:endParaRPr lang="en-US" sz="120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Automatic undo vs business compensation</a:t>
                      </a:r>
                      <a:endParaRPr lang="en-US" sz="115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50" dirty="0">
                          <a:solidFill>
                            <a:schemeClr val="tx1"/>
                          </a:solidFill>
                        </a:rPr>
                        <a:t>AT for short DB-only flows</a:t>
                      </a:r>
                      <a:endParaRPr lang="en-US" sz="115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457200">
                <a:tc>
                  <a:txBody>
                    <a:bodyPr/>
                    <a:lstStyle/>
                    <a:p>
                      <a:pPr indent="0" marL="0">
                        <a:buNone/>
                      </a:pPr>
                      <a:r>
                        <a:rPr lang="en-US" sz="1200" b="1" dirty="0">
                          <a:solidFill>
                            <a:schemeClr val="tx1"/>
                          </a:solidFill>
                        </a:rPr>
                        <a:t>TCC vs Saga</a:t>
                      </a:r>
                      <a:endParaRPr lang="en-US" sz="120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150" dirty="0">
                          <a:solidFill>
                            <a:schemeClr val="tx1"/>
                          </a:solidFill>
                        </a:rPr>
                        <a:t>Reserve first vs act first, fix later</a:t>
                      </a:r>
                      <a:endParaRPr lang="en-US" sz="115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150" dirty="0">
                          <a:solidFill>
                            <a:schemeClr val="tx1"/>
                          </a:solidFill>
                        </a:rPr>
                        <a:t>TCC to stop double spending</a:t>
                      </a:r>
                      <a:endParaRPr lang="en-US" sz="115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Which mode fits? Ask in this order</a:t>
            </a:r>
            <a:endParaRPr lang="en-US" sz="2400" dirty="0"/>
          </a:p>
        </p:txBody>
      </p:sp>
      <p:sp>
        <p:nvSpPr>
          <p:cNvPr id="3" name="Text 1"/>
          <p:cNvSpPr/>
          <p:nvPr/>
        </p:nvSpPr>
        <p:spPr>
          <a:xfrm>
            <a:off x="457200" y="1097280"/>
            <a:ext cx="4846320" cy="548640"/>
          </a:xfrm>
          <a:prstGeom prst="roundRect">
            <a:avLst>
              <a:gd name="adj" fmla="val 13333"/>
            </a:avLst>
          </a:prstGeom>
          <a:solidFill>
            <a:schemeClr val="bg2"/>
          </a:solidFill>
          <a:ln w="9525">
            <a:solidFill>
              <a:srgbClr val="D5DCE3"/>
            </a:solidFill>
          </a:ln>
        </p:spPr>
        <p:txBody>
          <a:bodyPr wrap="square" lIns="114300" tIns="114300" rIns="114300" bIns="114300" rtlCol="0" anchor="ctr"/>
          <a:lstStyle/>
          <a:p>
            <a:pPr algn="l" indent="0" marL="0">
              <a:buNone/>
            </a:pPr>
            <a:r>
              <a:rPr lang="en-US" sz="1300" dirty="0">
                <a:solidFill>
                  <a:schemeClr val="tx1"/>
                </a:solidFill>
              </a:rPr>
              <a:t>Both accounts in one database?</a:t>
            </a:r>
            <a:endParaRPr lang="en-US" sz="1300" dirty="0"/>
          </a:p>
        </p:txBody>
      </p:sp>
      <p:sp>
        <p:nvSpPr>
          <p:cNvPr id="4" name="Text 2"/>
          <p:cNvSpPr txBox="1"/>
          <p:nvPr/>
        </p:nvSpPr>
        <p:spPr>
          <a:xfrm>
            <a:off x="5394960" y="1115568"/>
            <a:ext cx="640080" cy="228600"/>
          </a:xfrm>
          <a:prstGeom prst="rect">
            <a:avLst/>
          </a:prstGeom>
          <a:noFill/>
          <a:ln/>
        </p:spPr>
        <p:txBody>
          <a:bodyPr wrap="square" lIns="0" tIns="0" rIns="0" bIns="0" rtlCol="0" anchor="t"/>
          <a:lstStyle/>
          <a:p>
            <a:pPr algn="ctr" indent="0" marL="0">
              <a:buNone/>
            </a:pPr>
            <a:r>
              <a:rPr lang="en-US" sz="1050" dirty="0">
                <a:solidFill>
                  <a:schemeClr val="tx2"/>
                </a:solidFill>
              </a:rPr>
              <a:t>Yes</a:t>
            </a:r>
            <a:endParaRPr lang="en-US" sz="1050" dirty="0"/>
          </a:p>
        </p:txBody>
      </p:sp>
      <p:sp>
        <p:nvSpPr>
          <p:cNvPr id="5" name="Shape 3"/>
          <p:cNvSpPr/>
          <p:nvPr/>
        </p:nvSpPr>
        <p:spPr>
          <a:xfrm>
            <a:off x="5349240" y="1371600"/>
            <a:ext cx="731520" cy="0"/>
          </a:xfrm>
          <a:prstGeom prst="line">
            <a:avLst/>
          </a:prstGeom>
          <a:noFill/>
          <a:ln w="15875">
            <a:solidFill>
              <a:schemeClr val="tx2"/>
            </a:solidFill>
            <a:prstDash val="solid"/>
            <a:tailEnd type="triangle"/>
          </a:ln>
        </p:spPr>
      </p:sp>
      <p:sp>
        <p:nvSpPr>
          <p:cNvPr id="6" name="Text 4"/>
          <p:cNvSpPr/>
          <p:nvPr/>
        </p:nvSpPr>
        <p:spPr>
          <a:xfrm>
            <a:off x="6172200" y="1097280"/>
            <a:ext cx="2514600" cy="548640"/>
          </a:xfrm>
          <a:prstGeom prst="roundRect">
            <a:avLst>
              <a:gd name="adj" fmla="val 13333"/>
            </a:avLst>
          </a:prstGeom>
          <a:solidFill>
            <a:schemeClr val="bg2"/>
          </a:solidFill>
          <a:ln w="6350">
            <a:solidFill>
              <a:schemeClr val="bg2"/>
            </a:solidFill>
          </a:ln>
        </p:spPr>
        <p:txBody>
          <a:bodyPr wrap="square" lIns="63500" tIns="63500" rIns="63500" bIns="63500" rtlCol="0" anchor="ctr"/>
          <a:lstStyle/>
          <a:p>
            <a:pPr algn="ctr" indent="0" marL="0">
              <a:buNone/>
            </a:pPr>
            <a:r>
              <a:rPr lang="en-US" sz="1300" b="1" dirty="0">
                <a:solidFill>
                  <a:schemeClr val="tx2"/>
                </a:solidFill>
              </a:rPr>
              <a:t>Plain local transaction, no Seata</a:t>
            </a:r>
            <a:endParaRPr lang="en-US" sz="1300" dirty="0"/>
          </a:p>
        </p:txBody>
      </p:sp>
      <p:sp>
        <p:nvSpPr>
          <p:cNvPr id="7" name="Text 5"/>
          <p:cNvSpPr txBox="1"/>
          <p:nvPr/>
        </p:nvSpPr>
        <p:spPr>
          <a:xfrm>
            <a:off x="594360" y="1645920"/>
            <a:ext cx="457200" cy="228600"/>
          </a:xfrm>
          <a:prstGeom prst="rect">
            <a:avLst/>
          </a:prstGeom>
          <a:noFill/>
          <a:ln/>
        </p:spPr>
        <p:txBody>
          <a:bodyPr wrap="square" lIns="0" tIns="0" rIns="0" bIns="0" rtlCol="0" anchor="t"/>
          <a:lstStyle/>
          <a:p>
            <a:pPr indent="0" marL="0">
              <a:buNone/>
            </a:pPr>
            <a:r>
              <a:rPr lang="en-US" sz="1050" dirty="0">
                <a:solidFill>
                  <a:schemeClr val="tx2"/>
                </a:solidFill>
              </a:rPr>
              <a:t>No</a:t>
            </a:r>
            <a:endParaRPr lang="en-US" sz="1050" dirty="0"/>
          </a:p>
        </p:txBody>
      </p:sp>
      <p:sp>
        <p:nvSpPr>
          <p:cNvPr id="8" name="Text 6"/>
          <p:cNvSpPr/>
          <p:nvPr/>
        </p:nvSpPr>
        <p:spPr>
          <a:xfrm>
            <a:off x="457200" y="1874520"/>
            <a:ext cx="4846320" cy="548640"/>
          </a:xfrm>
          <a:prstGeom prst="roundRect">
            <a:avLst>
              <a:gd name="adj" fmla="val 13333"/>
            </a:avLst>
          </a:prstGeom>
          <a:solidFill>
            <a:schemeClr val="bg2"/>
          </a:solidFill>
          <a:ln w="9525">
            <a:solidFill>
              <a:srgbClr val="D5DCE3"/>
            </a:solidFill>
          </a:ln>
        </p:spPr>
        <p:txBody>
          <a:bodyPr wrap="square" lIns="114300" tIns="114300" rIns="114300" bIns="114300" rtlCol="0" anchor="ctr"/>
          <a:lstStyle/>
          <a:p>
            <a:pPr algn="l" indent="0" marL="0">
              <a:buNone/>
            </a:pPr>
            <a:r>
              <a:rPr lang="en-US" sz="1300" dirty="0">
                <a:solidFill>
                  <a:schemeClr val="tx1"/>
                </a:solidFill>
              </a:rPr>
              <a:t>Long workflow or external system (bank, card)?</a:t>
            </a:r>
            <a:endParaRPr lang="en-US" sz="1300" dirty="0"/>
          </a:p>
        </p:txBody>
      </p:sp>
      <p:sp>
        <p:nvSpPr>
          <p:cNvPr id="9" name="Text 7"/>
          <p:cNvSpPr txBox="1"/>
          <p:nvPr/>
        </p:nvSpPr>
        <p:spPr>
          <a:xfrm>
            <a:off x="5394960" y="1892808"/>
            <a:ext cx="640080" cy="228600"/>
          </a:xfrm>
          <a:prstGeom prst="rect">
            <a:avLst/>
          </a:prstGeom>
          <a:noFill/>
          <a:ln/>
        </p:spPr>
        <p:txBody>
          <a:bodyPr wrap="square" lIns="0" tIns="0" rIns="0" bIns="0" rtlCol="0" anchor="t"/>
          <a:lstStyle/>
          <a:p>
            <a:pPr algn="ctr" indent="0" marL="0">
              <a:buNone/>
            </a:pPr>
            <a:r>
              <a:rPr lang="en-US" sz="1050" dirty="0">
                <a:solidFill>
                  <a:schemeClr val="tx2"/>
                </a:solidFill>
              </a:rPr>
              <a:t>Yes</a:t>
            </a:r>
            <a:endParaRPr lang="en-US" sz="1050" dirty="0"/>
          </a:p>
        </p:txBody>
      </p:sp>
      <p:sp>
        <p:nvSpPr>
          <p:cNvPr id="10" name="Shape 8"/>
          <p:cNvSpPr/>
          <p:nvPr/>
        </p:nvSpPr>
        <p:spPr>
          <a:xfrm>
            <a:off x="5349240" y="2148840"/>
            <a:ext cx="731520" cy="0"/>
          </a:xfrm>
          <a:prstGeom prst="line">
            <a:avLst/>
          </a:prstGeom>
          <a:noFill/>
          <a:ln w="15875">
            <a:solidFill>
              <a:schemeClr val="tx2"/>
            </a:solidFill>
            <a:prstDash val="solid"/>
            <a:tailEnd type="triangle"/>
          </a:ln>
        </p:spPr>
      </p:sp>
      <p:sp>
        <p:nvSpPr>
          <p:cNvPr id="11" name="Text 9"/>
          <p:cNvSpPr/>
          <p:nvPr/>
        </p:nvSpPr>
        <p:spPr>
          <a:xfrm>
            <a:off x="6172200" y="1874520"/>
            <a:ext cx="2514600" cy="548640"/>
          </a:xfrm>
          <a:prstGeom prst="roundRect">
            <a:avLst>
              <a:gd name="adj" fmla="val 13333"/>
            </a:avLst>
          </a:prstGeom>
          <a:solidFill>
            <a:srgbClr val="ECECFB"/>
          </a:solidFill>
          <a:ln w="6350">
            <a:solidFill>
              <a:srgbClr val="ECECFB"/>
            </a:solidFill>
          </a:ln>
        </p:spPr>
        <p:txBody>
          <a:bodyPr wrap="square" lIns="63500" tIns="63500" rIns="63500" bIns="63500" rtlCol="0" anchor="ctr"/>
          <a:lstStyle/>
          <a:p>
            <a:pPr algn="ctr" indent="0" marL="0">
              <a:buNone/>
            </a:pPr>
            <a:r>
              <a:rPr lang="en-US" sz="1300" b="1" dirty="0">
                <a:solidFill>
                  <a:schemeClr val="accent5"/>
                </a:solidFill>
              </a:rPr>
              <a:t>Saga</a:t>
            </a:r>
            <a:endParaRPr lang="en-US" sz="1300" dirty="0"/>
          </a:p>
        </p:txBody>
      </p:sp>
      <p:sp>
        <p:nvSpPr>
          <p:cNvPr id="12" name="Text 10"/>
          <p:cNvSpPr txBox="1"/>
          <p:nvPr/>
        </p:nvSpPr>
        <p:spPr>
          <a:xfrm>
            <a:off x="594360" y="2423160"/>
            <a:ext cx="457200" cy="228600"/>
          </a:xfrm>
          <a:prstGeom prst="rect">
            <a:avLst/>
          </a:prstGeom>
          <a:noFill/>
          <a:ln/>
        </p:spPr>
        <p:txBody>
          <a:bodyPr wrap="square" lIns="0" tIns="0" rIns="0" bIns="0" rtlCol="0" anchor="t"/>
          <a:lstStyle/>
          <a:p>
            <a:pPr indent="0" marL="0">
              <a:buNone/>
            </a:pPr>
            <a:r>
              <a:rPr lang="en-US" sz="1050" dirty="0">
                <a:solidFill>
                  <a:schemeClr val="tx2"/>
                </a:solidFill>
              </a:rPr>
              <a:t>No</a:t>
            </a:r>
            <a:endParaRPr lang="en-US" sz="1050" dirty="0"/>
          </a:p>
        </p:txBody>
      </p:sp>
      <p:sp>
        <p:nvSpPr>
          <p:cNvPr id="13" name="Text 11"/>
          <p:cNvSpPr/>
          <p:nvPr/>
        </p:nvSpPr>
        <p:spPr>
          <a:xfrm>
            <a:off x="457200" y="2651760"/>
            <a:ext cx="4846320" cy="548640"/>
          </a:xfrm>
          <a:prstGeom prst="roundRect">
            <a:avLst>
              <a:gd name="adj" fmla="val 13333"/>
            </a:avLst>
          </a:prstGeom>
          <a:solidFill>
            <a:schemeClr val="bg2"/>
          </a:solidFill>
          <a:ln w="9525">
            <a:solidFill>
              <a:srgbClr val="D5DCE3"/>
            </a:solidFill>
          </a:ln>
        </p:spPr>
        <p:txBody>
          <a:bodyPr wrap="square" lIns="114300" tIns="114300" rIns="114300" bIns="114300" rtlCol="0" anchor="ctr"/>
          <a:lstStyle/>
          <a:p>
            <a:pPr algn="l" indent="0" marL="0">
              <a:buNone/>
            </a:pPr>
            <a:r>
              <a:rPr lang="en-US" sz="1300" dirty="0">
                <a:solidFill>
                  <a:schemeClr val="tx1"/>
                </a:solidFill>
              </a:rPr>
              <a:t>Need to reserve funds at business level?</a:t>
            </a:r>
            <a:endParaRPr lang="en-US" sz="1300" dirty="0"/>
          </a:p>
        </p:txBody>
      </p:sp>
      <p:sp>
        <p:nvSpPr>
          <p:cNvPr id="14" name="Text 12"/>
          <p:cNvSpPr txBox="1"/>
          <p:nvPr/>
        </p:nvSpPr>
        <p:spPr>
          <a:xfrm>
            <a:off x="5394960" y="2670048"/>
            <a:ext cx="640080" cy="228600"/>
          </a:xfrm>
          <a:prstGeom prst="rect">
            <a:avLst/>
          </a:prstGeom>
          <a:noFill/>
          <a:ln/>
        </p:spPr>
        <p:txBody>
          <a:bodyPr wrap="square" lIns="0" tIns="0" rIns="0" bIns="0" rtlCol="0" anchor="t"/>
          <a:lstStyle/>
          <a:p>
            <a:pPr algn="ctr" indent="0" marL="0">
              <a:buNone/>
            </a:pPr>
            <a:r>
              <a:rPr lang="en-US" sz="1050" dirty="0">
                <a:solidFill>
                  <a:schemeClr val="tx2"/>
                </a:solidFill>
              </a:rPr>
              <a:t>Yes</a:t>
            </a:r>
            <a:endParaRPr lang="en-US" sz="1050" dirty="0"/>
          </a:p>
        </p:txBody>
      </p:sp>
      <p:sp>
        <p:nvSpPr>
          <p:cNvPr id="15" name="Shape 13"/>
          <p:cNvSpPr/>
          <p:nvPr/>
        </p:nvSpPr>
        <p:spPr>
          <a:xfrm>
            <a:off x="5349240" y="2926080"/>
            <a:ext cx="731520" cy="0"/>
          </a:xfrm>
          <a:prstGeom prst="line">
            <a:avLst/>
          </a:prstGeom>
          <a:noFill/>
          <a:ln w="15875">
            <a:solidFill>
              <a:schemeClr val="tx2"/>
            </a:solidFill>
            <a:prstDash val="solid"/>
            <a:tailEnd type="triangle"/>
          </a:ln>
        </p:spPr>
      </p:sp>
      <p:sp>
        <p:nvSpPr>
          <p:cNvPr id="16" name="Text 14"/>
          <p:cNvSpPr/>
          <p:nvPr/>
        </p:nvSpPr>
        <p:spPr>
          <a:xfrm>
            <a:off x="6172200" y="2651760"/>
            <a:ext cx="2514600" cy="548640"/>
          </a:xfrm>
          <a:prstGeom prst="roundRect">
            <a:avLst>
              <a:gd name="adj" fmla="val 13333"/>
            </a:avLst>
          </a:prstGeom>
          <a:solidFill>
            <a:srgbClr val="FDF3E2"/>
          </a:solidFill>
          <a:ln w="6350">
            <a:solidFill>
              <a:srgbClr val="FDF3E2"/>
            </a:solidFill>
          </a:ln>
        </p:spPr>
        <p:txBody>
          <a:bodyPr wrap="square" lIns="63500" tIns="63500" rIns="63500" bIns="63500" rtlCol="0" anchor="ctr"/>
          <a:lstStyle/>
          <a:p>
            <a:pPr algn="ctr" indent="0" marL="0">
              <a:buNone/>
            </a:pPr>
            <a:r>
              <a:rPr lang="en-US" sz="1300" b="1" dirty="0">
                <a:solidFill>
                  <a:schemeClr val="accent4"/>
                </a:solidFill>
              </a:rPr>
              <a:t>TCC</a:t>
            </a:r>
            <a:endParaRPr lang="en-US" sz="1300" dirty="0"/>
          </a:p>
        </p:txBody>
      </p:sp>
      <p:sp>
        <p:nvSpPr>
          <p:cNvPr id="17" name="Text 15"/>
          <p:cNvSpPr txBox="1"/>
          <p:nvPr/>
        </p:nvSpPr>
        <p:spPr>
          <a:xfrm>
            <a:off x="594360" y="3200400"/>
            <a:ext cx="457200" cy="228600"/>
          </a:xfrm>
          <a:prstGeom prst="rect">
            <a:avLst/>
          </a:prstGeom>
          <a:noFill/>
          <a:ln/>
        </p:spPr>
        <p:txBody>
          <a:bodyPr wrap="square" lIns="0" tIns="0" rIns="0" bIns="0" rtlCol="0" anchor="t"/>
          <a:lstStyle/>
          <a:p>
            <a:pPr indent="0" marL="0">
              <a:buNone/>
            </a:pPr>
            <a:r>
              <a:rPr lang="en-US" sz="1050" dirty="0">
                <a:solidFill>
                  <a:schemeClr val="tx2"/>
                </a:solidFill>
              </a:rPr>
              <a:t>No</a:t>
            </a:r>
            <a:endParaRPr lang="en-US" sz="1050" dirty="0"/>
          </a:p>
        </p:txBody>
      </p:sp>
      <p:sp>
        <p:nvSpPr>
          <p:cNvPr id="18" name="Text 16"/>
          <p:cNvSpPr/>
          <p:nvPr/>
        </p:nvSpPr>
        <p:spPr>
          <a:xfrm>
            <a:off x="457200" y="3429000"/>
            <a:ext cx="4846320" cy="548640"/>
          </a:xfrm>
          <a:prstGeom prst="roundRect">
            <a:avLst>
              <a:gd name="adj" fmla="val 13333"/>
            </a:avLst>
          </a:prstGeom>
          <a:solidFill>
            <a:schemeClr val="bg2"/>
          </a:solidFill>
          <a:ln w="9525">
            <a:solidFill>
              <a:srgbClr val="D5DCE3"/>
            </a:solidFill>
          </a:ln>
        </p:spPr>
        <p:txBody>
          <a:bodyPr wrap="square" lIns="114300" tIns="114300" rIns="114300" bIns="114300" rtlCol="0" anchor="ctr"/>
          <a:lstStyle/>
          <a:p>
            <a:pPr algn="l" indent="0" marL="0">
              <a:buNone/>
            </a:pPr>
            <a:r>
              <a:rPr lang="en-US" sz="1300" dirty="0">
                <a:solidFill>
                  <a:schemeClr val="tx1"/>
                </a:solidFill>
              </a:rPr>
              <a:t>Separate databases and strict isolation needed?</a:t>
            </a:r>
            <a:endParaRPr lang="en-US" sz="1300" dirty="0"/>
          </a:p>
        </p:txBody>
      </p:sp>
      <p:sp>
        <p:nvSpPr>
          <p:cNvPr id="19" name="Text 17"/>
          <p:cNvSpPr txBox="1"/>
          <p:nvPr/>
        </p:nvSpPr>
        <p:spPr>
          <a:xfrm>
            <a:off x="5394960" y="3447288"/>
            <a:ext cx="640080" cy="228600"/>
          </a:xfrm>
          <a:prstGeom prst="rect">
            <a:avLst/>
          </a:prstGeom>
          <a:noFill/>
          <a:ln/>
        </p:spPr>
        <p:txBody>
          <a:bodyPr wrap="square" lIns="0" tIns="0" rIns="0" bIns="0" rtlCol="0" anchor="t"/>
          <a:lstStyle/>
          <a:p>
            <a:pPr algn="ctr" indent="0" marL="0">
              <a:buNone/>
            </a:pPr>
            <a:r>
              <a:rPr lang="en-US" sz="1050" dirty="0">
                <a:solidFill>
                  <a:schemeClr val="tx2"/>
                </a:solidFill>
              </a:rPr>
              <a:t>Yes</a:t>
            </a:r>
            <a:endParaRPr lang="en-US" sz="1050" dirty="0"/>
          </a:p>
        </p:txBody>
      </p:sp>
      <p:sp>
        <p:nvSpPr>
          <p:cNvPr id="20" name="Shape 18"/>
          <p:cNvSpPr/>
          <p:nvPr/>
        </p:nvSpPr>
        <p:spPr>
          <a:xfrm>
            <a:off x="5349240" y="3703320"/>
            <a:ext cx="731520" cy="0"/>
          </a:xfrm>
          <a:prstGeom prst="line">
            <a:avLst/>
          </a:prstGeom>
          <a:noFill/>
          <a:ln w="15875">
            <a:solidFill>
              <a:schemeClr val="tx2"/>
            </a:solidFill>
            <a:prstDash val="solid"/>
            <a:tailEnd type="triangle"/>
          </a:ln>
        </p:spPr>
      </p:sp>
      <p:sp>
        <p:nvSpPr>
          <p:cNvPr id="21" name="Text 19"/>
          <p:cNvSpPr/>
          <p:nvPr/>
        </p:nvSpPr>
        <p:spPr>
          <a:xfrm>
            <a:off x="6172200" y="3429000"/>
            <a:ext cx="2514600" cy="548640"/>
          </a:xfrm>
          <a:prstGeom prst="roundRect">
            <a:avLst>
              <a:gd name="adj" fmla="val 13333"/>
            </a:avLst>
          </a:prstGeom>
          <a:solidFill>
            <a:srgbClr val="E3F2F1"/>
          </a:solidFill>
          <a:ln w="6350">
            <a:solidFill>
              <a:srgbClr val="E3F2F1"/>
            </a:solidFill>
          </a:ln>
        </p:spPr>
        <p:txBody>
          <a:bodyPr wrap="square" lIns="63500" tIns="63500" rIns="63500" bIns="63500" rtlCol="0" anchor="ctr"/>
          <a:lstStyle/>
          <a:p>
            <a:pPr algn="ctr" indent="0" marL="0">
              <a:buNone/>
            </a:pPr>
            <a:r>
              <a:rPr lang="en-US" sz="1300" b="1" dirty="0">
                <a:solidFill>
                  <a:schemeClr val="accent1"/>
                </a:solidFill>
              </a:rPr>
              <a:t>XA</a:t>
            </a:r>
            <a:endParaRPr lang="en-US" sz="1300" dirty="0"/>
          </a:p>
        </p:txBody>
      </p:sp>
      <p:sp>
        <p:nvSpPr>
          <p:cNvPr id="22" name="Shape 20"/>
          <p:cNvSpPr/>
          <p:nvPr/>
        </p:nvSpPr>
        <p:spPr>
          <a:xfrm>
            <a:off x="457200" y="4206240"/>
            <a:ext cx="8229600" cy="411480"/>
          </a:xfrm>
          <a:prstGeom prst="roundRect">
            <a:avLst>
              <a:gd name="adj" fmla="val 17778"/>
            </a:avLst>
          </a:prstGeom>
          <a:solidFill>
            <a:srgbClr val="FDF3E2"/>
          </a:solidFill>
          <a:ln w="6350">
            <a:solidFill>
              <a:srgbClr val="FDF3E2"/>
            </a:solidFill>
            <a:prstDash val="solid"/>
          </a:ln>
        </p:spPr>
      </p:sp>
      <p:sp>
        <p:nvSpPr>
          <p:cNvPr id="23" name="Text 21"/>
          <p:cNvSpPr txBox="1"/>
          <p:nvPr/>
        </p:nvSpPr>
        <p:spPr>
          <a:xfrm>
            <a:off x="685800" y="4206240"/>
            <a:ext cx="7772400" cy="411480"/>
          </a:xfrm>
          <a:prstGeom prst="rect">
            <a:avLst/>
          </a:prstGeom>
          <a:noFill/>
          <a:ln/>
        </p:spPr>
        <p:txBody>
          <a:bodyPr wrap="square" lIns="0" tIns="0" rIns="0" bIns="0" rtlCol="0" anchor="ctr"/>
          <a:lstStyle/>
          <a:p>
            <a:pPr indent="0" marL="0">
              <a:buNone/>
            </a:pPr>
            <a:r>
              <a:rPr lang="en-US" sz="1250" b="1" dirty="0">
                <a:solidFill>
                  <a:schemeClr val="accent4"/>
                </a:solidFill>
              </a:rPr>
              <a:t>Otherwise: </a:t>
            </a:r>
            <a:pPr indent="0" marL="0">
              <a:buNone/>
            </a:pPr>
            <a:r>
              <a:rPr lang="en-US" sz="1250" dirty="0">
                <a:solidFill>
                  <a:schemeClr val="tx1"/>
                </a:solidFill>
              </a:rPr>
              <a:t>AT, when a short visible in-between state is acceptable.</a:t>
            </a:r>
            <a:endParaRPr lang="en-US" sz="125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Recommendation for our banking microservices</a:t>
            </a:r>
            <a:endParaRPr lang="en-US" sz="2400" dirty="0"/>
          </a:p>
        </p:txBody>
      </p:sp>
      <p:sp>
        <p:nvSpPr>
          <p:cNvPr id="3" name="Shape 1"/>
          <p:cNvSpPr/>
          <p:nvPr/>
        </p:nvSpPr>
        <p:spPr>
          <a:xfrm>
            <a:off x="457200" y="1097280"/>
            <a:ext cx="3977640" cy="1554480"/>
          </a:xfrm>
          <a:prstGeom prst="roundRect">
            <a:avLst>
              <a:gd name="adj" fmla="val 5882"/>
            </a:avLst>
          </a:prstGeom>
          <a:solidFill>
            <a:srgbClr val="E3F2F1"/>
          </a:solidFill>
          <a:ln w="6350">
            <a:solidFill>
              <a:srgbClr val="E3F2F1"/>
            </a:solidFill>
            <a:prstDash val="solid"/>
          </a:ln>
        </p:spPr>
      </p:sp>
      <p:sp>
        <p:nvSpPr>
          <p:cNvPr id="4" name="Text 2"/>
          <p:cNvSpPr/>
          <p:nvPr/>
        </p:nvSpPr>
        <p:spPr>
          <a:xfrm>
            <a:off x="685800" y="1325880"/>
            <a:ext cx="411480" cy="411480"/>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5" name="Text 3"/>
          <p:cNvSpPr txBox="1"/>
          <p:nvPr/>
        </p:nvSpPr>
        <p:spPr>
          <a:xfrm>
            <a:off x="1280160" y="1371600"/>
            <a:ext cx="3017520" cy="320040"/>
          </a:xfrm>
          <a:prstGeom prst="rect">
            <a:avLst/>
          </a:prstGeom>
          <a:noFill/>
          <a:ln/>
        </p:spPr>
        <p:txBody>
          <a:bodyPr wrap="square" lIns="0" tIns="0" rIns="0" bIns="0" rtlCol="0" anchor="t"/>
          <a:lstStyle/>
          <a:p>
            <a:pPr indent="0" marL="0">
              <a:buNone/>
            </a:pPr>
            <a:r>
              <a:rPr lang="en-US" sz="1500" b="1" dirty="0">
                <a:solidFill>
                  <a:schemeClr val="accent1"/>
                </a:solidFill>
              </a:rPr>
              <a:t>Evaluate XA first</a:t>
            </a:r>
            <a:endParaRPr lang="en-US" sz="1500" dirty="0"/>
          </a:p>
        </p:txBody>
      </p:sp>
      <p:sp>
        <p:nvSpPr>
          <p:cNvPr id="6" name="Text 4"/>
          <p:cNvSpPr txBox="1"/>
          <p:nvPr/>
        </p:nvSpPr>
        <p:spPr>
          <a:xfrm>
            <a:off x="685800" y="1874520"/>
            <a:ext cx="3566160" cy="685800"/>
          </a:xfrm>
          <a:prstGeom prst="rect">
            <a:avLst/>
          </a:prstGeom>
          <a:noFill/>
          <a:ln/>
        </p:spPr>
        <p:txBody>
          <a:bodyPr wrap="square" lIns="0" tIns="0" rIns="0" bIns="0" rtlCol="0" anchor="t"/>
          <a:lstStyle/>
          <a:p>
            <a:pPr indent="0" marL="0">
              <a:buNone/>
            </a:pPr>
            <a:r>
              <a:rPr lang="en-US" sz="1250" dirty="0">
                <a:solidFill>
                  <a:schemeClr val="tx1"/>
                </a:solidFill>
              </a:rPr>
              <a:t>Both account DBs support XA and transfers are short. Strong candidate for strict consistency.</a:t>
            </a:r>
            <a:endParaRPr lang="en-US" sz="1250" dirty="0"/>
          </a:p>
        </p:txBody>
      </p:sp>
      <p:sp>
        <p:nvSpPr>
          <p:cNvPr id="7" name="Shape 5"/>
          <p:cNvSpPr/>
          <p:nvPr/>
        </p:nvSpPr>
        <p:spPr>
          <a:xfrm>
            <a:off x="4709160" y="1097280"/>
            <a:ext cx="3977640" cy="1554480"/>
          </a:xfrm>
          <a:prstGeom prst="roundRect">
            <a:avLst>
              <a:gd name="adj" fmla="val 5882"/>
            </a:avLst>
          </a:prstGeom>
          <a:solidFill>
            <a:srgbClr val="FDF3E2"/>
          </a:solidFill>
          <a:ln w="6350">
            <a:solidFill>
              <a:srgbClr val="FDF3E2"/>
            </a:solidFill>
            <a:prstDash val="solid"/>
          </a:ln>
        </p:spPr>
      </p:sp>
      <p:sp>
        <p:nvSpPr>
          <p:cNvPr id="8" name="Text 6"/>
          <p:cNvSpPr/>
          <p:nvPr/>
        </p:nvSpPr>
        <p:spPr>
          <a:xfrm>
            <a:off x="4937760" y="1325880"/>
            <a:ext cx="411480" cy="411480"/>
          </a:xfrm>
          <a:prstGeom prst="ellipse">
            <a:avLst/>
          </a:prstGeom>
          <a:solidFill>
            <a:schemeClr val="accent4"/>
          </a:solidFill>
          <a:ln w="6350">
            <a:solidFill>
              <a:schemeClr val="accent4"/>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 7"/>
          <p:cNvSpPr txBox="1"/>
          <p:nvPr/>
        </p:nvSpPr>
        <p:spPr>
          <a:xfrm>
            <a:off x="5532120" y="1371600"/>
            <a:ext cx="3017520" cy="320040"/>
          </a:xfrm>
          <a:prstGeom prst="rect">
            <a:avLst/>
          </a:prstGeom>
          <a:noFill/>
          <a:ln/>
        </p:spPr>
        <p:txBody>
          <a:bodyPr wrap="square" lIns="0" tIns="0" rIns="0" bIns="0" rtlCol="0" anchor="t"/>
          <a:lstStyle/>
          <a:p>
            <a:pPr indent="0" marL="0">
              <a:buNone/>
            </a:pPr>
            <a:r>
              <a:rPr lang="en-US" sz="1500" b="1" dirty="0">
                <a:solidFill>
                  <a:schemeClr val="accent4"/>
                </a:solidFill>
              </a:rPr>
              <a:t>Consider AT, with testing</a:t>
            </a:r>
            <a:endParaRPr lang="en-US" sz="1500" dirty="0"/>
          </a:p>
        </p:txBody>
      </p:sp>
      <p:sp>
        <p:nvSpPr>
          <p:cNvPr id="10" name="Text 8"/>
          <p:cNvSpPr txBox="1"/>
          <p:nvPr/>
        </p:nvSpPr>
        <p:spPr>
          <a:xfrm>
            <a:off x="4937760" y="1874520"/>
            <a:ext cx="3566160" cy="685800"/>
          </a:xfrm>
          <a:prstGeom prst="rect">
            <a:avLst/>
          </a:prstGeom>
          <a:noFill/>
          <a:ln/>
        </p:spPr>
        <p:txBody>
          <a:bodyPr wrap="square" lIns="0" tIns="0" rIns="0" bIns="0" rtlCol="0" anchor="t"/>
          <a:lstStyle/>
          <a:p>
            <a:pPr indent="0" marL="0">
              <a:buNone/>
            </a:pPr>
            <a:r>
              <a:rPr lang="en-US" sz="1250" dirty="0">
                <a:solidFill>
                  <a:schemeClr val="tx1"/>
                </a:solidFill>
              </a:rPr>
              <a:t>Easy for Oracle / JDBC services. Test concurrent debits, isolation and crash recovery first.</a:t>
            </a:r>
            <a:endParaRPr lang="en-US" sz="1250" dirty="0"/>
          </a:p>
        </p:txBody>
      </p:sp>
      <p:sp>
        <p:nvSpPr>
          <p:cNvPr id="11" name="Shape 9"/>
          <p:cNvSpPr/>
          <p:nvPr/>
        </p:nvSpPr>
        <p:spPr>
          <a:xfrm>
            <a:off x="457200" y="2834640"/>
            <a:ext cx="3977640" cy="1554480"/>
          </a:xfrm>
          <a:prstGeom prst="roundRect">
            <a:avLst>
              <a:gd name="adj" fmla="val 5882"/>
            </a:avLst>
          </a:prstGeom>
          <a:solidFill>
            <a:srgbClr val="FDF3E2"/>
          </a:solidFill>
          <a:ln w="6350">
            <a:solidFill>
              <a:srgbClr val="FDF3E2"/>
            </a:solidFill>
            <a:prstDash val="solid"/>
          </a:ln>
        </p:spPr>
      </p:sp>
      <p:sp>
        <p:nvSpPr>
          <p:cNvPr id="12" name="Text 10"/>
          <p:cNvSpPr/>
          <p:nvPr/>
        </p:nvSpPr>
        <p:spPr>
          <a:xfrm>
            <a:off x="685800" y="3063240"/>
            <a:ext cx="411480" cy="411480"/>
          </a:xfrm>
          <a:prstGeom prst="ellipse">
            <a:avLst/>
          </a:prstGeom>
          <a:solidFill>
            <a:schemeClr val="accent4"/>
          </a:solidFill>
          <a:ln w="6350">
            <a:solidFill>
              <a:schemeClr val="accent4"/>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Text 11"/>
          <p:cNvSpPr txBox="1"/>
          <p:nvPr/>
        </p:nvSpPr>
        <p:spPr>
          <a:xfrm>
            <a:off x="1280160" y="3108960"/>
            <a:ext cx="3017520" cy="320040"/>
          </a:xfrm>
          <a:prstGeom prst="rect">
            <a:avLst/>
          </a:prstGeom>
          <a:noFill/>
          <a:ln/>
        </p:spPr>
        <p:txBody>
          <a:bodyPr wrap="square" lIns="0" tIns="0" rIns="0" bIns="0" rtlCol="0" anchor="t"/>
          <a:lstStyle/>
          <a:p>
            <a:pPr indent="0" marL="0">
              <a:buNone/>
            </a:pPr>
            <a:r>
              <a:rPr lang="en-US" sz="1500" b="1" dirty="0">
                <a:solidFill>
                  <a:schemeClr val="accent4"/>
                </a:solidFill>
              </a:rPr>
              <a:t>TCC when</a:t>
            </a:r>
            <a:endParaRPr lang="en-US" sz="1500" dirty="0"/>
          </a:p>
        </p:txBody>
      </p:sp>
      <p:sp>
        <p:nvSpPr>
          <p:cNvPr id="14" name="Text 12"/>
          <p:cNvSpPr txBox="1"/>
          <p:nvPr/>
        </p:nvSpPr>
        <p:spPr>
          <a:xfrm>
            <a:off x="685800" y="3611880"/>
            <a:ext cx="3566160" cy="685800"/>
          </a:xfrm>
          <a:prstGeom prst="rect">
            <a:avLst/>
          </a:prstGeom>
          <a:noFill/>
          <a:ln/>
        </p:spPr>
        <p:txBody>
          <a:bodyPr wrap="square" lIns="0" tIns="0" rIns="0" bIns="0" rtlCol="0" anchor="t"/>
          <a:lstStyle/>
          <a:p>
            <a:pPr indent="0" marL="0">
              <a:buNone/>
            </a:pPr>
            <a:r>
              <a:rPr lang="en-US" sz="1250" dirty="0">
                <a:solidFill>
                  <a:schemeClr val="tx1"/>
                </a:solidFill>
              </a:rPr>
              <a:t>Reserve, confirm and cancel are clearly defined and you need fine control of resources.</a:t>
            </a:r>
            <a:endParaRPr lang="en-US" sz="1250" dirty="0"/>
          </a:p>
        </p:txBody>
      </p:sp>
      <p:sp>
        <p:nvSpPr>
          <p:cNvPr id="15" name="Shape 13"/>
          <p:cNvSpPr/>
          <p:nvPr/>
        </p:nvSpPr>
        <p:spPr>
          <a:xfrm>
            <a:off x="4709160" y="2834640"/>
            <a:ext cx="3977640" cy="1554480"/>
          </a:xfrm>
          <a:prstGeom prst="roundRect">
            <a:avLst>
              <a:gd name="adj" fmla="val 5882"/>
            </a:avLst>
          </a:prstGeom>
          <a:solidFill>
            <a:srgbClr val="ECECFB"/>
          </a:solidFill>
          <a:ln w="6350">
            <a:solidFill>
              <a:srgbClr val="ECECFB"/>
            </a:solidFill>
            <a:prstDash val="solid"/>
          </a:ln>
        </p:spPr>
      </p:sp>
      <p:sp>
        <p:nvSpPr>
          <p:cNvPr id="16" name="Text 14"/>
          <p:cNvSpPr/>
          <p:nvPr/>
        </p:nvSpPr>
        <p:spPr>
          <a:xfrm>
            <a:off x="4937760" y="3063240"/>
            <a:ext cx="411480" cy="411480"/>
          </a:xfrm>
          <a:prstGeom prst="ellipse">
            <a:avLst/>
          </a:prstGeom>
          <a:solidFill>
            <a:schemeClr val="accent5"/>
          </a:solidFill>
          <a:ln w="6350">
            <a:solidFill>
              <a:schemeClr val="accent5"/>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7" name="Text 15"/>
          <p:cNvSpPr txBox="1"/>
          <p:nvPr/>
        </p:nvSpPr>
        <p:spPr>
          <a:xfrm>
            <a:off x="5532120" y="3108960"/>
            <a:ext cx="3017520" cy="320040"/>
          </a:xfrm>
          <a:prstGeom prst="rect">
            <a:avLst/>
          </a:prstGeom>
          <a:noFill/>
          <a:ln/>
        </p:spPr>
        <p:txBody>
          <a:bodyPr wrap="square" lIns="0" tIns="0" rIns="0" bIns="0" rtlCol="0" anchor="t"/>
          <a:lstStyle/>
          <a:p>
            <a:pPr indent="0" marL="0">
              <a:buNone/>
            </a:pPr>
            <a:r>
              <a:rPr lang="en-US" sz="1500" b="1" dirty="0">
                <a:solidFill>
                  <a:schemeClr val="accent5"/>
                </a:solidFill>
              </a:rPr>
              <a:t>Saga when</a:t>
            </a:r>
            <a:endParaRPr lang="en-US" sz="1500" dirty="0"/>
          </a:p>
        </p:txBody>
      </p:sp>
      <p:sp>
        <p:nvSpPr>
          <p:cNvPr id="18" name="Text 16"/>
          <p:cNvSpPr txBox="1"/>
          <p:nvPr/>
        </p:nvSpPr>
        <p:spPr>
          <a:xfrm>
            <a:off x="4937760" y="3611880"/>
            <a:ext cx="3566160" cy="685800"/>
          </a:xfrm>
          <a:prstGeom prst="rect">
            <a:avLst/>
          </a:prstGeom>
          <a:noFill/>
          <a:ln/>
        </p:spPr>
        <p:txBody>
          <a:bodyPr wrap="square" lIns="0" tIns="0" rIns="0" bIns="0" rtlCol="0" anchor="t"/>
          <a:lstStyle/>
          <a:p>
            <a:pPr indent="0" marL="0">
              <a:buNone/>
            </a:pPr>
            <a:r>
              <a:rPr lang="en-US" sz="1250" dirty="0">
                <a:solidFill>
                  <a:schemeClr val="tx1"/>
                </a:solidFill>
              </a:rPr>
              <a:t>Long workflows: loan application, approval, notification, external systems. Not the only guard for core transfers.</a:t>
            </a:r>
            <a:endParaRPr lang="en-US" sz="125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Practical rules for production</a:t>
            </a:r>
            <a:endParaRPr lang="en-US" sz="2400" dirty="0"/>
          </a:p>
        </p:txBody>
      </p:sp>
      <p:sp>
        <p:nvSpPr>
          <p:cNvPr id="3" name="Shape 1"/>
          <p:cNvSpPr/>
          <p:nvPr/>
        </p:nvSpPr>
        <p:spPr>
          <a:xfrm>
            <a:off x="457200" y="1097280"/>
            <a:ext cx="3977640" cy="1554480"/>
          </a:xfrm>
          <a:prstGeom prst="roundRect">
            <a:avLst>
              <a:gd name="adj" fmla="val 5882"/>
            </a:avLst>
          </a:prstGeom>
          <a:solidFill>
            <a:srgbClr val="E3F2F1"/>
          </a:solidFill>
          <a:ln w="6350">
            <a:solidFill>
              <a:srgbClr val="E3F2F1"/>
            </a:solidFill>
            <a:prstDash val="solid"/>
          </a:ln>
        </p:spPr>
      </p:sp>
      <p:sp>
        <p:nvSpPr>
          <p:cNvPr id="4" name="Text 2"/>
          <p:cNvSpPr/>
          <p:nvPr/>
        </p:nvSpPr>
        <p:spPr>
          <a:xfrm>
            <a:off x="685800" y="1325880"/>
            <a:ext cx="411480" cy="411480"/>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5" name="Text 3"/>
          <p:cNvSpPr txBox="1"/>
          <p:nvPr/>
        </p:nvSpPr>
        <p:spPr>
          <a:xfrm>
            <a:off x="1280160" y="1371600"/>
            <a:ext cx="3017520" cy="320040"/>
          </a:xfrm>
          <a:prstGeom prst="rect">
            <a:avLst/>
          </a:prstGeom>
          <a:noFill/>
          <a:ln/>
        </p:spPr>
        <p:txBody>
          <a:bodyPr wrap="square" lIns="0" tIns="0" rIns="0" bIns="0" rtlCol="0" anchor="t"/>
          <a:lstStyle/>
          <a:p>
            <a:pPr indent="0" marL="0">
              <a:buNone/>
            </a:pPr>
            <a:r>
              <a:rPr lang="en-US" sz="1500" b="1" dirty="0">
                <a:solidFill>
                  <a:schemeClr val="accent1"/>
                </a:solidFill>
              </a:rPr>
              <a:t>Keep XA transactions short</a:t>
            </a:r>
            <a:endParaRPr lang="en-US" sz="1500" dirty="0"/>
          </a:p>
        </p:txBody>
      </p:sp>
      <p:sp>
        <p:nvSpPr>
          <p:cNvPr id="6" name="Text 4"/>
          <p:cNvSpPr txBox="1"/>
          <p:nvPr/>
        </p:nvSpPr>
        <p:spPr>
          <a:xfrm>
            <a:off x="685800" y="1874520"/>
            <a:ext cx="3566160" cy="685800"/>
          </a:xfrm>
          <a:prstGeom prst="rect">
            <a:avLst/>
          </a:prstGeom>
          <a:noFill/>
          <a:ln/>
        </p:spPr>
        <p:txBody>
          <a:bodyPr wrap="square" lIns="0" tIns="0" rIns="0" bIns="0" rtlCol="0" anchor="t"/>
          <a:lstStyle/>
          <a:p>
            <a:pPr indent="0" marL="0">
              <a:buNone/>
            </a:pPr>
            <a:r>
              <a:rPr lang="en-US" sz="1250" dirty="0">
                <a:solidFill>
                  <a:schemeClr val="tx1"/>
                </a:solidFill>
              </a:rPr>
              <a:t>Locks are held until the decision. Avoid slow remote calls inside an XA transaction.</a:t>
            </a:r>
            <a:endParaRPr lang="en-US" sz="1250" dirty="0"/>
          </a:p>
        </p:txBody>
      </p:sp>
      <p:sp>
        <p:nvSpPr>
          <p:cNvPr id="7" name="Shape 5"/>
          <p:cNvSpPr/>
          <p:nvPr/>
        </p:nvSpPr>
        <p:spPr>
          <a:xfrm>
            <a:off x="4709160" y="1097280"/>
            <a:ext cx="3977640" cy="1554480"/>
          </a:xfrm>
          <a:prstGeom prst="roundRect">
            <a:avLst>
              <a:gd name="adj" fmla="val 5882"/>
            </a:avLst>
          </a:prstGeom>
          <a:solidFill>
            <a:srgbClr val="ECECFB"/>
          </a:solidFill>
          <a:ln w="6350">
            <a:solidFill>
              <a:srgbClr val="ECECFB"/>
            </a:solidFill>
            <a:prstDash val="solid"/>
          </a:ln>
        </p:spPr>
      </p:sp>
      <p:sp>
        <p:nvSpPr>
          <p:cNvPr id="8" name="Text 6"/>
          <p:cNvSpPr/>
          <p:nvPr/>
        </p:nvSpPr>
        <p:spPr>
          <a:xfrm>
            <a:off x="4937760" y="1325880"/>
            <a:ext cx="411480" cy="411480"/>
          </a:xfrm>
          <a:prstGeom prst="ellipse">
            <a:avLst/>
          </a:prstGeom>
          <a:solidFill>
            <a:schemeClr val="accent5"/>
          </a:solidFill>
          <a:ln w="6350">
            <a:solidFill>
              <a:schemeClr val="accent5"/>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 7"/>
          <p:cNvSpPr txBox="1"/>
          <p:nvPr/>
        </p:nvSpPr>
        <p:spPr>
          <a:xfrm>
            <a:off x="5532120" y="1371600"/>
            <a:ext cx="3017520" cy="320040"/>
          </a:xfrm>
          <a:prstGeom prst="rect">
            <a:avLst/>
          </a:prstGeom>
          <a:noFill/>
          <a:ln/>
        </p:spPr>
        <p:txBody>
          <a:bodyPr wrap="square" lIns="0" tIns="0" rIns="0" bIns="0" rtlCol="0" anchor="t"/>
          <a:lstStyle/>
          <a:p>
            <a:pPr indent="0" marL="0">
              <a:buNone/>
            </a:pPr>
            <a:r>
              <a:rPr lang="en-US" sz="1500" b="1" dirty="0">
                <a:solidFill>
                  <a:schemeClr val="accent5"/>
                </a:solidFill>
              </a:rPr>
              <a:t>External systems need own design</a:t>
            </a:r>
            <a:endParaRPr lang="en-US" sz="1500" dirty="0"/>
          </a:p>
        </p:txBody>
      </p:sp>
      <p:sp>
        <p:nvSpPr>
          <p:cNvPr id="10" name="Text 8"/>
          <p:cNvSpPr txBox="1"/>
          <p:nvPr/>
        </p:nvSpPr>
        <p:spPr>
          <a:xfrm>
            <a:off x="4937760" y="1874520"/>
            <a:ext cx="3566160" cy="685800"/>
          </a:xfrm>
          <a:prstGeom prst="rect">
            <a:avLst/>
          </a:prstGeom>
          <a:noFill/>
          <a:ln/>
        </p:spPr>
        <p:txBody>
          <a:bodyPr wrap="square" lIns="0" tIns="0" rIns="0" bIns="0" rtlCol="0" anchor="t"/>
          <a:lstStyle/>
          <a:p>
            <a:pPr indent="0" marL="0">
              <a:buNone/>
            </a:pPr>
            <a:r>
              <a:rPr lang="en-US" sz="1250" dirty="0">
                <a:solidFill>
                  <a:schemeClr val="tx1"/>
                </a:solidFill>
              </a:rPr>
              <a:t>Payment gateway or message broker: plan a separate transaction and recovery strategy.</a:t>
            </a:r>
            <a:endParaRPr lang="en-US" sz="1250" dirty="0"/>
          </a:p>
        </p:txBody>
      </p:sp>
      <p:sp>
        <p:nvSpPr>
          <p:cNvPr id="11" name="Shape 9"/>
          <p:cNvSpPr/>
          <p:nvPr/>
        </p:nvSpPr>
        <p:spPr>
          <a:xfrm>
            <a:off x="457200" y="2834640"/>
            <a:ext cx="3977640" cy="1554480"/>
          </a:xfrm>
          <a:prstGeom prst="roundRect">
            <a:avLst>
              <a:gd name="adj" fmla="val 5882"/>
            </a:avLst>
          </a:prstGeom>
          <a:solidFill>
            <a:srgbClr val="FBE9EC"/>
          </a:solidFill>
          <a:ln w="6350">
            <a:solidFill>
              <a:srgbClr val="FBE9EC"/>
            </a:solidFill>
            <a:prstDash val="solid"/>
          </a:ln>
        </p:spPr>
      </p:sp>
      <p:sp>
        <p:nvSpPr>
          <p:cNvPr id="12" name="Text 10"/>
          <p:cNvSpPr/>
          <p:nvPr/>
        </p:nvSpPr>
        <p:spPr>
          <a:xfrm>
            <a:off x="685800" y="3063240"/>
            <a:ext cx="411480" cy="411480"/>
          </a:xfrm>
          <a:prstGeom prst="ellipse">
            <a:avLst/>
          </a:prstGeom>
          <a:solidFill>
            <a:schemeClr val="accent2"/>
          </a:solidFill>
          <a:ln w="6350">
            <a:solidFill>
              <a:schemeClr val="accent2"/>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Text 11"/>
          <p:cNvSpPr txBox="1"/>
          <p:nvPr/>
        </p:nvSpPr>
        <p:spPr>
          <a:xfrm>
            <a:off x="1280160" y="3108960"/>
            <a:ext cx="3017520" cy="320040"/>
          </a:xfrm>
          <a:prstGeom prst="rect">
            <a:avLst/>
          </a:prstGeom>
          <a:noFill/>
          <a:ln/>
        </p:spPr>
        <p:txBody>
          <a:bodyPr wrap="square" lIns="0" tIns="0" rIns="0" bIns="0" rtlCol="0" anchor="t"/>
          <a:lstStyle/>
          <a:p>
            <a:pPr indent="0" marL="0">
              <a:buNone/>
            </a:pPr>
            <a:r>
              <a:rPr lang="en-US" sz="1500" b="1" dirty="0">
                <a:solidFill>
                  <a:schemeClr val="accent2"/>
                </a:solidFill>
              </a:rPr>
              <a:t>Don't mix AT and XA</a:t>
            </a:r>
            <a:endParaRPr lang="en-US" sz="1500" dirty="0"/>
          </a:p>
        </p:txBody>
      </p:sp>
      <p:sp>
        <p:nvSpPr>
          <p:cNvPr id="14" name="Text 12"/>
          <p:cNvSpPr txBox="1"/>
          <p:nvPr/>
        </p:nvSpPr>
        <p:spPr>
          <a:xfrm>
            <a:off x="685800" y="3611880"/>
            <a:ext cx="3566160" cy="685800"/>
          </a:xfrm>
          <a:prstGeom prst="rect">
            <a:avLst/>
          </a:prstGeom>
          <a:noFill/>
          <a:ln/>
        </p:spPr>
        <p:txBody>
          <a:bodyPr wrap="square" lIns="0" tIns="0" rIns="0" bIns="0" rtlCol="0" anchor="t"/>
          <a:lstStyle/>
          <a:p>
            <a:pPr indent="0" marL="0">
              <a:buNone/>
            </a:pPr>
            <a:r>
              <a:rPr lang="en-US" sz="1250" dirty="0">
                <a:solidFill>
                  <a:schemeClr val="tx1"/>
                </a:solidFill>
              </a:rPr>
              <a:t>In one global transaction, the weakest participant decides the guarantee. Make every DB participant XA.</a:t>
            </a:r>
            <a:endParaRPr lang="en-US" sz="1250" dirty="0"/>
          </a:p>
        </p:txBody>
      </p:sp>
      <p:sp>
        <p:nvSpPr>
          <p:cNvPr id="15" name="Shape 13"/>
          <p:cNvSpPr/>
          <p:nvPr/>
        </p:nvSpPr>
        <p:spPr>
          <a:xfrm>
            <a:off x="4709160" y="2834640"/>
            <a:ext cx="3977640" cy="1554480"/>
          </a:xfrm>
          <a:prstGeom prst="roundRect">
            <a:avLst>
              <a:gd name="adj" fmla="val 5882"/>
            </a:avLst>
          </a:prstGeom>
          <a:solidFill>
            <a:srgbClr val="FDF3E2"/>
          </a:solidFill>
          <a:ln w="6350">
            <a:solidFill>
              <a:srgbClr val="FDF3E2"/>
            </a:solidFill>
            <a:prstDash val="solid"/>
          </a:ln>
        </p:spPr>
      </p:sp>
      <p:sp>
        <p:nvSpPr>
          <p:cNvPr id="16" name="Text 14"/>
          <p:cNvSpPr/>
          <p:nvPr/>
        </p:nvSpPr>
        <p:spPr>
          <a:xfrm>
            <a:off x="4937760" y="3063240"/>
            <a:ext cx="411480" cy="411480"/>
          </a:xfrm>
          <a:prstGeom prst="ellipse">
            <a:avLst/>
          </a:prstGeom>
          <a:solidFill>
            <a:schemeClr val="accent4"/>
          </a:solidFill>
          <a:ln w="6350">
            <a:solidFill>
              <a:schemeClr val="accent4"/>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7" name="Text 15"/>
          <p:cNvSpPr txBox="1"/>
          <p:nvPr/>
        </p:nvSpPr>
        <p:spPr>
          <a:xfrm>
            <a:off x="5532120" y="3108960"/>
            <a:ext cx="3017520" cy="320040"/>
          </a:xfrm>
          <a:prstGeom prst="rect">
            <a:avLst/>
          </a:prstGeom>
          <a:noFill/>
          <a:ln/>
        </p:spPr>
        <p:txBody>
          <a:bodyPr wrap="square" lIns="0" tIns="0" rIns="0" bIns="0" rtlCol="0" anchor="t"/>
          <a:lstStyle/>
          <a:p>
            <a:pPr indent="0" marL="0">
              <a:buNone/>
            </a:pPr>
            <a:r>
              <a:rPr lang="en-US" sz="1500" b="1" dirty="0">
                <a:solidFill>
                  <a:schemeClr val="accent4"/>
                </a:solidFill>
              </a:rPr>
              <a:t>Oracle XA needs grants</a:t>
            </a:r>
            <a:endParaRPr lang="en-US" sz="1500" dirty="0"/>
          </a:p>
        </p:txBody>
      </p:sp>
      <p:sp>
        <p:nvSpPr>
          <p:cNvPr id="18" name="Text 16"/>
          <p:cNvSpPr txBox="1"/>
          <p:nvPr/>
        </p:nvSpPr>
        <p:spPr>
          <a:xfrm>
            <a:off x="4937760" y="3611880"/>
            <a:ext cx="3566160" cy="685800"/>
          </a:xfrm>
          <a:prstGeom prst="rect">
            <a:avLst/>
          </a:prstGeom>
          <a:noFill/>
          <a:ln/>
        </p:spPr>
        <p:txBody>
          <a:bodyPr wrap="square" lIns="0" tIns="0" rIns="0" bIns="0" rtlCol="0" anchor="t"/>
          <a:lstStyle/>
          <a:p>
            <a:pPr indent="0" marL="0">
              <a:buNone/>
            </a:pPr>
            <a:r>
              <a:rPr lang="en-US" sz="1250" dirty="0">
                <a:solidFill>
                  <a:schemeClr val="tx1"/>
                </a:solidFill>
              </a:rPr>
              <a:t>For crash recovery: SELECT on DBA_PENDING_TRANSACTIONS and FORCE ANY TRANSACTION.</a:t>
            </a:r>
            <a:endParaRPr lang="en-US" sz="125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Setup checklist</a:t>
            </a:r>
            <a:endParaRPr lang="en-US" sz="24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3474720"/>
                <a:gridCol w="2377440"/>
                <a:gridCol w="2377440"/>
              </a:tblGrid>
              <a:tr h="457200">
                <a:tc>
                  <a:txBody>
                    <a:bodyPr/>
                    <a:lstStyle/>
                    <a:p>
                      <a:pPr indent="0" marL="0">
                        <a:buNone/>
                      </a:pPr>
                      <a:r>
                        <a:rPr lang="en-US" sz="1250" b="1" dirty="0">
                          <a:solidFill>
                            <a:schemeClr val="bg1"/>
                          </a:solidFill>
                        </a:rPr>
                        <a:t>Requirement</a:t>
                      </a:r>
                      <a:endParaRPr lang="en-US" sz="125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Where</a:t>
                      </a:r>
                      <a:endParaRPr lang="en-US" sz="125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1"/>
                    </a:solidFill>
                  </a:tcPr>
                </a:tc>
                <a:tc>
                  <a:txBody>
                    <a:bodyPr/>
                    <a:lstStyle/>
                    <a:p>
                      <a:pPr indent="0" marL="0">
                        <a:buNone/>
                      </a:pPr>
                      <a:r>
                        <a:rPr lang="en-US" sz="1250" b="1" dirty="0">
                          <a:solidFill>
                            <a:schemeClr val="bg1"/>
                          </a:solidFill>
                        </a:rPr>
                        <a:t>Why</a:t>
                      </a:r>
                      <a:endParaRPr lang="en-US" sz="125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1"/>
                    </a:solidFill>
                  </a:tcPr>
                </a:tc>
              </a:tr>
              <a:tr h="457200">
                <a:tc>
                  <a:txBody>
                    <a:bodyPr/>
                    <a:lstStyle/>
                    <a:p>
                      <a:pPr indent="0" marL="0">
                        <a:buNone/>
                      </a:pPr>
                      <a:r>
                        <a:rPr lang="en-US" sz="1200" b="1" dirty="0">
                          <a:solidFill>
                            <a:schemeClr val="tx1"/>
                          </a:solidFill>
                        </a:rPr>
                        <a:t>Seata server (TC), pinned version tag, never :latest</a:t>
                      </a:r>
                      <a:endParaRPr lang="en-US" sz="120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200" dirty="0">
                          <a:solidFill>
                            <a:schemeClr val="tx1"/>
                          </a:solidFill>
                        </a:rPr>
                        <a:t>Separate container</a:t>
                      </a:r>
                      <a:endParaRPr lang="en-US" sz="120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200" dirty="0">
                          <a:solidFill>
                            <a:schemeClr val="tx1"/>
                          </a:solidFill>
                        </a:rPr>
                        <a:t>Coordinates global transactions</a:t>
                      </a:r>
                      <a:endParaRPr lang="en-US" sz="120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457200">
                <a:tc>
                  <a:txBody>
                    <a:bodyPr/>
                    <a:lstStyle/>
                    <a:p>
                      <a:pPr indent="0" marL="0">
                        <a:buNone/>
                      </a:pPr>
                      <a:r>
                        <a:rPr lang="en-US" sz="1200" b="1" dirty="0">
                          <a:solidFill>
                            <a:schemeClr val="tx1"/>
                          </a:solidFill>
                        </a:rPr>
                        <a:t>Seata Spring Boot starter + config</a:t>
                      </a:r>
                      <a:endParaRPr lang="en-US" sz="120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200" dirty="0">
                          <a:solidFill>
                            <a:schemeClr val="tx1"/>
                          </a:solidFill>
                        </a:rPr>
                        <a:t>Every participating service</a:t>
                      </a:r>
                      <a:endParaRPr lang="en-US" sz="120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200" dirty="0">
                          <a:solidFill>
                            <a:schemeClr val="tx1"/>
                          </a:solidFill>
                        </a:rPr>
                        <a:t>Connects the service to TC</a:t>
                      </a:r>
                      <a:endParaRPr lang="en-US" sz="120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457200">
                <a:tc>
                  <a:txBody>
                    <a:bodyPr/>
                    <a:lstStyle/>
                    <a:p>
                      <a:pPr indent="0" marL="0">
                        <a:buNone/>
                      </a:pPr>
                      <a:r>
                        <a:rPr lang="en-US" sz="1200" b="1" dirty="0">
                          <a:solidFill>
                            <a:schemeClr val="tx1"/>
                          </a:solidFill>
                        </a:rPr>
                        <a:t>DataSource proxy (AT or XA)</a:t>
                      </a:r>
                      <a:endParaRPr lang="en-US" sz="120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200" dirty="0">
                          <a:solidFill>
                            <a:schemeClr val="tx1"/>
                          </a:solidFill>
                        </a:rPr>
                        <a:t>Every participating service</a:t>
                      </a:r>
                      <a:endParaRPr lang="en-US" sz="120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200" dirty="0">
                          <a:solidFill>
                            <a:schemeClr val="tx1"/>
                          </a:solidFill>
                        </a:rPr>
                        <a:t>Intercepts database work</a:t>
                      </a:r>
                      <a:endParaRPr lang="en-US" sz="120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457200">
                <a:tc>
                  <a:txBody>
                    <a:bodyPr/>
                    <a:lstStyle/>
                    <a:p>
                      <a:pPr indent="0" marL="0">
                        <a:buNone/>
                      </a:pPr>
                      <a:r>
                        <a:rPr lang="en-US" sz="1200" b="1" dirty="0">
                          <a:solidFill>
                            <a:schemeClr val="tx1"/>
                          </a:solidFill>
                        </a:rPr>
                        <a:t>undo_log table (AT only)</a:t>
                      </a:r>
                      <a:endParaRPr lang="en-US" sz="120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200" dirty="0">
                          <a:solidFill>
                            <a:schemeClr val="tx1"/>
                          </a:solidFill>
                        </a:rPr>
                        <a:t>Each participating database</a:t>
                      </a:r>
                      <a:endParaRPr lang="en-US" sz="120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200" dirty="0">
                          <a:solidFill>
                            <a:schemeClr val="tx1"/>
                          </a:solidFill>
                        </a:rPr>
                        <a:t>Stores rollback information</a:t>
                      </a:r>
                      <a:endParaRPr lang="en-US" sz="120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457200">
                <a:tc>
                  <a:txBody>
                    <a:bodyPr/>
                    <a:lstStyle/>
                    <a:p>
                      <a:pPr indent="0" marL="0">
                        <a:buNone/>
                      </a:pPr>
                      <a:r>
                        <a:rPr lang="en-US" sz="1200" b="1" dirty="0">
                          <a:solidFill>
                            <a:schemeClr val="tx1"/>
                          </a:solidFill>
                        </a:rPr>
                        <a:t>@GlobalTransactional</a:t>
                      </a:r>
                      <a:endParaRPr lang="en-US" sz="120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200" dirty="0">
                          <a:solidFill>
                            <a:schemeClr val="tx1"/>
                          </a:solidFill>
                        </a:rPr>
                        <a:t>Initiator (Order service)</a:t>
                      </a:r>
                      <a:endParaRPr lang="en-US" sz="120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200" dirty="0">
                          <a:solidFill>
                            <a:schemeClr val="tx1"/>
                          </a:solidFill>
                        </a:rPr>
                        <a:t>Starts the global transaction</a:t>
                      </a:r>
                      <a:endParaRPr lang="en-US" sz="120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r h="457200">
                <a:tc>
                  <a:txBody>
                    <a:bodyPr/>
                    <a:lstStyle/>
                    <a:p>
                      <a:pPr indent="0" marL="0">
                        <a:buNone/>
                      </a:pPr>
                      <a:r>
                        <a:rPr lang="en-US" sz="1200" b="1" dirty="0">
                          <a:solidFill>
                            <a:schemeClr val="tx1"/>
                          </a:solidFill>
                        </a:rPr>
                        <a:t>XID propagation</a:t>
                      </a:r>
                      <a:endParaRPr lang="en-US" sz="120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200" dirty="0">
                          <a:solidFill>
                            <a:schemeClr val="tx1"/>
                          </a:solidFill>
                        </a:rPr>
                        <a:t>Calls between services</a:t>
                      </a:r>
                      <a:endParaRPr lang="en-US" sz="120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c>
                  <a:txBody>
                    <a:bodyPr/>
                    <a:lstStyle/>
                    <a:p>
                      <a:pPr indent="0" marL="0">
                        <a:buNone/>
                      </a:pPr>
                      <a:r>
                        <a:rPr lang="en-US" sz="1200" dirty="0">
                          <a:solidFill>
                            <a:schemeClr val="tx1"/>
                          </a:solidFill>
                        </a:rPr>
                        <a:t>Downstream joins the same transaction</a:t>
                      </a:r>
                      <a:endParaRPr lang="en-US" sz="1200" dirty="0"/>
                    </a:p>
                  </a:txBody>
                  <a:tcPr marL="63500" marR="63500" marT="63500" marB="635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400" b="1" dirty="0">
                <a:solidFill>
                  <a:schemeClr val="tx1"/>
                </a:solidFill>
              </a:rPr>
              <a:t>Quick check: which mode do you test first?</a:t>
            </a:r>
            <a:endParaRPr lang="en-US" sz="2400" dirty="0"/>
          </a:p>
        </p:txBody>
      </p:sp>
      <p:sp>
        <p:nvSpPr>
          <p:cNvPr id="3" name="Shape 1"/>
          <p:cNvSpPr/>
          <p:nvPr/>
        </p:nvSpPr>
        <p:spPr>
          <a:xfrm>
            <a:off x="457200" y="1097280"/>
            <a:ext cx="8229600" cy="914400"/>
          </a:xfrm>
          <a:prstGeom prst="roundRect">
            <a:avLst>
              <a:gd name="adj" fmla="val 10000"/>
            </a:avLst>
          </a:prstGeom>
          <a:solidFill>
            <a:schemeClr val="bg2"/>
          </a:solidFill>
          <a:ln w="6350">
            <a:solidFill>
              <a:srgbClr val="E1E6EB"/>
            </a:solidFill>
            <a:prstDash val="solid"/>
          </a:ln>
        </p:spPr>
      </p:sp>
      <p:sp>
        <p:nvSpPr>
          <p:cNvPr id="4" name="Text 2"/>
          <p:cNvSpPr txBox="1"/>
          <p:nvPr/>
        </p:nvSpPr>
        <p:spPr>
          <a:xfrm>
            <a:off x="685800" y="1161288"/>
            <a:ext cx="7772400" cy="786384"/>
          </a:xfrm>
          <a:prstGeom prst="rect">
            <a:avLst/>
          </a:prstGeom>
          <a:noFill/>
          <a:ln/>
        </p:spPr>
        <p:txBody>
          <a:bodyPr wrap="square" lIns="0" tIns="0" rIns="0" bIns="0" rtlCol="0" anchor="ctr"/>
          <a:lstStyle/>
          <a:p>
            <a:pPr indent="0" marL="0">
              <a:buNone/>
            </a:pPr>
            <a:r>
              <a:rPr lang="en-US" sz="1400" dirty="0">
                <a:solidFill>
                  <a:schemeClr val="tx1"/>
                </a:solidFill>
              </a:rPr>
              <a:t>Money moves from Account A to Account B. Both databases support XA. Consistency must hold until the commit or rollback decision is made.</a:t>
            </a:r>
            <a:endParaRPr lang="en-US" sz="1400" dirty="0"/>
          </a:p>
        </p:txBody>
      </p:sp>
      <p:sp>
        <p:nvSpPr>
          <p:cNvPr id="5" name="Shape 3"/>
          <p:cNvSpPr/>
          <p:nvPr/>
        </p:nvSpPr>
        <p:spPr>
          <a:xfrm>
            <a:off x="457200" y="2240280"/>
            <a:ext cx="3977640" cy="777240"/>
          </a:xfrm>
          <a:prstGeom prst="roundRect">
            <a:avLst>
              <a:gd name="adj" fmla="val 9412"/>
            </a:avLst>
          </a:prstGeom>
          <a:solidFill>
            <a:schemeClr val="bg1"/>
          </a:solidFill>
          <a:ln w="9525">
            <a:solidFill>
              <a:srgbClr val="D5DCE3"/>
            </a:solidFill>
            <a:prstDash val="solid"/>
          </a:ln>
        </p:spPr>
      </p:sp>
      <p:sp>
        <p:nvSpPr>
          <p:cNvPr id="6" name="Text 4"/>
          <p:cNvSpPr/>
          <p:nvPr/>
        </p:nvSpPr>
        <p:spPr>
          <a:xfrm>
            <a:off x="640080" y="2423160"/>
            <a:ext cx="411480" cy="411480"/>
          </a:xfrm>
          <a:prstGeom prst="ellipse">
            <a:avLst/>
          </a:prstGeom>
          <a:solidFill>
            <a:schemeClr val="accent6"/>
          </a:solidFill>
          <a:ln w="6350">
            <a:solidFill>
              <a:schemeClr val="accent6"/>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7" name="Text 5"/>
          <p:cNvSpPr txBox="1"/>
          <p:nvPr/>
        </p:nvSpPr>
        <p:spPr>
          <a:xfrm>
            <a:off x="1234440" y="2331720"/>
            <a:ext cx="3017520" cy="274320"/>
          </a:xfrm>
          <a:prstGeom prst="rect">
            <a:avLst/>
          </a:prstGeom>
          <a:noFill/>
          <a:ln/>
        </p:spPr>
        <p:txBody>
          <a:bodyPr wrap="square" lIns="0" tIns="0" rIns="0" bIns="0" rtlCol="0" anchor="t"/>
          <a:lstStyle/>
          <a:p>
            <a:pPr indent="0" marL="0">
              <a:buNone/>
            </a:pPr>
            <a:r>
              <a:rPr lang="en-US" sz="1400" b="1" dirty="0">
                <a:solidFill>
                  <a:schemeClr val="tx1"/>
                </a:solidFill>
              </a:rPr>
              <a:t>AT</a:t>
            </a:r>
            <a:endParaRPr lang="en-US" sz="1400" dirty="0"/>
          </a:p>
        </p:txBody>
      </p:sp>
      <p:sp>
        <p:nvSpPr>
          <p:cNvPr id="8" name="Text 6"/>
          <p:cNvSpPr txBox="1"/>
          <p:nvPr/>
        </p:nvSpPr>
        <p:spPr>
          <a:xfrm>
            <a:off x="1234440" y="2624328"/>
            <a:ext cx="3063240" cy="347472"/>
          </a:xfrm>
          <a:prstGeom prst="rect">
            <a:avLst/>
          </a:prstGeom>
          <a:noFill/>
          <a:ln/>
        </p:spPr>
        <p:txBody>
          <a:bodyPr wrap="square" lIns="0" tIns="0" rIns="0" bIns="0" rtlCol="0" anchor="t"/>
          <a:lstStyle/>
          <a:p>
            <a:pPr indent="0" marL="0">
              <a:buNone/>
            </a:pPr>
            <a:r>
              <a:rPr lang="en-US" sz="1150" dirty="0">
                <a:solidFill>
                  <a:schemeClr val="tx2"/>
                </a:solidFill>
              </a:rPr>
              <a:t>Because Seata does all rollback itself</a:t>
            </a:r>
            <a:endParaRPr lang="en-US" sz="1150" dirty="0"/>
          </a:p>
        </p:txBody>
      </p:sp>
      <p:sp>
        <p:nvSpPr>
          <p:cNvPr id="9" name="Shape 7"/>
          <p:cNvSpPr/>
          <p:nvPr/>
        </p:nvSpPr>
        <p:spPr>
          <a:xfrm>
            <a:off x="4709160" y="2240280"/>
            <a:ext cx="3977640" cy="777240"/>
          </a:xfrm>
          <a:prstGeom prst="roundRect">
            <a:avLst>
              <a:gd name="adj" fmla="val 9412"/>
            </a:avLst>
          </a:prstGeom>
          <a:solidFill>
            <a:schemeClr val="bg1"/>
          </a:solidFill>
          <a:ln w="9525">
            <a:solidFill>
              <a:srgbClr val="D5DCE3"/>
            </a:solidFill>
            <a:prstDash val="solid"/>
          </a:ln>
        </p:spPr>
      </p:sp>
      <p:sp>
        <p:nvSpPr>
          <p:cNvPr id="10" name="Text 8"/>
          <p:cNvSpPr/>
          <p:nvPr/>
        </p:nvSpPr>
        <p:spPr>
          <a:xfrm>
            <a:off x="4892040" y="2423160"/>
            <a:ext cx="411480" cy="411480"/>
          </a:xfrm>
          <a:prstGeom prst="ellipse">
            <a:avLst/>
          </a:prstGeom>
          <a:solidFill>
            <a:schemeClr val="accent6"/>
          </a:solidFill>
          <a:ln w="6350">
            <a:solidFill>
              <a:schemeClr val="accent6"/>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1" name="Text 9"/>
          <p:cNvSpPr txBox="1"/>
          <p:nvPr/>
        </p:nvSpPr>
        <p:spPr>
          <a:xfrm>
            <a:off x="5486400" y="2331720"/>
            <a:ext cx="3017520" cy="274320"/>
          </a:xfrm>
          <a:prstGeom prst="rect">
            <a:avLst/>
          </a:prstGeom>
          <a:noFill/>
          <a:ln/>
        </p:spPr>
        <p:txBody>
          <a:bodyPr wrap="square" lIns="0" tIns="0" rIns="0" bIns="0" rtlCol="0" anchor="t"/>
          <a:lstStyle/>
          <a:p>
            <a:pPr indent="0" marL="0">
              <a:buNone/>
            </a:pPr>
            <a:r>
              <a:rPr lang="en-US" sz="1400" b="1" dirty="0">
                <a:solidFill>
                  <a:schemeClr val="tx1"/>
                </a:solidFill>
              </a:rPr>
              <a:t>TCC</a:t>
            </a:r>
            <a:endParaRPr lang="en-US" sz="1400" dirty="0"/>
          </a:p>
        </p:txBody>
      </p:sp>
      <p:sp>
        <p:nvSpPr>
          <p:cNvPr id="12" name="Text 10"/>
          <p:cNvSpPr txBox="1"/>
          <p:nvPr/>
        </p:nvSpPr>
        <p:spPr>
          <a:xfrm>
            <a:off x="5486400" y="2624328"/>
            <a:ext cx="3063240" cy="347472"/>
          </a:xfrm>
          <a:prstGeom prst="rect">
            <a:avLst/>
          </a:prstGeom>
          <a:noFill/>
          <a:ln/>
        </p:spPr>
        <p:txBody>
          <a:bodyPr wrap="square" lIns="0" tIns="0" rIns="0" bIns="0" rtlCol="0" anchor="t"/>
          <a:lstStyle/>
          <a:p>
            <a:pPr indent="0" marL="0">
              <a:buNone/>
            </a:pPr>
            <a:r>
              <a:rPr lang="en-US" sz="1150" dirty="0">
                <a:solidFill>
                  <a:schemeClr val="tx2"/>
                </a:solidFill>
              </a:rPr>
              <a:t>Because every resource must be reserved</a:t>
            </a:r>
            <a:endParaRPr lang="en-US" sz="1150" dirty="0"/>
          </a:p>
        </p:txBody>
      </p:sp>
      <p:sp>
        <p:nvSpPr>
          <p:cNvPr id="13" name="Shape 11"/>
          <p:cNvSpPr/>
          <p:nvPr/>
        </p:nvSpPr>
        <p:spPr>
          <a:xfrm>
            <a:off x="457200" y="3200400"/>
            <a:ext cx="3977640" cy="777240"/>
          </a:xfrm>
          <a:prstGeom prst="roundRect">
            <a:avLst>
              <a:gd name="adj" fmla="val 9412"/>
            </a:avLst>
          </a:prstGeom>
          <a:solidFill>
            <a:schemeClr val="bg1"/>
          </a:solidFill>
          <a:ln w="9525">
            <a:solidFill>
              <a:srgbClr val="D5DCE3"/>
            </a:solidFill>
            <a:prstDash val="solid"/>
          </a:ln>
        </p:spPr>
      </p:sp>
      <p:sp>
        <p:nvSpPr>
          <p:cNvPr id="14" name="Text 12"/>
          <p:cNvSpPr/>
          <p:nvPr/>
        </p:nvSpPr>
        <p:spPr>
          <a:xfrm>
            <a:off x="640080" y="3383280"/>
            <a:ext cx="411480" cy="411480"/>
          </a:xfrm>
          <a:prstGeom prst="ellipse">
            <a:avLst/>
          </a:prstGeom>
          <a:solidFill>
            <a:schemeClr val="accent6"/>
          </a:solidFill>
          <a:ln w="6350">
            <a:solidFill>
              <a:schemeClr val="accent6"/>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5" name="Text 13"/>
          <p:cNvSpPr txBox="1"/>
          <p:nvPr/>
        </p:nvSpPr>
        <p:spPr>
          <a:xfrm>
            <a:off x="1234440" y="3291840"/>
            <a:ext cx="3017520" cy="274320"/>
          </a:xfrm>
          <a:prstGeom prst="rect">
            <a:avLst/>
          </a:prstGeom>
          <a:noFill/>
          <a:ln/>
        </p:spPr>
        <p:txBody>
          <a:bodyPr wrap="square" lIns="0" tIns="0" rIns="0" bIns="0" rtlCol="0" anchor="t"/>
          <a:lstStyle/>
          <a:p>
            <a:pPr indent="0" marL="0">
              <a:buNone/>
            </a:pPr>
            <a:r>
              <a:rPr lang="en-US" sz="1400" b="1" dirty="0">
                <a:solidFill>
                  <a:schemeClr val="tx1"/>
                </a:solidFill>
              </a:rPr>
              <a:t>Saga</a:t>
            </a:r>
            <a:endParaRPr lang="en-US" sz="1400" dirty="0"/>
          </a:p>
        </p:txBody>
      </p:sp>
      <p:sp>
        <p:nvSpPr>
          <p:cNvPr id="16" name="Text 14"/>
          <p:cNvSpPr txBox="1"/>
          <p:nvPr/>
        </p:nvSpPr>
        <p:spPr>
          <a:xfrm>
            <a:off x="1234440" y="3584448"/>
            <a:ext cx="3063240" cy="347472"/>
          </a:xfrm>
          <a:prstGeom prst="rect">
            <a:avLst/>
          </a:prstGeom>
          <a:noFill/>
          <a:ln/>
        </p:spPr>
        <p:txBody>
          <a:bodyPr wrap="square" lIns="0" tIns="0" rIns="0" bIns="0" rtlCol="0" anchor="t"/>
          <a:lstStyle/>
          <a:p>
            <a:pPr indent="0" marL="0">
              <a:buNone/>
            </a:pPr>
            <a:r>
              <a:rPr lang="en-US" sz="1150" dirty="0">
                <a:solidFill>
                  <a:schemeClr val="tx2"/>
                </a:solidFill>
              </a:rPr>
              <a:t>Because compensation always gives strict isolation</a:t>
            </a:r>
            <a:endParaRPr lang="en-US" sz="1150" dirty="0"/>
          </a:p>
        </p:txBody>
      </p:sp>
      <p:sp>
        <p:nvSpPr>
          <p:cNvPr id="17" name="Shape 15"/>
          <p:cNvSpPr/>
          <p:nvPr/>
        </p:nvSpPr>
        <p:spPr>
          <a:xfrm>
            <a:off x="4709160" y="3200400"/>
            <a:ext cx="3977640" cy="777240"/>
          </a:xfrm>
          <a:prstGeom prst="roundRect">
            <a:avLst>
              <a:gd name="adj" fmla="val 9412"/>
            </a:avLst>
          </a:prstGeom>
          <a:solidFill>
            <a:srgbClr val="E6F4EC"/>
          </a:solidFill>
          <a:ln w="19050">
            <a:solidFill>
              <a:schemeClr val="accent3"/>
            </a:solidFill>
            <a:prstDash val="solid"/>
          </a:ln>
        </p:spPr>
      </p:sp>
      <p:sp>
        <p:nvSpPr>
          <p:cNvPr id="18" name="Text 16"/>
          <p:cNvSpPr/>
          <p:nvPr/>
        </p:nvSpPr>
        <p:spPr>
          <a:xfrm>
            <a:off x="4892040" y="3383280"/>
            <a:ext cx="411480" cy="411480"/>
          </a:xfrm>
          <a:prstGeom prst="ellipse">
            <a:avLst/>
          </a:prstGeom>
          <a:solidFill>
            <a:schemeClr val="accent3"/>
          </a:solidFill>
          <a:ln w="6350">
            <a:solidFill>
              <a:schemeClr val="accent3"/>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19" name="Text 17"/>
          <p:cNvSpPr txBox="1"/>
          <p:nvPr/>
        </p:nvSpPr>
        <p:spPr>
          <a:xfrm>
            <a:off x="5486400" y="3291840"/>
            <a:ext cx="3017520" cy="274320"/>
          </a:xfrm>
          <a:prstGeom prst="rect">
            <a:avLst/>
          </a:prstGeom>
          <a:noFill/>
          <a:ln/>
        </p:spPr>
        <p:txBody>
          <a:bodyPr wrap="square" lIns="0" tIns="0" rIns="0" bIns="0" rtlCol="0" anchor="t"/>
          <a:lstStyle/>
          <a:p>
            <a:pPr indent="0" marL="0">
              <a:buNone/>
            </a:pPr>
            <a:r>
              <a:rPr lang="en-US" sz="1400" b="1" dirty="0">
                <a:solidFill>
                  <a:schemeClr val="accent3"/>
                </a:solidFill>
              </a:rPr>
              <a:t>XA</a:t>
            </a:r>
            <a:endParaRPr lang="en-US" sz="1400" dirty="0"/>
          </a:p>
        </p:txBody>
      </p:sp>
      <p:sp>
        <p:nvSpPr>
          <p:cNvPr id="20" name="Text 18"/>
          <p:cNvSpPr txBox="1"/>
          <p:nvPr/>
        </p:nvSpPr>
        <p:spPr>
          <a:xfrm>
            <a:off x="5486400" y="3584448"/>
            <a:ext cx="3063240" cy="347472"/>
          </a:xfrm>
          <a:prstGeom prst="rect">
            <a:avLst/>
          </a:prstGeom>
          <a:noFill/>
          <a:ln/>
        </p:spPr>
        <p:txBody>
          <a:bodyPr wrap="square" lIns="0" tIns="0" rIns="0" bIns="0" rtlCol="0" anchor="t"/>
          <a:lstStyle/>
          <a:p>
            <a:pPr indent="0" marL="0">
              <a:buNone/>
            </a:pPr>
            <a:r>
              <a:rPr lang="en-US" sz="1150" dirty="0">
                <a:solidFill>
                  <a:schemeClr val="tx2"/>
                </a:solidFill>
              </a:rPr>
              <a:t>Coordinated prepare, commit and rollback</a:t>
            </a:r>
            <a:endParaRPr lang="en-US" sz="1150" dirty="0"/>
          </a:p>
        </p:txBody>
      </p:sp>
      <p:sp>
        <p:nvSpPr>
          <p:cNvPr id="21" name="Text 19"/>
          <p:cNvSpPr txBox="1"/>
          <p:nvPr/>
        </p:nvSpPr>
        <p:spPr>
          <a:xfrm>
            <a:off x="457200" y="4251960"/>
            <a:ext cx="8229600" cy="320040"/>
          </a:xfrm>
          <a:prstGeom prst="rect">
            <a:avLst/>
          </a:prstGeom>
          <a:noFill/>
          <a:ln/>
        </p:spPr>
        <p:txBody>
          <a:bodyPr wrap="square" lIns="0" tIns="0" rIns="0" bIns="0" rtlCol="0" anchor="t"/>
          <a:lstStyle/>
          <a:p>
            <a:pPr indent="0" marL="0">
              <a:buNone/>
            </a:pPr>
            <a:r>
              <a:rPr lang="en-US" sz="1300" b="1" dirty="0">
                <a:solidFill>
                  <a:schemeClr val="accent3"/>
                </a:solidFill>
              </a:rPr>
              <a:t>Answer: D. </a:t>
            </a:r>
            <a:pPr indent="0" marL="0">
              <a:buNone/>
            </a:pPr>
            <a:r>
              <a:rPr lang="en-US" sz="1300" dirty="0">
                <a:solidFill>
                  <a:schemeClr val="tx1"/>
                </a:solidFill>
              </a:rPr>
              <a:t>C is a trap: compensation never guarantees strict isolation.</a:t>
            </a:r>
            <a:endParaRPr lang="en-US" sz="1300" dirty="0"/>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pic>
        <p:nvPicPr>
          <p:cNvPr id="2" name="Image 0" descr="Apache Seata architecture, roles and payment failure flow overview">    </p:cNvPr>
          <p:cNvPicPr>
            <a:picLocks noChangeAspect="1"/>
          </p:cNvPicPr>
          <p:nvPr/>
        </p:nvPicPr>
        <p:blipFill>
          <a:blip r:embed="rId1"/>
          <a:stretch>
            <a:fillRect/>
          </a:stretch>
        </p:blipFill>
        <p:spPr>
          <a:xfrm>
            <a:off x="1143000" y="228600"/>
            <a:ext cx="6858000" cy="4572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548640" y="411480"/>
            <a:ext cx="8046720" cy="548640"/>
          </a:xfrm>
          <a:prstGeom prst="rect">
            <a:avLst/>
          </a:prstGeom>
          <a:noFill/>
          <a:ln/>
        </p:spPr>
        <p:txBody>
          <a:bodyPr wrap="square" lIns="0" tIns="0" rIns="0" bIns="0" rtlCol="0" anchor="t"/>
          <a:lstStyle/>
          <a:p>
            <a:pPr indent="0" marL="0">
              <a:buNone/>
            </a:pPr>
            <a:r>
              <a:rPr lang="en-US" sz="3000" b="1" dirty="0">
                <a:solidFill>
                  <a:schemeClr val="bg1"/>
                </a:solidFill>
                <a:latin typeface="Arial" pitchFamily="34" charset="0"/>
                <a:ea typeface="Arial" pitchFamily="34" charset="-122"/>
                <a:cs typeface="Arial" pitchFamily="34" charset="-120"/>
              </a:rPr>
              <a:t>Key takeaways</a:t>
            </a:r>
            <a:endParaRPr lang="en-US" sz="3000" dirty="0"/>
          </a:p>
        </p:txBody>
      </p:sp>
      <p:sp>
        <p:nvSpPr>
          <p:cNvPr id="3" name="Text 1"/>
          <p:cNvSpPr/>
          <p:nvPr/>
        </p:nvSpPr>
        <p:spPr>
          <a:xfrm>
            <a:off x="548640" y="1234440"/>
            <a:ext cx="384048" cy="384048"/>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4" name="Text 2"/>
          <p:cNvSpPr txBox="1"/>
          <p:nvPr/>
        </p:nvSpPr>
        <p:spPr>
          <a:xfrm>
            <a:off x="1097280" y="1261872"/>
            <a:ext cx="7498080" cy="365760"/>
          </a:xfrm>
          <a:prstGeom prst="rect">
            <a:avLst/>
          </a:prstGeom>
          <a:noFill/>
          <a:ln/>
        </p:spPr>
        <p:txBody>
          <a:bodyPr wrap="square" lIns="0" tIns="0" rIns="0" bIns="0" rtlCol="0" anchor="t"/>
          <a:lstStyle/>
          <a:p>
            <a:pPr indent="0" marL="0">
              <a:buNone/>
            </a:pPr>
            <a:r>
              <a:rPr lang="en-US" sz="1500" dirty="0">
                <a:solidFill>
                  <a:srgbClr val="E8EDF2"/>
                </a:solidFill>
              </a:rPr>
              <a:t>@Transactional covers one database only.</a:t>
            </a:r>
            <a:endParaRPr lang="en-US" sz="1500" dirty="0"/>
          </a:p>
        </p:txBody>
      </p:sp>
      <p:sp>
        <p:nvSpPr>
          <p:cNvPr id="5" name="Text 3"/>
          <p:cNvSpPr/>
          <p:nvPr/>
        </p:nvSpPr>
        <p:spPr>
          <a:xfrm>
            <a:off x="548640" y="1801368"/>
            <a:ext cx="384048" cy="384048"/>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6" name="Text 4"/>
          <p:cNvSpPr txBox="1"/>
          <p:nvPr/>
        </p:nvSpPr>
        <p:spPr>
          <a:xfrm>
            <a:off x="1097280" y="1828800"/>
            <a:ext cx="7498080" cy="365760"/>
          </a:xfrm>
          <a:prstGeom prst="rect">
            <a:avLst/>
          </a:prstGeom>
          <a:noFill/>
          <a:ln/>
        </p:spPr>
        <p:txBody>
          <a:bodyPr wrap="square" lIns="0" tIns="0" rIns="0" bIns="0" rtlCol="0" anchor="t"/>
          <a:lstStyle/>
          <a:p>
            <a:pPr indent="0" marL="0">
              <a:buNone/>
            </a:pPr>
            <a:r>
              <a:rPr lang="en-US" sz="1500" dirty="0">
                <a:solidFill>
                  <a:srgbClr val="E8EDF2"/>
                </a:solidFill>
              </a:rPr>
              <a:t>Atomic: no transfer stays half-done. Isolation: no decision on a wrong balance.</a:t>
            </a:r>
            <a:endParaRPr lang="en-US" sz="1500" dirty="0"/>
          </a:p>
        </p:txBody>
      </p:sp>
      <p:sp>
        <p:nvSpPr>
          <p:cNvPr id="7" name="Text 5"/>
          <p:cNvSpPr/>
          <p:nvPr/>
        </p:nvSpPr>
        <p:spPr>
          <a:xfrm>
            <a:off x="548640" y="2368296"/>
            <a:ext cx="384048" cy="384048"/>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8" name="Text 6"/>
          <p:cNvSpPr txBox="1"/>
          <p:nvPr/>
        </p:nvSpPr>
        <p:spPr>
          <a:xfrm>
            <a:off x="1097280" y="2395728"/>
            <a:ext cx="7498080" cy="365760"/>
          </a:xfrm>
          <a:prstGeom prst="rect">
            <a:avLst/>
          </a:prstGeom>
          <a:noFill/>
          <a:ln/>
        </p:spPr>
        <p:txBody>
          <a:bodyPr wrap="square" lIns="0" tIns="0" rIns="0" bIns="0" rtlCol="0" anchor="t"/>
          <a:lstStyle/>
          <a:p>
            <a:pPr indent="0" marL="0">
              <a:buNone/>
            </a:pPr>
            <a:r>
              <a:rPr lang="en-US" sz="1500" dirty="0">
                <a:solidFill>
                  <a:srgbClr val="E8EDF2"/>
                </a:solidFill>
              </a:rPr>
              <a:t>TM decides, RM works in its own DB, TC keeps the file and gives the final word.</a:t>
            </a:r>
            <a:endParaRPr lang="en-US" sz="1500" dirty="0"/>
          </a:p>
        </p:txBody>
      </p:sp>
      <p:sp>
        <p:nvSpPr>
          <p:cNvPr id="9" name="Text 7"/>
          <p:cNvSpPr/>
          <p:nvPr/>
        </p:nvSpPr>
        <p:spPr>
          <a:xfrm>
            <a:off x="548640" y="2935224"/>
            <a:ext cx="384048" cy="384048"/>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0" name="Text 8"/>
          <p:cNvSpPr txBox="1"/>
          <p:nvPr/>
        </p:nvSpPr>
        <p:spPr>
          <a:xfrm>
            <a:off x="1097280" y="2962656"/>
            <a:ext cx="7498080" cy="365760"/>
          </a:xfrm>
          <a:prstGeom prst="rect">
            <a:avLst/>
          </a:prstGeom>
          <a:noFill/>
          <a:ln/>
        </p:spPr>
        <p:txBody>
          <a:bodyPr wrap="square" lIns="0" tIns="0" rIns="0" bIns="0" rtlCol="0" anchor="t"/>
          <a:lstStyle/>
          <a:p>
            <a:pPr indent="0" marL="0">
              <a:buNone/>
            </a:pPr>
            <a:r>
              <a:rPr lang="en-US" sz="1500" dirty="0">
                <a:solidFill>
                  <a:srgbClr val="E8EDF2"/>
                </a:solidFill>
              </a:rPr>
              <a:t>The XID ties every branch to one global transaction. Make sure it propagates.</a:t>
            </a:r>
            <a:endParaRPr lang="en-US" sz="1500" dirty="0"/>
          </a:p>
        </p:txBody>
      </p:sp>
      <p:sp>
        <p:nvSpPr>
          <p:cNvPr id="11" name="Text 9"/>
          <p:cNvSpPr/>
          <p:nvPr/>
        </p:nvSpPr>
        <p:spPr>
          <a:xfrm>
            <a:off x="548640" y="3502152"/>
            <a:ext cx="384048" cy="384048"/>
          </a:xfrm>
          <a:prstGeom prst="ellipse">
            <a:avLst/>
          </a:prstGeom>
          <a:solidFill>
            <a:schemeClr val="accent1"/>
          </a:solidFill>
          <a:ln w="6350">
            <a:solidFill>
              <a:schemeClr val="accent1"/>
            </a:solid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12" name="Text 10"/>
          <p:cNvSpPr txBox="1"/>
          <p:nvPr/>
        </p:nvSpPr>
        <p:spPr>
          <a:xfrm>
            <a:off x="1097280" y="3529584"/>
            <a:ext cx="7498080" cy="365760"/>
          </a:xfrm>
          <a:prstGeom prst="rect">
            <a:avLst/>
          </a:prstGeom>
          <a:noFill/>
          <a:ln/>
        </p:spPr>
        <p:txBody>
          <a:bodyPr wrap="square" lIns="0" tIns="0" rIns="0" bIns="0" rtlCol="0" anchor="t"/>
          <a:lstStyle/>
          <a:p>
            <a:pPr indent="0" marL="0">
              <a:buNone/>
            </a:pPr>
            <a:r>
              <a:rPr lang="en-US" sz="1500" dirty="0">
                <a:solidFill>
                  <a:srgbClr val="E8EDF2"/>
                </a:solidFill>
              </a:rPr>
              <a:t>One DB: local transaction. Strict isolation: XA. Reserve: TCC. Long flow: Saga.</a:t>
            </a:r>
            <a:endParaRPr lang="en-US" sz="1500" dirty="0"/>
          </a:p>
        </p:txBody>
      </p:sp>
      <p:sp>
        <p:nvSpPr>
          <p:cNvPr id="13" name="Text 11"/>
          <p:cNvSpPr txBox="1"/>
          <p:nvPr/>
        </p:nvSpPr>
        <p:spPr>
          <a:xfrm>
            <a:off x="548640" y="4206240"/>
            <a:ext cx="8046720" cy="457200"/>
          </a:xfrm>
          <a:prstGeom prst="rect">
            <a:avLst/>
          </a:prstGeom>
          <a:noFill/>
          <a:ln/>
        </p:spPr>
        <p:txBody>
          <a:bodyPr wrap="square" lIns="0" tIns="0" rIns="0" bIns="0" rtlCol="0" anchor="t"/>
          <a:lstStyle/>
          <a:p>
            <a:pPr indent="0" marL="0">
              <a:buNone/>
            </a:pPr>
            <a:r>
              <a:rPr lang="en-US" sz="1300" b="1" dirty="0">
                <a:solidFill>
                  <a:srgbClr val="7FD3CF"/>
                </a:solidFill>
              </a:rPr>
              <a:t>Next: </a:t>
            </a:r>
            <a:pPr indent="0" marL="0">
              <a:buNone/>
            </a:pPr>
            <a:r>
              <a:rPr lang="en-US" sz="1300" dirty="0">
                <a:solidFill>
                  <a:srgbClr val="C9D3DE"/>
                </a:solidFill>
              </a:rPr>
              <a:t>AT vs XA side by side on the same 1,000 Tk transfer: a crash after the first commit, and a concurrent balance read.</a:t>
            </a:r>
            <a:endParaRPr lang="en-US" sz="1300" dirty="0"/>
          </a:p>
        </p:txBody>
      </p:sp>
      <p:sp>
        <p:nvSpPr>
          <p:cNvPr id="15" name="Text 0"/>
          <p:cNvSpPr/>
          <p:nvPr>
            <p:ph idx="100" type="title" hasCustomPrompt="1"/>
          </p:nvPr>
        </p:nvSpPr>
        <p:spPr>
          <a:xfrm>
            <a:off x="548640" y="1371600"/>
            <a:ext cx="8046720" cy="1188720"/>
          </a:xfrm>
          <a:prstGeom prst="rect">
            <a:avLst/>
          </a:prstGeom>
          <a:noFill/>
          <a:ln/>
        </p:spPr>
        <p:txBody>
          <a:bodyPr wrap="square" lIns="0" tIns="0" rIns="0" bIns="0" rtlCol="0" anchor="t"/>
          <a:lstStyle/>
          <a:p>
            <a:pPr algn="l" indent="0" marL="0">
              <a:buNone/>
            </a:pPr>
            <a:endParaRPr lang="en-US" sz="3800" dirty="0"/>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a:xfrm>
            <a:off x="457200" y="256032"/>
            <a:ext cx="6903720" cy="640080"/>
          </a:xfrm>
        </p:spPr>
        <p:txBody>
          <a:bodyPr wrap="square" lIns="0" tIns="0" rIns="0" bIns="0" rtlCol="0" anchor="ctr"/>
          <a:lstStyle/>
          <a:p>
            <a:pPr algn="l" indent="0" marL="0">
              <a:buNone/>
            </a:pPr>
            <a:r>
              <a:rPr lang="en-US" sz="2400" b="1" dirty="0">
                <a:solidFill>
                  <a:schemeClr val="tx1"/>
                </a:solidFill>
              </a:rPr>
              <a:t>Which annotation goes where</a:t>
            </a:r>
            <a:endParaRPr lang="en-US" sz="2400" dirty="0"/>
          </a:p>
        </p:txBody>
      </p:sp>
      <p:sp>
        <p:nvSpPr>
          <p:cNvPr id="3" name="AT mode badge"/>
          <p:cNvSpPr/>
          <p:nvPr/>
        </p:nvSpPr>
        <p:spPr>
          <a:xfrm>
            <a:off x="7498079" y="402336"/>
            <a:ext cx="1188720" cy="347472"/>
          </a:xfrm>
          <a:prstGeom prst="roundRect">
            <a:avLst>
              <a:gd name="adj" fmla="val 50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200" b="1">
                <a:solidFill>
                  <a:srgbClr val="FFFFFF"/>
                </a:solidFill>
              </a:rPr>
              <a:t>AT MODE</a:t>
            </a:r>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12</a:t>
            </a:fld>
            <a:endParaRPr lang="en-US"/>
          </a:p>
        </p:txBody>
      </p:sp>
      <p:sp>
        <p:nvSpPr>
          <p:cNvPr id="26" name="TextBox 25"/>
          <p:cNvSpPr txBox="1"/>
          <p:nvPr/>
        </p:nvSpPr>
        <p:spPr>
          <a:xfrm>
            <a:off x="457200" y="932688"/>
            <a:ext cx="8229600" cy="274320"/>
          </a:xfrm>
          <a:prstGeom prst="rect">
            <a:avLst/>
          </a:prstGeom>
          <a:noFill/>
        </p:spPr>
        <p:txBody>
          <a:bodyPr wrap="square" lIns="0" rIns="0" tIns="0" bIns="0" anchor="t">
            <a:spAutoFit/>
          </a:bodyPr>
          <a:lstStyle/>
          <a:p>
            <a:pPr algn="l"/>
            <a:r>
              <a:rPr sz="1400" b="1">
                <a:solidFill>
                  <a:srgbClr val="3D4A5C"/>
                </a:solidFill>
              </a:rPr>
              <a:t>One service starts the global transaction. Every other service only joins it.</a:t>
            </a:r>
          </a:p>
        </p:txBody>
      </p:sp>
      <p:graphicFrame>
        <p:nvGraphicFramePr>
          <p:cNvPr id="27" name="Annotation table"/>
          <p:cNvGraphicFramePr>
            <a:graphicFrameLocks noGrp="1"/>
          </p:cNvGraphicFramePr>
          <p:nvPr/>
        </p:nvGraphicFramePr>
        <p:xfrm>
          <a:off x="457200" y="1298448"/>
          <a:ext cx="8229600" cy="2176272"/>
        </p:xfrm>
        <a:graphic>
          <a:graphicData uri="http://schemas.openxmlformats.org/drawingml/2006/table">
            <a:tbl>
              <a:tblPr firstRow="0" bandRow="0"/>
              <a:tblGrid>
                <a:gridCol w="1417320"/>
                <a:gridCol w="1783080"/>
                <a:gridCol w="2011680"/>
                <a:gridCol w="1508760"/>
                <a:gridCol w="1508760"/>
              </a:tblGrid>
              <a:tr h="347472">
                <a:tc>
                  <a:txBody>
                    <a:bodyPr wrap="square"/>
                    <a:lstStyle/>
                    <a:p>
                      <a:pPr algn="l"/>
                      <a:r>
                        <a:rPr sz="1200" b="1">
                          <a:solidFill>
                            <a:srgbClr val="FFFFFF"/>
                          </a:solidFill>
                        </a:rPr>
                        <a:t>Service</a:t>
                      </a:r>
                    </a:p>
                  </a:txBody>
                  <a:tcPr marL="73152" marR="73152" marT="36576" marB="36576" anchor="ctr">
                    <a:lnL w="6350">
                      <a:solidFill>
                        <a:srgbClr val="D5DCE3"/>
                      </a:solidFill>
                    </a:lnL>
                    <a:lnR w="6350">
                      <a:solidFill>
                        <a:srgbClr val="D5DCE3"/>
                      </a:solidFill>
                    </a:lnR>
                    <a:lnT w="6350">
                      <a:solidFill>
                        <a:srgbClr val="D5DCE3"/>
                      </a:solidFill>
                    </a:lnT>
                    <a:lnB w="6350">
                      <a:solidFill>
                        <a:srgbClr val="D5DCE3"/>
                      </a:solidFill>
                    </a:lnB>
                    <a:solidFill>
                      <a:srgbClr val="1B2432"/>
                    </a:solidFill>
                  </a:tcPr>
                </a:tc>
                <a:tc>
                  <a:txBody>
                    <a:bodyPr wrap="square"/>
                    <a:lstStyle/>
                    <a:p>
                      <a:pPr algn="l"/>
                      <a:r>
                        <a:rPr sz="1200" b="1">
                          <a:solidFill>
                            <a:srgbClr val="FFFFFF"/>
                          </a:solidFill>
                        </a:rPr>
                        <a:t>Seata role</a:t>
                      </a:r>
                    </a:p>
                  </a:txBody>
                  <a:tcPr marL="73152" marR="73152" marT="36576" marB="36576" anchor="ctr">
                    <a:lnL w="6350">
                      <a:solidFill>
                        <a:srgbClr val="D5DCE3"/>
                      </a:solidFill>
                    </a:lnL>
                    <a:lnR w="6350">
                      <a:solidFill>
                        <a:srgbClr val="D5DCE3"/>
                      </a:solidFill>
                    </a:lnR>
                    <a:lnT w="6350">
                      <a:solidFill>
                        <a:srgbClr val="D5DCE3"/>
                      </a:solidFill>
                    </a:lnT>
                    <a:lnB w="6350">
                      <a:solidFill>
                        <a:srgbClr val="D5DCE3"/>
                      </a:solidFill>
                    </a:lnB>
                    <a:solidFill>
                      <a:srgbClr val="1B2432"/>
                    </a:solidFill>
                  </a:tcPr>
                </a:tc>
                <a:tc>
                  <a:txBody>
                    <a:bodyPr wrap="square"/>
                    <a:lstStyle/>
                    <a:p>
                      <a:pPr algn="l"/>
                      <a:r>
                        <a:rPr sz="1200" b="1">
                          <a:solidFill>
                            <a:srgbClr val="FFFFFF"/>
                          </a:solidFill>
                        </a:rPr>
                        <a:t>Annotation on the service method</a:t>
                      </a:r>
                    </a:p>
                  </a:txBody>
                  <a:tcPr marL="73152" marR="73152" marT="36576" marB="36576" anchor="ctr">
                    <a:lnL w="6350">
                      <a:solidFill>
                        <a:srgbClr val="D5DCE3"/>
                      </a:solidFill>
                    </a:lnL>
                    <a:lnR w="6350">
                      <a:solidFill>
                        <a:srgbClr val="D5DCE3"/>
                      </a:solidFill>
                    </a:lnR>
                    <a:lnT w="6350">
                      <a:solidFill>
                        <a:srgbClr val="D5DCE3"/>
                      </a:solidFill>
                    </a:lnT>
                    <a:lnB w="6350">
                      <a:solidFill>
                        <a:srgbClr val="D5DCE3"/>
                      </a:solidFill>
                    </a:lnB>
                    <a:solidFill>
                      <a:srgbClr val="1B2432"/>
                    </a:solidFill>
                  </a:tcPr>
                </a:tc>
                <a:tc>
                  <a:txBody>
                    <a:bodyPr wrap="square"/>
                    <a:lstStyle/>
                    <a:p>
                      <a:pPr algn="l"/>
                      <a:r>
                        <a:rPr sz="1200" b="1">
                          <a:solidFill>
                            <a:srgbClr val="FFFFFF"/>
                          </a:solidFill>
                        </a:rPr>
                        <a:t>XID class</a:t>
                      </a:r>
                    </a:p>
                  </a:txBody>
                  <a:tcPr marL="73152" marR="73152" marT="36576" marB="36576" anchor="ctr">
                    <a:lnL w="6350">
                      <a:solidFill>
                        <a:srgbClr val="D5DCE3"/>
                      </a:solidFill>
                    </a:lnL>
                    <a:lnR w="6350">
                      <a:solidFill>
                        <a:srgbClr val="D5DCE3"/>
                      </a:solidFill>
                    </a:lnR>
                    <a:lnT w="6350">
                      <a:solidFill>
                        <a:srgbClr val="D5DCE3"/>
                      </a:solidFill>
                    </a:lnT>
                    <a:lnB w="6350">
                      <a:solidFill>
                        <a:srgbClr val="D5DCE3"/>
                      </a:solidFill>
                    </a:lnB>
                    <a:solidFill>
                      <a:srgbClr val="1B2432"/>
                    </a:solidFill>
                  </a:tcPr>
                </a:tc>
                <a:tc>
                  <a:txBody>
                    <a:bodyPr wrap="square"/>
                    <a:lstStyle/>
                    <a:p>
                      <a:pPr algn="l"/>
                      <a:r>
                        <a:rPr sz="1200" b="1">
                          <a:solidFill>
                            <a:srgbClr val="FFFFFF"/>
                          </a:solidFill>
                        </a:rPr>
                        <a:t>undo_log in its DB</a:t>
                      </a:r>
                    </a:p>
                  </a:txBody>
                  <a:tcPr marL="73152" marR="73152" marT="36576" marB="36576" anchor="ctr">
                    <a:lnL w="6350">
                      <a:solidFill>
                        <a:srgbClr val="D5DCE3"/>
                      </a:solidFill>
                    </a:lnL>
                    <a:lnR w="6350">
                      <a:solidFill>
                        <a:srgbClr val="D5DCE3"/>
                      </a:solidFill>
                    </a:lnR>
                    <a:lnT w="6350">
                      <a:solidFill>
                        <a:srgbClr val="D5DCE3"/>
                      </a:solidFill>
                    </a:lnT>
                    <a:lnB w="6350">
                      <a:solidFill>
                        <a:srgbClr val="D5DCE3"/>
                      </a:solidFill>
                    </a:lnB>
                    <a:solidFill>
                      <a:srgbClr val="1B2432"/>
                    </a:solidFill>
                  </a:tcPr>
                </a:tc>
              </a:tr>
              <a:tr h="457200">
                <a:tc>
                  <a:txBody>
                    <a:bodyPr wrap="square"/>
                    <a:lstStyle/>
                    <a:p>
                      <a:pPr algn="l"/>
                      <a:r>
                        <a:rPr sz="1250" b="1">
                          <a:solidFill>
                            <a:srgbClr val="1B2432"/>
                          </a:solidFill>
                        </a:rPr>
                        <a:t>order-service</a:t>
                      </a:r>
                    </a:p>
                  </a:txBody>
                  <a:tcPr marL="73152" marR="73152" marT="36576" marB="36576" anchor="ctr">
                    <a:lnL w="6350">
                      <a:solidFill>
                        <a:srgbClr val="D5DCE3"/>
                      </a:solidFill>
                    </a:lnL>
                    <a:lnR w="6350">
                      <a:solidFill>
                        <a:srgbClr val="D5DCE3"/>
                      </a:solidFill>
                    </a:lnR>
                    <a:lnT w="6350">
                      <a:solidFill>
                        <a:srgbClr val="D5DCE3"/>
                      </a:solidFill>
                    </a:lnT>
                    <a:lnB w="6350">
                      <a:solidFill>
                        <a:srgbClr val="D5DCE3"/>
                      </a:solidFill>
                    </a:lnB>
                    <a:solidFill>
                      <a:srgbClr val="E3F2F1"/>
                    </a:solidFill>
                  </a:tcPr>
                </a:tc>
                <a:tc>
                  <a:txBody>
                    <a:bodyPr wrap="square"/>
                    <a:lstStyle/>
                    <a:p>
                      <a:pPr algn="l"/>
                      <a:r>
                        <a:rPr sz="1200" b="1">
                          <a:solidFill>
                            <a:srgbClr val="1B2432"/>
                          </a:solidFill>
                        </a:rPr>
                        <a:t>TM: initiator</a:t>
                      </a:r>
                    </a:p>
                    <a:p>
                      <a:pPr algn="l"/>
                      <a:r>
                        <a:rPr sz="1050" b="0">
                          <a:solidFill>
                            <a:srgbClr val="7A8699"/>
                          </a:solidFill>
                        </a:rPr>
                        <a:t>(also RM for its own DB)</a:t>
                      </a:r>
                    </a:p>
                  </a:txBody>
                  <a:tcPr marL="73152" marR="73152" marT="36576" marB="36576" anchor="ctr">
                    <a:lnL w="6350">
                      <a:solidFill>
                        <a:srgbClr val="D5DCE3"/>
                      </a:solidFill>
                    </a:lnL>
                    <a:lnR w="6350">
                      <a:solidFill>
                        <a:srgbClr val="D5DCE3"/>
                      </a:solidFill>
                    </a:lnR>
                    <a:lnT w="6350">
                      <a:solidFill>
                        <a:srgbClr val="D5DCE3"/>
                      </a:solidFill>
                    </a:lnT>
                    <a:lnB w="6350">
                      <a:solidFill>
                        <a:srgbClr val="D5DCE3"/>
                      </a:solidFill>
                    </a:lnB>
                    <a:solidFill>
                      <a:srgbClr val="E3F2F1"/>
                    </a:solidFill>
                  </a:tcPr>
                </a:tc>
                <a:tc>
                  <a:txBody>
                    <a:bodyPr wrap="square"/>
                    <a:lstStyle/>
                    <a:p>
                      <a:pPr algn="l"/>
                      <a:r>
                        <a:rPr sz="1150" b="1">
                          <a:solidFill>
                            <a:srgbClr val="0E7C7B"/>
                          </a:solidFill>
                          <a:latin typeface="Courier New"/>
                        </a:rPr>
                        <a:t>@GlobalTransactional</a:t>
                      </a:r>
                    </a:p>
                    <a:p>
                      <a:pPr algn="l"/>
                      <a:r>
                        <a:rPr sz="1050" b="0">
                          <a:solidFill>
                            <a:srgbClr val="7A8699"/>
                          </a:solidFill>
                        </a:rPr>
                        <a:t>placeOrder()</a:t>
                      </a:r>
                    </a:p>
                  </a:txBody>
                  <a:tcPr marL="73152" marR="73152" marT="36576" marB="36576" anchor="ctr">
                    <a:lnL w="6350">
                      <a:solidFill>
                        <a:srgbClr val="D5DCE3"/>
                      </a:solidFill>
                    </a:lnL>
                    <a:lnR w="6350">
                      <a:solidFill>
                        <a:srgbClr val="D5DCE3"/>
                      </a:solidFill>
                    </a:lnR>
                    <a:lnT w="6350">
                      <a:solidFill>
                        <a:srgbClr val="D5DCE3"/>
                      </a:solidFill>
                    </a:lnT>
                    <a:lnB w="6350">
                      <a:solidFill>
                        <a:srgbClr val="D5DCE3"/>
                      </a:solidFill>
                    </a:lnB>
                    <a:solidFill>
                      <a:srgbClr val="E3F2F1"/>
                    </a:solidFill>
                  </a:tcPr>
                </a:tc>
                <a:tc>
                  <a:txBody>
                    <a:bodyPr wrap="square"/>
                    <a:lstStyle/>
                    <a:p>
                      <a:pPr algn="l"/>
                      <a:r>
                        <a:rPr sz="1150" b="1">
                          <a:solidFill>
                            <a:srgbClr val="4F4FC4"/>
                          </a:solidFill>
                          <a:latin typeface="Courier New"/>
                        </a:rPr>
                        <a:t>FeignXidConfig</a:t>
                      </a:r>
                    </a:p>
                    <a:p>
                      <a:pPr algn="l"/>
                      <a:r>
                        <a:rPr sz="1050" b="0">
                          <a:solidFill>
                            <a:srgbClr val="7A8699"/>
                          </a:solidFill>
                        </a:rPr>
                        <a:t>sends XID</a:t>
                      </a:r>
                    </a:p>
                  </a:txBody>
                  <a:tcPr marL="73152" marR="73152" marT="36576" marB="36576" anchor="ctr">
                    <a:lnL w="6350">
                      <a:solidFill>
                        <a:srgbClr val="D5DCE3"/>
                      </a:solidFill>
                    </a:lnL>
                    <a:lnR w="6350">
                      <a:solidFill>
                        <a:srgbClr val="D5DCE3"/>
                      </a:solidFill>
                    </a:lnR>
                    <a:lnT w="6350">
                      <a:solidFill>
                        <a:srgbClr val="D5DCE3"/>
                      </a:solidFill>
                    </a:lnT>
                    <a:lnB w="6350">
                      <a:solidFill>
                        <a:srgbClr val="D5DCE3"/>
                      </a:solidFill>
                    </a:lnB>
                    <a:solidFill>
                      <a:srgbClr val="E3F2F1"/>
                    </a:solidFill>
                  </a:tcPr>
                </a:tc>
                <a:tc>
                  <a:txBody>
                    <a:bodyPr wrap="square"/>
                    <a:lstStyle/>
                    <a:p>
                      <a:pPr algn="l"/>
                      <a:r>
                        <a:rPr sz="1200" b="0">
                          <a:solidFill>
                            <a:srgbClr val="1B2432"/>
                          </a:solidFill>
                        </a:rPr>
                        <a:t>Yes, order_db</a:t>
                      </a:r>
                    </a:p>
                  </a:txBody>
                  <a:tcPr marL="73152" marR="73152" marT="36576" marB="36576" anchor="ctr">
                    <a:lnL w="6350">
                      <a:solidFill>
                        <a:srgbClr val="D5DCE3"/>
                      </a:solidFill>
                    </a:lnL>
                    <a:lnR w="6350">
                      <a:solidFill>
                        <a:srgbClr val="D5DCE3"/>
                      </a:solidFill>
                    </a:lnR>
                    <a:lnT w="6350">
                      <a:solidFill>
                        <a:srgbClr val="D5DCE3"/>
                      </a:solidFill>
                    </a:lnT>
                    <a:lnB w="6350">
                      <a:solidFill>
                        <a:srgbClr val="D5DCE3"/>
                      </a:solidFill>
                    </a:lnB>
                    <a:solidFill>
                      <a:srgbClr val="E3F2F1"/>
                    </a:solidFill>
                  </a:tcPr>
                </a:tc>
              </a:tr>
              <a:tr h="457200">
                <a:tc>
                  <a:txBody>
                    <a:bodyPr wrap="square"/>
                    <a:lstStyle/>
                    <a:p>
                      <a:pPr algn="l"/>
                      <a:r>
                        <a:rPr sz="1250" b="1">
                          <a:solidFill>
                            <a:srgbClr val="1B2432"/>
                          </a:solidFill>
                        </a:rPr>
                        <a:t>inventory-service</a:t>
                      </a:r>
                    </a:p>
                  </a:txBody>
                  <a:tcPr marL="73152" marR="73152" marT="36576" marB="36576" anchor="ctr">
                    <a:lnL w="6350">
                      <a:solidFill>
                        <a:srgbClr val="D5DCE3"/>
                      </a:solidFill>
                    </a:lnL>
                    <a:lnR w="6350">
                      <a:solidFill>
                        <a:srgbClr val="D5DCE3"/>
                      </a:solidFill>
                    </a:lnR>
                    <a:lnT w="6350">
                      <a:solidFill>
                        <a:srgbClr val="D5DCE3"/>
                      </a:solidFill>
                    </a:lnT>
                    <a:lnB w="6350">
                      <a:solidFill>
                        <a:srgbClr val="D5DCE3"/>
                      </a:solidFill>
                    </a:lnB>
                    <a:solidFill>
                      <a:srgbClr val="FFFFFF"/>
                    </a:solidFill>
                  </a:tcPr>
                </a:tc>
                <a:tc>
                  <a:txBody>
                    <a:bodyPr wrap="square"/>
                    <a:lstStyle/>
                    <a:p>
                      <a:pPr algn="l"/>
                      <a:r>
                        <a:rPr sz="1200" b="1">
                          <a:solidFill>
                            <a:srgbClr val="1B2432"/>
                          </a:solidFill>
                        </a:rPr>
                        <a:t>RM: participant</a:t>
                      </a:r>
                    </a:p>
                  </a:txBody>
                  <a:tcPr marL="73152" marR="73152" marT="36576" marB="36576" anchor="ctr">
                    <a:lnL w="6350">
                      <a:solidFill>
                        <a:srgbClr val="D5DCE3"/>
                      </a:solidFill>
                    </a:lnL>
                    <a:lnR w="6350">
                      <a:solidFill>
                        <a:srgbClr val="D5DCE3"/>
                      </a:solidFill>
                    </a:lnR>
                    <a:lnT w="6350">
                      <a:solidFill>
                        <a:srgbClr val="D5DCE3"/>
                      </a:solidFill>
                    </a:lnT>
                    <a:lnB w="6350">
                      <a:solidFill>
                        <a:srgbClr val="D5DCE3"/>
                      </a:solidFill>
                    </a:lnB>
                    <a:solidFill>
                      <a:srgbClr val="FFFFFF"/>
                    </a:solidFill>
                  </a:tcPr>
                </a:tc>
                <a:tc>
                  <a:txBody>
                    <a:bodyPr wrap="square"/>
                    <a:lstStyle/>
                    <a:p>
                      <a:pPr algn="l"/>
                      <a:r>
                        <a:rPr sz="1150" b="1">
                          <a:solidFill>
                            <a:srgbClr val="1B2432"/>
                          </a:solidFill>
                          <a:latin typeface="Courier New"/>
                        </a:rPr>
                        <a:t>@Transactional</a:t>
                      </a:r>
                    </a:p>
                    <a:p>
                      <a:pPr algn="l"/>
                      <a:r>
                        <a:rPr sz="1050" b="0">
                          <a:solidFill>
                            <a:srgbClr val="7A8699"/>
                          </a:solidFill>
                        </a:rPr>
                        <a:t>deduct()</a:t>
                      </a:r>
                    </a:p>
                  </a:txBody>
                  <a:tcPr marL="73152" marR="73152" marT="36576" marB="36576" anchor="ctr">
                    <a:lnL w="6350">
                      <a:solidFill>
                        <a:srgbClr val="D5DCE3"/>
                      </a:solidFill>
                    </a:lnL>
                    <a:lnR w="6350">
                      <a:solidFill>
                        <a:srgbClr val="D5DCE3"/>
                      </a:solidFill>
                    </a:lnR>
                    <a:lnT w="6350">
                      <a:solidFill>
                        <a:srgbClr val="D5DCE3"/>
                      </a:solidFill>
                    </a:lnT>
                    <a:lnB w="6350">
                      <a:solidFill>
                        <a:srgbClr val="D5DCE3"/>
                      </a:solidFill>
                    </a:lnB>
                    <a:solidFill>
                      <a:srgbClr val="FFFFFF"/>
                    </a:solidFill>
                  </a:tcPr>
                </a:tc>
                <a:tc>
                  <a:txBody>
                    <a:bodyPr wrap="square"/>
                    <a:lstStyle/>
                    <a:p>
                      <a:pPr algn="l"/>
                      <a:r>
                        <a:rPr sz="1150" b="1">
                          <a:solidFill>
                            <a:srgbClr val="4F4FC4"/>
                          </a:solidFill>
                          <a:latin typeface="Courier New"/>
                        </a:rPr>
                        <a:t>SeataXidConfig</a:t>
                      </a:r>
                    </a:p>
                    <a:p>
                      <a:pPr algn="l"/>
                      <a:r>
                        <a:rPr sz="1050" b="0">
                          <a:solidFill>
                            <a:srgbClr val="7A8699"/>
                          </a:solidFill>
                        </a:rPr>
                        <a:t>receives XID</a:t>
                      </a:r>
                    </a:p>
                  </a:txBody>
                  <a:tcPr marL="73152" marR="73152" marT="36576" marB="36576" anchor="ctr">
                    <a:lnL w="6350">
                      <a:solidFill>
                        <a:srgbClr val="D5DCE3"/>
                      </a:solidFill>
                    </a:lnL>
                    <a:lnR w="6350">
                      <a:solidFill>
                        <a:srgbClr val="D5DCE3"/>
                      </a:solidFill>
                    </a:lnR>
                    <a:lnT w="6350">
                      <a:solidFill>
                        <a:srgbClr val="D5DCE3"/>
                      </a:solidFill>
                    </a:lnT>
                    <a:lnB w="6350">
                      <a:solidFill>
                        <a:srgbClr val="D5DCE3"/>
                      </a:solidFill>
                    </a:lnB>
                    <a:solidFill>
                      <a:srgbClr val="FFFFFF"/>
                    </a:solidFill>
                  </a:tcPr>
                </a:tc>
                <a:tc>
                  <a:txBody>
                    <a:bodyPr wrap="square"/>
                    <a:lstStyle/>
                    <a:p>
                      <a:pPr algn="l"/>
                      <a:r>
                        <a:rPr sz="1200" b="0">
                          <a:solidFill>
                            <a:srgbClr val="1B2432"/>
                          </a:solidFill>
                        </a:rPr>
                        <a:t>Yes, inventory_db</a:t>
                      </a:r>
                    </a:p>
                  </a:txBody>
                  <a:tcPr marL="73152" marR="73152" marT="36576" marB="36576" anchor="ctr">
                    <a:lnL w="6350">
                      <a:solidFill>
                        <a:srgbClr val="D5DCE3"/>
                      </a:solidFill>
                    </a:lnL>
                    <a:lnR w="6350">
                      <a:solidFill>
                        <a:srgbClr val="D5DCE3"/>
                      </a:solidFill>
                    </a:lnR>
                    <a:lnT w="6350">
                      <a:solidFill>
                        <a:srgbClr val="D5DCE3"/>
                      </a:solidFill>
                    </a:lnT>
                    <a:lnB w="6350">
                      <a:solidFill>
                        <a:srgbClr val="D5DCE3"/>
                      </a:solidFill>
                    </a:lnB>
                    <a:solidFill>
                      <a:srgbClr val="FFFFFF"/>
                    </a:solidFill>
                  </a:tcPr>
                </a:tc>
              </a:tr>
              <a:tr h="457200">
                <a:tc>
                  <a:txBody>
                    <a:bodyPr wrap="square"/>
                    <a:lstStyle/>
                    <a:p>
                      <a:pPr algn="l"/>
                      <a:r>
                        <a:rPr sz="1250" b="1">
                          <a:solidFill>
                            <a:srgbClr val="1B2432"/>
                          </a:solidFill>
                        </a:rPr>
                        <a:t>payment-service</a:t>
                      </a:r>
                    </a:p>
                  </a:txBody>
                  <a:tcPr marL="73152" marR="73152" marT="36576" marB="36576" anchor="ctr">
                    <a:lnL w="6350">
                      <a:solidFill>
                        <a:srgbClr val="D5DCE3"/>
                      </a:solidFill>
                    </a:lnL>
                    <a:lnR w="6350">
                      <a:solidFill>
                        <a:srgbClr val="D5DCE3"/>
                      </a:solidFill>
                    </a:lnR>
                    <a:lnT w="6350">
                      <a:solidFill>
                        <a:srgbClr val="D5DCE3"/>
                      </a:solidFill>
                    </a:lnT>
                    <a:lnB w="6350">
                      <a:solidFill>
                        <a:srgbClr val="D5DCE3"/>
                      </a:solidFill>
                    </a:lnB>
                    <a:solidFill>
                      <a:srgbClr val="FFFFFF"/>
                    </a:solidFill>
                  </a:tcPr>
                </a:tc>
                <a:tc>
                  <a:txBody>
                    <a:bodyPr wrap="square"/>
                    <a:lstStyle/>
                    <a:p>
                      <a:pPr algn="l"/>
                      <a:r>
                        <a:rPr sz="1200" b="1">
                          <a:solidFill>
                            <a:srgbClr val="1B2432"/>
                          </a:solidFill>
                        </a:rPr>
                        <a:t>RM: participant</a:t>
                      </a:r>
                    </a:p>
                  </a:txBody>
                  <a:tcPr marL="73152" marR="73152" marT="36576" marB="36576" anchor="ctr">
                    <a:lnL w="6350">
                      <a:solidFill>
                        <a:srgbClr val="D5DCE3"/>
                      </a:solidFill>
                    </a:lnL>
                    <a:lnR w="6350">
                      <a:solidFill>
                        <a:srgbClr val="D5DCE3"/>
                      </a:solidFill>
                    </a:lnR>
                    <a:lnT w="6350">
                      <a:solidFill>
                        <a:srgbClr val="D5DCE3"/>
                      </a:solidFill>
                    </a:lnT>
                    <a:lnB w="6350">
                      <a:solidFill>
                        <a:srgbClr val="D5DCE3"/>
                      </a:solidFill>
                    </a:lnB>
                    <a:solidFill>
                      <a:srgbClr val="FFFFFF"/>
                    </a:solidFill>
                  </a:tcPr>
                </a:tc>
                <a:tc>
                  <a:txBody>
                    <a:bodyPr wrap="square"/>
                    <a:lstStyle/>
                    <a:p>
                      <a:pPr algn="l"/>
                      <a:r>
                        <a:rPr sz="1150" b="1">
                          <a:solidFill>
                            <a:srgbClr val="1B2432"/>
                          </a:solidFill>
                          <a:latin typeface="Courier New"/>
                        </a:rPr>
                        <a:t>@Transactional</a:t>
                      </a:r>
                    </a:p>
                    <a:p>
                      <a:pPr algn="l"/>
                      <a:r>
                        <a:rPr sz="1050" b="0">
                          <a:solidFill>
                            <a:srgbClr val="7A8699"/>
                          </a:solidFill>
                        </a:rPr>
                        <a:t>charge()</a:t>
                      </a:r>
                    </a:p>
                  </a:txBody>
                  <a:tcPr marL="73152" marR="73152" marT="36576" marB="36576" anchor="ctr">
                    <a:lnL w="6350">
                      <a:solidFill>
                        <a:srgbClr val="D5DCE3"/>
                      </a:solidFill>
                    </a:lnL>
                    <a:lnR w="6350">
                      <a:solidFill>
                        <a:srgbClr val="D5DCE3"/>
                      </a:solidFill>
                    </a:lnR>
                    <a:lnT w="6350">
                      <a:solidFill>
                        <a:srgbClr val="D5DCE3"/>
                      </a:solidFill>
                    </a:lnT>
                    <a:lnB w="6350">
                      <a:solidFill>
                        <a:srgbClr val="D5DCE3"/>
                      </a:solidFill>
                    </a:lnB>
                    <a:solidFill>
                      <a:srgbClr val="FFFFFF"/>
                    </a:solidFill>
                  </a:tcPr>
                </a:tc>
                <a:tc>
                  <a:txBody>
                    <a:bodyPr wrap="square"/>
                    <a:lstStyle/>
                    <a:p>
                      <a:pPr algn="l"/>
                      <a:r>
                        <a:rPr sz="1150" b="1">
                          <a:solidFill>
                            <a:srgbClr val="4F4FC4"/>
                          </a:solidFill>
                          <a:latin typeface="Courier New"/>
                        </a:rPr>
                        <a:t>SeataXidConfig</a:t>
                      </a:r>
                    </a:p>
                    <a:p>
                      <a:pPr algn="l"/>
                      <a:r>
                        <a:rPr sz="1050" b="0">
                          <a:solidFill>
                            <a:srgbClr val="7A8699"/>
                          </a:solidFill>
                        </a:rPr>
                        <a:t>receives XID</a:t>
                      </a:r>
                    </a:p>
                  </a:txBody>
                  <a:tcPr marL="73152" marR="73152" marT="36576" marB="36576" anchor="ctr">
                    <a:lnL w="6350">
                      <a:solidFill>
                        <a:srgbClr val="D5DCE3"/>
                      </a:solidFill>
                    </a:lnL>
                    <a:lnR w="6350">
                      <a:solidFill>
                        <a:srgbClr val="D5DCE3"/>
                      </a:solidFill>
                    </a:lnR>
                    <a:lnT w="6350">
                      <a:solidFill>
                        <a:srgbClr val="D5DCE3"/>
                      </a:solidFill>
                    </a:lnT>
                    <a:lnB w="6350">
                      <a:solidFill>
                        <a:srgbClr val="D5DCE3"/>
                      </a:solidFill>
                    </a:lnB>
                    <a:solidFill>
                      <a:srgbClr val="FFFFFF"/>
                    </a:solidFill>
                  </a:tcPr>
                </a:tc>
                <a:tc>
                  <a:txBody>
                    <a:bodyPr wrap="square"/>
                    <a:lstStyle/>
                    <a:p>
                      <a:pPr algn="l"/>
                      <a:r>
                        <a:rPr sz="1200" b="0">
                          <a:solidFill>
                            <a:srgbClr val="1B2432"/>
                          </a:solidFill>
                        </a:rPr>
                        <a:t>Yes, payment_db</a:t>
                      </a:r>
                    </a:p>
                  </a:txBody>
                  <a:tcPr marL="73152" marR="73152" marT="36576" marB="36576" anchor="ctr">
                    <a:lnL w="6350">
                      <a:solidFill>
                        <a:srgbClr val="D5DCE3"/>
                      </a:solidFill>
                    </a:lnL>
                    <a:lnR w="6350">
                      <a:solidFill>
                        <a:srgbClr val="D5DCE3"/>
                      </a:solidFill>
                    </a:lnR>
                    <a:lnT w="6350">
                      <a:solidFill>
                        <a:srgbClr val="D5DCE3"/>
                      </a:solidFill>
                    </a:lnT>
                    <a:lnB w="6350">
                      <a:solidFill>
                        <a:srgbClr val="D5DCE3"/>
                      </a:solidFill>
                    </a:lnB>
                    <a:solidFill>
                      <a:srgbClr val="FFFFFF"/>
                    </a:solidFill>
                  </a:tcPr>
                </a:tc>
              </a:tr>
              <a:tr h="457200">
                <a:tc>
                  <a:txBody>
                    <a:bodyPr wrap="square"/>
                    <a:lstStyle/>
                    <a:p>
                      <a:pPr algn="l"/>
                      <a:r>
                        <a:rPr sz="1250" b="1">
                          <a:solidFill>
                            <a:srgbClr val="1B2432"/>
                          </a:solidFill>
                        </a:rPr>
                        <a:t>seata-server</a:t>
                      </a:r>
                    </a:p>
                  </a:txBody>
                  <a:tcPr marL="73152" marR="73152" marT="36576" marB="36576" anchor="ctr">
                    <a:lnL w="6350">
                      <a:solidFill>
                        <a:srgbClr val="D5DCE3"/>
                      </a:solidFill>
                    </a:lnL>
                    <a:lnR w="6350">
                      <a:solidFill>
                        <a:srgbClr val="D5DCE3"/>
                      </a:solidFill>
                    </a:lnR>
                    <a:lnT w="6350">
                      <a:solidFill>
                        <a:srgbClr val="D5DCE3"/>
                      </a:solidFill>
                    </a:lnT>
                    <a:lnB w="6350">
                      <a:solidFill>
                        <a:srgbClr val="D5DCE3"/>
                      </a:solidFill>
                    </a:lnB>
                    <a:solidFill>
                      <a:srgbClr val="F3F6F8"/>
                    </a:solidFill>
                  </a:tcPr>
                </a:tc>
                <a:tc>
                  <a:txBody>
                    <a:bodyPr wrap="square"/>
                    <a:lstStyle/>
                    <a:p>
                      <a:pPr algn="l"/>
                      <a:r>
                        <a:rPr sz="1200" b="1">
                          <a:solidFill>
                            <a:srgbClr val="1B2432"/>
                          </a:solidFill>
                        </a:rPr>
                        <a:t>TC: coordinator</a:t>
                      </a:r>
                    </a:p>
                  </a:txBody>
                  <a:tcPr marL="73152" marR="73152" marT="36576" marB="36576" anchor="ctr">
                    <a:lnL w="6350">
                      <a:solidFill>
                        <a:srgbClr val="D5DCE3"/>
                      </a:solidFill>
                    </a:lnL>
                    <a:lnR w="6350">
                      <a:solidFill>
                        <a:srgbClr val="D5DCE3"/>
                      </a:solidFill>
                    </a:lnR>
                    <a:lnT w="6350">
                      <a:solidFill>
                        <a:srgbClr val="D5DCE3"/>
                      </a:solidFill>
                    </a:lnT>
                    <a:lnB w="6350">
                      <a:solidFill>
                        <a:srgbClr val="D5DCE3"/>
                      </a:solidFill>
                    </a:lnB>
                    <a:solidFill>
                      <a:srgbClr val="F3F6F8"/>
                    </a:solidFill>
                  </a:tcPr>
                </a:tc>
                <a:tc>
                  <a:txBody>
                    <a:bodyPr wrap="square"/>
                    <a:lstStyle/>
                    <a:p>
                      <a:pPr algn="l"/>
                      <a:r>
                        <a:rPr sz="1200" b="0">
                          <a:solidFill>
                            <a:srgbClr val="1B2432"/>
                          </a:solidFill>
                        </a:rPr>
                        <a:t>None</a:t>
                      </a:r>
                    </a:p>
                  </a:txBody>
                  <a:tcPr marL="73152" marR="73152" marT="36576" marB="36576" anchor="ctr">
                    <a:lnL w="6350">
                      <a:solidFill>
                        <a:srgbClr val="D5DCE3"/>
                      </a:solidFill>
                    </a:lnL>
                    <a:lnR w="6350">
                      <a:solidFill>
                        <a:srgbClr val="D5DCE3"/>
                      </a:solidFill>
                    </a:lnR>
                    <a:lnT w="6350">
                      <a:solidFill>
                        <a:srgbClr val="D5DCE3"/>
                      </a:solidFill>
                    </a:lnT>
                    <a:lnB w="6350">
                      <a:solidFill>
                        <a:srgbClr val="D5DCE3"/>
                      </a:solidFill>
                    </a:lnB>
                    <a:solidFill>
                      <a:srgbClr val="F3F6F8"/>
                    </a:solidFill>
                  </a:tcPr>
                </a:tc>
                <a:tc>
                  <a:txBody>
                    <a:bodyPr wrap="square"/>
                    <a:lstStyle/>
                    <a:p>
                      <a:pPr algn="l"/>
                      <a:r>
                        <a:rPr sz="1200" b="0">
                          <a:solidFill>
                            <a:srgbClr val="1B2432"/>
                          </a:solidFill>
                        </a:rPr>
                        <a:t>None</a:t>
                      </a:r>
                    </a:p>
                  </a:txBody>
                  <a:tcPr marL="73152" marR="73152" marT="36576" marB="36576" anchor="ctr">
                    <a:lnL w="6350">
                      <a:solidFill>
                        <a:srgbClr val="D5DCE3"/>
                      </a:solidFill>
                    </a:lnL>
                    <a:lnR w="6350">
                      <a:solidFill>
                        <a:srgbClr val="D5DCE3"/>
                      </a:solidFill>
                    </a:lnR>
                    <a:lnT w="6350">
                      <a:solidFill>
                        <a:srgbClr val="D5DCE3"/>
                      </a:solidFill>
                    </a:lnT>
                    <a:lnB w="6350">
                      <a:solidFill>
                        <a:srgbClr val="D5DCE3"/>
                      </a:solidFill>
                    </a:lnB>
                    <a:solidFill>
                      <a:srgbClr val="F3F6F8"/>
                    </a:solidFill>
                  </a:tcPr>
                </a:tc>
                <a:tc>
                  <a:txBody>
                    <a:bodyPr wrap="square"/>
                    <a:lstStyle/>
                    <a:p>
                      <a:pPr algn="l"/>
                      <a:r>
                        <a:rPr sz="1200" b="0">
                          <a:solidFill>
                            <a:srgbClr val="1B2432"/>
                          </a:solidFill>
                        </a:rPr>
                        <a:t>No, uses seata_db</a:t>
                      </a:r>
                    </a:p>
                  </a:txBody>
                  <a:tcPr marL="73152" marR="73152" marT="36576" marB="36576" anchor="ctr">
                    <a:lnL w="6350">
                      <a:solidFill>
                        <a:srgbClr val="D5DCE3"/>
                      </a:solidFill>
                    </a:lnL>
                    <a:lnR w="6350">
                      <a:solidFill>
                        <a:srgbClr val="D5DCE3"/>
                      </a:solidFill>
                    </a:lnR>
                    <a:lnT w="6350">
                      <a:solidFill>
                        <a:srgbClr val="D5DCE3"/>
                      </a:solidFill>
                    </a:lnT>
                    <a:lnB w="6350">
                      <a:solidFill>
                        <a:srgbClr val="D5DCE3"/>
                      </a:solidFill>
                    </a:lnB>
                    <a:solidFill>
                      <a:srgbClr val="F3F6F8"/>
                    </a:solidFill>
                  </a:tcPr>
                </a:tc>
              </a:tr>
            </a:tbl>
          </a:graphicData>
        </a:graphic>
      </p:graphicFrame>
      <p:sp>
        <p:nvSpPr>
          <p:cNvPr id="28" name="Rounded Rectangle 27"/>
          <p:cNvSpPr/>
          <p:nvPr/>
        </p:nvSpPr>
        <p:spPr>
          <a:xfrm>
            <a:off x="457200" y="3675887"/>
            <a:ext cx="4023360" cy="914400"/>
          </a:xfrm>
          <a:prstGeom prst="roundRect">
            <a:avLst>
              <a:gd name="adj" fmla="val 6000"/>
            </a:avLst>
          </a:prstGeom>
          <a:solidFill>
            <a:srgbClr val="E3F2F1"/>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400" b="1">
                <a:solidFill>
                  <a:srgbClr val="0E7C7B"/>
                </a:solidFill>
              </a:rPr>
              <a:t>Initiator: where the business action starts</a:t>
            </a:r>
          </a:p>
          <a:p>
            <a:pPr algn="l"/>
            <a:r>
              <a:rPr sz="1250" b="0">
                <a:solidFill>
                  <a:srgbClr val="3D4A5C"/>
                </a:solidFill>
              </a:rPr>
              <a:t>Owns commit or rollback. @GlobalTransactional only here, on a method called from another bean.</a:t>
            </a:r>
          </a:p>
        </p:txBody>
      </p:sp>
      <p:sp>
        <p:nvSpPr>
          <p:cNvPr id="29" name="Rounded Rectangle 28"/>
          <p:cNvSpPr/>
          <p:nvPr/>
        </p:nvSpPr>
        <p:spPr>
          <a:xfrm>
            <a:off x="4663440" y="3675887"/>
            <a:ext cx="4023360" cy="914400"/>
          </a:xfrm>
          <a:prstGeom prst="roundRect">
            <a:avLst>
              <a:gd name="adj" fmla="val 6000"/>
            </a:avLst>
          </a:prstGeom>
          <a:solidFill>
            <a:srgbClr val="FDF3E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400" b="1">
                <a:solidFill>
                  <a:srgbClr val="D98E1F"/>
                </a:solidFill>
              </a:rPr>
              <a:t>Participant: every service it calls</a:t>
            </a:r>
          </a:p>
          <a:p>
            <a:pPr algn="l"/>
            <a:r>
              <a:rPr sz="1250" b="0">
                <a:solidFill>
                  <a:srgbClr val="3D4A5C"/>
                </a:solidFill>
              </a:rPr>
              <a:t>@Transactional for its own DB. Never @GlobalTransactional. It joins because the XID arrives.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a:xfrm>
            <a:off x="457200" y="256032"/>
            <a:ext cx="6903720" cy="640080"/>
          </a:xfrm>
        </p:spPr>
        <p:txBody>
          <a:bodyPr wrap="square" lIns="0" tIns="0" rIns="0" bIns="0" rtlCol="0" anchor="ctr"/>
          <a:lstStyle/>
          <a:p>
            <a:pPr algn="l" indent="0" marL="0">
              <a:buNone/>
            </a:pPr>
            <a:r>
              <a:rPr lang="en-US" sz="2400" b="1" dirty="0">
                <a:solidFill>
                  <a:schemeClr val="tx1"/>
                </a:solidFill>
              </a:rPr>
              <a:t>Direct calls: our current implementation</a:t>
            </a:r>
            <a:endParaRPr lang="en-US" sz="2400" dirty="0"/>
          </a:p>
        </p:txBody>
      </p:sp>
      <p:sp>
        <p:nvSpPr>
          <p:cNvPr id="3" name="AT mode badge"/>
          <p:cNvSpPr/>
          <p:nvPr/>
        </p:nvSpPr>
        <p:spPr>
          <a:xfrm>
            <a:off x="7498079" y="402336"/>
            <a:ext cx="1188720" cy="347472"/>
          </a:xfrm>
          <a:prstGeom prst="roundRect">
            <a:avLst>
              <a:gd name="adj" fmla="val 50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200" b="1">
                <a:solidFill>
                  <a:srgbClr val="FFFFFF"/>
                </a:solidFill>
              </a:rPr>
              <a:t>AT MODE</a:t>
            </a:r>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12</a:t>
            </a:fld>
            <a:endParaRPr lang="en-US"/>
          </a:p>
        </p:txBody>
      </p:sp>
      <p:sp>
        <p:nvSpPr>
          <p:cNvPr id="26" name="Rounded Rectangle 25"/>
          <p:cNvSpPr/>
          <p:nvPr/>
        </p:nvSpPr>
        <p:spPr>
          <a:xfrm>
            <a:off x="457200" y="1051560"/>
            <a:ext cx="2331720" cy="1417320"/>
          </a:xfrm>
          <a:prstGeom prst="roundRect">
            <a:avLst>
              <a:gd name="adj" fmla="val 6000"/>
            </a:avLst>
          </a:prstGeom>
          <a:solidFill>
            <a:srgbClr val="E3F2F1"/>
          </a:solidFill>
          <a:ln w="9525">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t"/>
          <a:lstStyle/>
          <a:p>
            <a:pPr algn="ctr"/>
          </a:p>
        </p:txBody>
      </p:sp>
      <p:sp>
        <p:nvSpPr>
          <p:cNvPr id="27" name="TextBox 26"/>
          <p:cNvSpPr txBox="1"/>
          <p:nvPr/>
        </p:nvSpPr>
        <p:spPr>
          <a:xfrm>
            <a:off x="594360" y="1143000"/>
            <a:ext cx="2103120" cy="274320"/>
          </a:xfrm>
          <a:prstGeom prst="rect">
            <a:avLst/>
          </a:prstGeom>
          <a:noFill/>
        </p:spPr>
        <p:txBody>
          <a:bodyPr wrap="square" lIns="0" rIns="0" tIns="0" bIns="0" anchor="t">
            <a:spAutoFit/>
          </a:bodyPr>
          <a:lstStyle/>
          <a:p>
            <a:pPr algn="l"/>
            <a:r>
              <a:rPr sz="1300" b="1">
                <a:solidFill>
                  <a:srgbClr val="1B2432"/>
                </a:solidFill>
              </a:rPr>
              <a:t>order-service</a:t>
            </a:r>
          </a:p>
        </p:txBody>
      </p:sp>
      <p:sp>
        <p:nvSpPr>
          <p:cNvPr id="28" name="TextBox 27"/>
          <p:cNvSpPr txBox="1"/>
          <p:nvPr/>
        </p:nvSpPr>
        <p:spPr>
          <a:xfrm>
            <a:off x="594360" y="1399032"/>
            <a:ext cx="2103120" cy="228600"/>
          </a:xfrm>
          <a:prstGeom prst="rect">
            <a:avLst/>
          </a:prstGeom>
          <a:noFill/>
        </p:spPr>
        <p:txBody>
          <a:bodyPr wrap="square" lIns="0" rIns="0" tIns="0" bIns="0" anchor="t">
            <a:spAutoFit/>
          </a:bodyPr>
          <a:lstStyle/>
          <a:p>
            <a:pPr algn="l"/>
            <a:r>
              <a:rPr sz="1000" b="1">
                <a:solidFill>
                  <a:srgbClr val="0E7C7B"/>
                </a:solidFill>
              </a:rPr>
              <a:t>INITIATOR (TM)</a:t>
            </a:r>
          </a:p>
        </p:txBody>
      </p:sp>
      <p:sp>
        <p:nvSpPr>
          <p:cNvPr id="29" name="Annotation @GlobalTransactional"/>
          <p:cNvSpPr/>
          <p:nvPr/>
        </p:nvSpPr>
        <p:spPr>
          <a:xfrm>
            <a:off x="594360" y="1719072"/>
            <a:ext cx="2057400" cy="246888"/>
          </a:xfrm>
          <a:prstGeom prst="roundRect">
            <a:avLst>
              <a:gd name="adj" fmla="val 30000"/>
            </a:avLst>
          </a:prstGeom>
          <a:solidFill>
            <a:srgbClr val="1B2432"/>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a:lstStyle/>
          <a:p>
            <a:pPr algn="ctr"/>
            <a:r>
              <a:rPr sz="1000" b="1">
                <a:solidFill>
                  <a:srgbClr val="FFFFFF"/>
                </a:solidFill>
                <a:latin typeface="Courier New"/>
              </a:rPr>
              <a:t>@GlobalTransactional</a:t>
            </a:r>
          </a:p>
        </p:txBody>
      </p:sp>
      <p:sp>
        <p:nvSpPr>
          <p:cNvPr id="30" name="Annotation FeignXidConfig"/>
          <p:cNvSpPr/>
          <p:nvPr/>
        </p:nvSpPr>
        <p:spPr>
          <a:xfrm>
            <a:off x="594360" y="2057400"/>
            <a:ext cx="2057400" cy="246888"/>
          </a:xfrm>
          <a:prstGeom prst="roundRect">
            <a:avLst>
              <a:gd name="adj" fmla="val 30000"/>
            </a:avLst>
          </a:prstGeom>
          <a:solidFill>
            <a:srgbClr val="1B2432"/>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a:lstStyle/>
          <a:p>
            <a:pPr algn="ctr"/>
            <a:r>
              <a:rPr sz="1000" b="1">
                <a:solidFill>
                  <a:srgbClr val="FFFFFF"/>
                </a:solidFill>
                <a:latin typeface="Courier New"/>
              </a:rPr>
              <a:t>FeignXidConfig</a:t>
            </a:r>
          </a:p>
        </p:txBody>
      </p:sp>
      <p:sp>
        <p:nvSpPr>
          <p:cNvPr id="31" name="Rounded Rectangle 30"/>
          <p:cNvSpPr/>
          <p:nvPr/>
        </p:nvSpPr>
        <p:spPr>
          <a:xfrm>
            <a:off x="457200" y="2724912"/>
            <a:ext cx="2331720" cy="457200"/>
          </a:xfrm>
          <a:prstGeom prst="roundRect">
            <a:avLst>
              <a:gd name="adj" fmla="val 6000"/>
            </a:avLst>
          </a:prstGeom>
          <a:solidFill>
            <a:srgbClr val="F3F6F8"/>
          </a:solidFill>
          <a:ln w="9525">
            <a:solidFill>
              <a:srgbClr val="D5DC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1B2432"/>
                </a:solidFill>
              </a:rPr>
              <a:t>order_db</a:t>
            </a:r>
            <a:r>
              <a:rPr sz="1100" b="0">
                <a:solidFill>
                  <a:srgbClr val="3D4A5C"/>
                </a:solidFill>
              </a:rPr>
              <a:t>  orders + undo_log</a:t>
            </a:r>
          </a:p>
        </p:txBody>
      </p:sp>
      <p:cxnSp>
        <p:nvCxnSpPr>
          <p:cNvPr id="32" name="Connector 31"/>
          <p:cNvCxnSpPr/>
          <p:nvPr/>
        </p:nvCxnSpPr>
        <p:spPr>
          <a:xfrm>
            <a:off x="1623060" y="2468880"/>
            <a:ext cx="0" cy="256032"/>
          </a:xfrm>
          <a:prstGeom prst="line">
            <a:avLst/>
          </a:prstGeom>
          <a:ln w="15875">
            <a:solidFill>
              <a:srgbClr val="3D4A5C"/>
            </a:solidFill>
            <a:tailEnd type="triangle"/>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3703320" y="914400"/>
            <a:ext cx="2514600" cy="914400"/>
          </a:xfrm>
          <a:prstGeom prst="roundRect">
            <a:avLst>
              <a:gd name="adj" fmla="val 6000"/>
            </a:avLst>
          </a:prstGeom>
          <a:solidFill>
            <a:srgbClr val="FDF3E2"/>
          </a:solidFill>
          <a:ln w="9525">
            <a:solidFill>
              <a:srgbClr val="D98E1F"/>
            </a:solidFill>
          </a:ln>
          <a:effectLst/>
        </p:spPr>
        <p:style>
          <a:lnRef idx="1">
            <a:schemeClr val="accent1"/>
          </a:lnRef>
          <a:fillRef idx="3">
            <a:schemeClr val="accent1"/>
          </a:fillRef>
          <a:effectRef idx="2">
            <a:schemeClr val="accent1"/>
          </a:effectRef>
          <a:fontRef idx="minor">
            <a:schemeClr val="lt1"/>
          </a:fontRef>
        </p:style>
        <p:txBody>
          <a:bodyPr rtlCol="0" anchor="t"/>
          <a:lstStyle/>
          <a:p>
            <a:pPr algn="ctr"/>
          </a:p>
        </p:txBody>
      </p:sp>
      <p:sp>
        <p:nvSpPr>
          <p:cNvPr id="34" name="TextBox 33"/>
          <p:cNvSpPr txBox="1"/>
          <p:nvPr/>
        </p:nvSpPr>
        <p:spPr>
          <a:xfrm>
            <a:off x="3840480" y="987552"/>
            <a:ext cx="2286000" cy="256032"/>
          </a:xfrm>
          <a:prstGeom prst="rect">
            <a:avLst/>
          </a:prstGeom>
          <a:noFill/>
        </p:spPr>
        <p:txBody>
          <a:bodyPr wrap="square" lIns="0" rIns="0" tIns="0" bIns="0" anchor="t">
            <a:spAutoFit/>
          </a:bodyPr>
          <a:lstStyle/>
          <a:p>
            <a:pPr algn="l"/>
            <a:r>
              <a:rPr sz="1200" b="1">
                <a:solidFill>
                  <a:srgbClr val="1B2432"/>
                </a:solidFill>
              </a:rPr>
              <a:t>inventory-service</a:t>
            </a:r>
            <a:r>
              <a:rPr sz="1000" b="1">
                <a:solidFill>
                  <a:srgbClr val="D98E1F"/>
                </a:solidFill>
              </a:rPr>
              <a:t>  RM</a:t>
            </a:r>
          </a:p>
        </p:txBody>
      </p:sp>
      <p:sp>
        <p:nvSpPr>
          <p:cNvPr id="35" name="Annotation @Transactional"/>
          <p:cNvSpPr/>
          <p:nvPr/>
        </p:nvSpPr>
        <p:spPr>
          <a:xfrm>
            <a:off x="3840480" y="1261872"/>
            <a:ext cx="1234440" cy="246888"/>
          </a:xfrm>
          <a:prstGeom prst="roundRect">
            <a:avLst>
              <a:gd name="adj" fmla="val 30000"/>
            </a:avLst>
          </a:prstGeom>
          <a:solidFill>
            <a:srgbClr val="1B2432"/>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a:lstStyle/>
          <a:p>
            <a:pPr algn="ctr"/>
            <a:r>
              <a:rPr sz="1000" b="1">
                <a:solidFill>
                  <a:srgbClr val="FFFFFF"/>
                </a:solidFill>
                <a:latin typeface="Courier New"/>
              </a:rPr>
              <a:t>@Transactional</a:t>
            </a:r>
          </a:p>
        </p:txBody>
      </p:sp>
      <p:sp>
        <p:nvSpPr>
          <p:cNvPr id="36" name="TextBox 35"/>
          <p:cNvSpPr txBox="1"/>
          <p:nvPr/>
        </p:nvSpPr>
        <p:spPr>
          <a:xfrm>
            <a:off x="5230368" y="1280160"/>
            <a:ext cx="914400" cy="228600"/>
          </a:xfrm>
          <a:prstGeom prst="rect">
            <a:avLst/>
          </a:prstGeom>
          <a:noFill/>
        </p:spPr>
        <p:txBody>
          <a:bodyPr wrap="square" lIns="0" rIns="0" tIns="0" bIns="0" anchor="t">
            <a:spAutoFit/>
          </a:bodyPr>
          <a:lstStyle/>
          <a:p>
            <a:pPr algn="l"/>
            <a:r>
              <a:rPr sz="1000" b="0">
                <a:solidFill>
                  <a:srgbClr val="7A8699"/>
                </a:solidFill>
                <a:latin typeface="Courier New"/>
              </a:rPr>
              <a:t>deduct()</a:t>
            </a:r>
          </a:p>
        </p:txBody>
      </p:sp>
      <p:sp>
        <p:nvSpPr>
          <p:cNvPr id="37" name="Annotation SeataXidConfig"/>
          <p:cNvSpPr/>
          <p:nvPr/>
        </p:nvSpPr>
        <p:spPr>
          <a:xfrm>
            <a:off x="3840480" y="1536192"/>
            <a:ext cx="1417320" cy="246888"/>
          </a:xfrm>
          <a:prstGeom prst="roundRect">
            <a:avLst>
              <a:gd name="adj" fmla="val 30000"/>
            </a:avLst>
          </a:prstGeom>
          <a:solidFill>
            <a:srgbClr val="1B2432"/>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a:lstStyle/>
          <a:p>
            <a:pPr algn="ctr"/>
            <a:r>
              <a:rPr sz="1000" b="1">
                <a:solidFill>
                  <a:srgbClr val="FFFFFF"/>
                </a:solidFill>
                <a:latin typeface="Courier New"/>
              </a:rPr>
              <a:t>SeataXidConfig</a:t>
            </a:r>
          </a:p>
        </p:txBody>
      </p:sp>
      <p:sp>
        <p:nvSpPr>
          <p:cNvPr id="38" name="Rounded Rectangle 37"/>
          <p:cNvSpPr/>
          <p:nvPr/>
        </p:nvSpPr>
        <p:spPr>
          <a:xfrm>
            <a:off x="6537960" y="1097280"/>
            <a:ext cx="2148840" cy="548640"/>
          </a:xfrm>
          <a:prstGeom prst="roundRect">
            <a:avLst>
              <a:gd name="adj" fmla="val 6000"/>
            </a:avLst>
          </a:prstGeom>
          <a:solidFill>
            <a:srgbClr val="F3F6F8"/>
          </a:solidFill>
          <a:ln w="9525">
            <a:solidFill>
              <a:srgbClr val="D5DC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1B2432"/>
                </a:solidFill>
              </a:rPr>
              <a:t>inventory_db</a:t>
            </a:r>
          </a:p>
          <a:p>
            <a:pPr algn="l"/>
            <a:r>
              <a:rPr sz="1000" b="0">
                <a:solidFill>
                  <a:srgbClr val="3D4A5C"/>
                </a:solidFill>
              </a:rPr>
              <a:t>product_stock + undo_log</a:t>
            </a:r>
          </a:p>
        </p:txBody>
      </p:sp>
      <p:cxnSp>
        <p:nvCxnSpPr>
          <p:cNvPr id="39" name="Connector 38"/>
          <p:cNvCxnSpPr/>
          <p:nvPr/>
        </p:nvCxnSpPr>
        <p:spPr>
          <a:xfrm>
            <a:off x="6217920" y="1371600"/>
            <a:ext cx="320040" cy="0"/>
          </a:xfrm>
          <a:prstGeom prst="line">
            <a:avLst/>
          </a:prstGeom>
          <a:ln w="15875">
            <a:solidFill>
              <a:srgbClr val="3D4A5C"/>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3703320" y="2011680"/>
            <a:ext cx="2514600" cy="914400"/>
          </a:xfrm>
          <a:prstGeom prst="roundRect">
            <a:avLst>
              <a:gd name="adj" fmla="val 6000"/>
            </a:avLst>
          </a:prstGeom>
          <a:solidFill>
            <a:srgbClr val="FDF3E2"/>
          </a:solidFill>
          <a:ln w="9525">
            <a:solidFill>
              <a:srgbClr val="D98E1F"/>
            </a:solidFill>
          </a:ln>
          <a:effectLst/>
        </p:spPr>
        <p:style>
          <a:lnRef idx="1">
            <a:schemeClr val="accent1"/>
          </a:lnRef>
          <a:fillRef idx="3">
            <a:schemeClr val="accent1"/>
          </a:fillRef>
          <a:effectRef idx="2">
            <a:schemeClr val="accent1"/>
          </a:effectRef>
          <a:fontRef idx="minor">
            <a:schemeClr val="lt1"/>
          </a:fontRef>
        </p:style>
        <p:txBody>
          <a:bodyPr rtlCol="0" anchor="t"/>
          <a:lstStyle/>
          <a:p>
            <a:pPr algn="ctr"/>
          </a:p>
        </p:txBody>
      </p:sp>
      <p:sp>
        <p:nvSpPr>
          <p:cNvPr id="41" name="TextBox 40"/>
          <p:cNvSpPr txBox="1"/>
          <p:nvPr/>
        </p:nvSpPr>
        <p:spPr>
          <a:xfrm>
            <a:off x="3840480" y="2084832"/>
            <a:ext cx="2286000" cy="256032"/>
          </a:xfrm>
          <a:prstGeom prst="rect">
            <a:avLst/>
          </a:prstGeom>
          <a:noFill/>
        </p:spPr>
        <p:txBody>
          <a:bodyPr wrap="square" lIns="0" rIns="0" tIns="0" bIns="0" anchor="t">
            <a:spAutoFit/>
          </a:bodyPr>
          <a:lstStyle/>
          <a:p>
            <a:pPr algn="l"/>
            <a:r>
              <a:rPr sz="1200" b="1">
                <a:solidFill>
                  <a:srgbClr val="1B2432"/>
                </a:solidFill>
              </a:rPr>
              <a:t>payment-service</a:t>
            </a:r>
            <a:r>
              <a:rPr sz="1000" b="1">
                <a:solidFill>
                  <a:srgbClr val="D98E1F"/>
                </a:solidFill>
              </a:rPr>
              <a:t>  RM</a:t>
            </a:r>
          </a:p>
        </p:txBody>
      </p:sp>
      <p:sp>
        <p:nvSpPr>
          <p:cNvPr id="42" name="Annotation @Transactional"/>
          <p:cNvSpPr/>
          <p:nvPr/>
        </p:nvSpPr>
        <p:spPr>
          <a:xfrm>
            <a:off x="3840480" y="2359152"/>
            <a:ext cx="1234440" cy="246888"/>
          </a:xfrm>
          <a:prstGeom prst="roundRect">
            <a:avLst>
              <a:gd name="adj" fmla="val 30000"/>
            </a:avLst>
          </a:prstGeom>
          <a:solidFill>
            <a:srgbClr val="1B2432"/>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a:lstStyle/>
          <a:p>
            <a:pPr algn="ctr"/>
            <a:r>
              <a:rPr sz="1000" b="1">
                <a:solidFill>
                  <a:srgbClr val="FFFFFF"/>
                </a:solidFill>
                <a:latin typeface="Courier New"/>
              </a:rPr>
              <a:t>@Transactional</a:t>
            </a:r>
          </a:p>
        </p:txBody>
      </p:sp>
      <p:sp>
        <p:nvSpPr>
          <p:cNvPr id="43" name="TextBox 42"/>
          <p:cNvSpPr txBox="1"/>
          <p:nvPr/>
        </p:nvSpPr>
        <p:spPr>
          <a:xfrm>
            <a:off x="5230368" y="2377440"/>
            <a:ext cx="914400" cy="228600"/>
          </a:xfrm>
          <a:prstGeom prst="rect">
            <a:avLst/>
          </a:prstGeom>
          <a:noFill/>
        </p:spPr>
        <p:txBody>
          <a:bodyPr wrap="square" lIns="0" rIns="0" tIns="0" bIns="0" anchor="t">
            <a:spAutoFit/>
          </a:bodyPr>
          <a:lstStyle/>
          <a:p>
            <a:pPr algn="l"/>
            <a:r>
              <a:rPr sz="1000" b="0">
                <a:solidFill>
                  <a:srgbClr val="7A8699"/>
                </a:solidFill>
                <a:latin typeface="Courier New"/>
              </a:rPr>
              <a:t>charge()</a:t>
            </a:r>
          </a:p>
        </p:txBody>
      </p:sp>
      <p:sp>
        <p:nvSpPr>
          <p:cNvPr id="44" name="Annotation SeataXidConfig"/>
          <p:cNvSpPr/>
          <p:nvPr/>
        </p:nvSpPr>
        <p:spPr>
          <a:xfrm>
            <a:off x="3840480" y="2633472"/>
            <a:ext cx="1417320" cy="246888"/>
          </a:xfrm>
          <a:prstGeom prst="roundRect">
            <a:avLst>
              <a:gd name="adj" fmla="val 30000"/>
            </a:avLst>
          </a:prstGeom>
          <a:solidFill>
            <a:srgbClr val="1B2432"/>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a:lstStyle/>
          <a:p>
            <a:pPr algn="ctr"/>
            <a:r>
              <a:rPr sz="1000" b="1">
                <a:solidFill>
                  <a:srgbClr val="FFFFFF"/>
                </a:solidFill>
                <a:latin typeface="Courier New"/>
              </a:rPr>
              <a:t>SeataXidConfig</a:t>
            </a:r>
          </a:p>
        </p:txBody>
      </p:sp>
      <p:sp>
        <p:nvSpPr>
          <p:cNvPr id="45" name="Rounded Rectangle 44"/>
          <p:cNvSpPr/>
          <p:nvPr/>
        </p:nvSpPr>
        <p:spPr>
          <a:xfrm>
            <a:off x="6537960" y="2194560"/>
            <a:ext cx="2148840" cy="548640"/>
          </a:xfrm>
          <a:prstGeom prst="roundRect">
            <a:avLst>
              <a:gd name="adj" fmla="val 6000"/>
            </a:avLst>
          </a:prstGeom>
          <a:solidFill>
            <a:srgbClr val="F3F6F8"/>
          </a:solidFill>
          <a:ln w="9525">
            <a:solidFill>
              <a:srgbClr val="D5DCE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100" b="1">
                <a:solidFill>
                  <a:srgbClr val="1B2432"/>
                </a:solidFill>
              </a:rPr>
              <a:t>payment_db</a:t>
            </a:r>
          </a:p>
          <a:p>
            <a:pPr algn="l"/>
            <a:r>
              <a:rPr sz="1000" b="0">
                <a:solidFill>
                  <a:srgbClr val="3D4A5C"/>
                </a:solidFill>
              </a:rPr>
              <a:t>wallet + undo_log</a:t>
            </a:r>
          </a:p>
        </p:txBody>
      </p:sp>
      <p:cxnSp>
        <p:nvCxnSpPr>
          <p:cNvPr id="46" name="Connector 45"/>
          <p:cNvCxnSpPr/>
          <p:nvPr/>
        </p:nvCxnSpPr>
        <p:spPr>
          <a:xfrm>
            <a:off x="6217920" y="2468880"/>
            <a:ext cx="320040" cy="0"/>
          </a:xfrm>
          <a:prstGeom prst="line">
            <a:avLst/>
          </a:prstGeom>
          <a:ln w="15875">
            <a:solidFill>
              <a:srgbClr val="3D4A5C"/>
            </a:solidFill>
            <a:tailEnd type="triangle"/>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2788920" y="1371600"/>
            <a:ext cx="914400" cy="182880"/>
          </a:xfrm>
          <a:prstGeom prst="line">
            <a:avLst/>
          </a:prstGeom>
          <a:ln w="15875">
            <a:solidFill>
              <a:srgbClr val="3D4A5C"/>
            </a:solidFill>
            <a:tailEnd type="triangle"/>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2788920" y="1920240"/>
            <a:ext cx="914400" cy="548640"/>
          </a:xfrm>
          <a:prstGeom prst="line">
            <a:avLst/>
          </a:prstGeom>
          <a:ln w="15875">
            <a:solidFill>
              <a:srgbClr val="3D4A5C"/>
            </a:solidFill>
            <a:tailEnd type="triangle"/>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2834640" y="1783080"/>
            <a:ext cx="868680" cy="365760"/>
          </a:xfrm>
          <a:prstGeom prst="rect">
            <a:avLst/>
          </a:prstGeom>
          <a:noFill/>
        </p:spPr>
        <p:txBody>
          <a:bodyPr wrap="square" lIns="0" rIns="0" tIns="0" bIns="0" anchor="t">
            <a:spAutoFit/>
          </a:bodyPr>
          <a:lstStyle/>
          <a:p>
            <a:pPr algn="ctr"/>
            <a:r>
              <a:rPr sz="1000" b="1">
                <a:solidFill>
                  <a:srgbClr val="4F4FC4"/>
                </a:solidFill>
              </a:rPr>
              <a:t>Feign +</a:t>
            </a:r>
          </a:p>
          <a:p>
            <a:pPr algn="ctr"/>
            <a:r>
              <a:rPr sz="1000" b="1">
                <a:solidFill>
                  <a:srgbClr val="4F4FC4"/>
                </a:solidFill>
                <a:latin typeface="Courier New"/>
              </a:rPr>
              <a:t>TX_XID</a:t>
            </a:r>
          </a:p>
        </p:txBody>
      </p:sp>
      <p:sp>
        <p:nvSpPr>
          <p:cNvPr id="50" name="Rounded Rectangle 49"/>
          <p:cNvSpPr/>
          <p:nvPr/>
        </p:nvSpPr>
        <p:spPr>
          <a:xfrm>
            <a:off x="457200" y="3456432"/>
            <a:ext cx="4023360" cy="1133856"/>
          </a:xfrm>
          <a:prstGeom prst="roundRect">
            <a:avLst>
              <a:gd name="adj" fmla="val 6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400" b="1">
                <a:solidFill>
                  <a:srgbClr val="2E8B57"/>
                </a:solidFill>
              </a:rPr>
              <a:t>P-100, 1,000 Tk: all succeed</a:t>
            </a:r>
          </a:p>
          <a:p>
            <a:pPr algn="l"/>
            <a:r>
              <a:rPr sz="1250" b="0">
                <a:solidFill>
                  <a:srgbClr val="3D4A5C"/>
                </a:solidFill>
              </a:rPr>
              <a:t>TC commits all 3 branches. Stock 10 to 9, wallet 5,000 to 4,000, order CONFIRMED. undo_log rows are deleted.</a:t>
            </a:r>
          </a:p>
        </p:txBody>
      </p:sp>
      <p:sp>
        <p:nvSpPr>
          <p:cNvPr id="51" name="Rounded Rectangle 50"/>
          <p:cNvSpPr/>
          <p:nvPr/>
        </p:nvSpPr>
        <p:spPr>
          <a:xfrm>
            <a:off x="4663440" y="3456432"/>
            <a:ext cx="4023360" cy="1133856"/>
          </a:xfrm>
          <a:prstGeom prst="roundRect">
            <a:avLst>
              <a:gd name="adj" fmla="val 6000"/>
            </a:avLst>
          </a:prstGeom>
          <a:solidFill>
            <a:srgbClr val="FBE9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400" b="1">
                <a:solidFill>
                  <a:srgbClr val="D1495B"/>
                </a:solidFill>
              </a:rPr>
              <a:t>P-200, 10,000 Tk: payment fails</a:t>
            </a:r>
          </a:p>
          <a:p>
            <a:pPr algn="l"/>
            <a:r>
              <a:rPr sz="1250" b="0">
                <a:solidFill>
                  <a:srgbClr val="3D4A5C"/>
                </a:solidFill>
              </a:rPr>
              <a:t>The error leaves @GlobalTransactional. TC rolls back: stock 9 back to 10, PENDING order deleted. Wallet never changed.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a:xfrm>
            <a:off x="457200" y="256032"/>
            <a:ext cx="6903720" cy="640080"/>
          </a:xfrm>
        </p:spPr>
        <p:txBody>
          <a:bodyPr wrap="square" lIns="0" tIns="0" rIns="0" bIns="0" rtlCol="0" anchor="ctr"/>
          <a:lstStyle/>
          <a:p>
            <a:pPr algn="l" indent="0" marL="0">
              <a:buNone/>
            </a:pPr>
            <a:r>
              <a:rPr lang="en-US" sz="2400" b="1" dirty="0">
                <a:solidFill>
                  <a:schemeClr val="tx1"/>
                </a:solidFill>
              </a:rPr>
              <a:t>Chain calls: Order → Inventory → Payment</a:t>
            </a:r>
            <a:endParaRPr lang="en-US" sz="2400" dirty="0"/>
          </a:p>
        </p:txBody>
      </p:sp>
      <p:sp>
        <p:nvSpPr>
          <p:cNvPr id="3" name="AT mode badge"/>
          <p:cNvSpPr/>
          <p:nvPr/>
        </p:nvSpPr>
        <p:spPr>
          <a:xfrm>
            <a:off x="7498079" y="402336"/>
            <a:ext cx="1188720" cy="347472"/>
          </a:xfrm>
          <a:prstGeom prst="roundRect">
            <a:avLst>
              <a:gd name="adj" fmla="val 50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200" b="1">
                <a:solidFill>
                  <a:srgbClr val="FFFFFF"/>
                </a:solidFill>
              </a:rPr>
              <a:t>AT MODE</a:t>
            </a:r>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12</a:t>
            </a:fld>
            <a:endParaRPr lang="en-US"/>
          </a:p>
        </p:txBody>
      </p:sp>
      <p:sp>
        <p:nvSpPr>
          <p:cNvPr id="26" name="Rounded Rectangle 25"/>
          <p:cNvSpPr/>
          <p:nvPr/>
        </p:nvSpPr>
        <p:spPr>
          <a:xfrm>
            <a:off x="457200" y="1005840"/>
            <a:ext cx="2377440" cy="1572768"/>
          </a:xfrm>
          <a:prstGeom prst="roundRect">
            <a:avLst>
              <a:gd name="adj" fmla="val 6000"/>
            </a:avLst>
          </a:prstGeom>
          <a:solidFill>
            <a:srgbClr val="E3F2F1"/>
          </a:solidFill>
          <a:ln w="9525">
            <a:solidFill>
              <a:srgbClr val="0E7C7B"/>
            </a:solidFill>
          </a:ln>
          <a:effectLst/>
        </p:spPr>
        <p:style>
          <a:lnRef idx="1">
            <a:schemeClr val="accent1"/>
          </a:lnRef>
          <a:fillRef idx="3">
            <a:schemeClr val="accent1"/>
          </a:fillRef>
          <a:effectRef idx="2">
            <a:schemeClr val="accent1"/>
          </a:effectRef>
          <a:fontRef idx="minor">
            <a:schemeClr val="lt1"/>
          </a:fontRef>
        </p:style>
        <p:txBody>
          <a:bodyPr rtlCol="0" anchor="t"/>
          <a:lstStyle/>
          <a:p>
            <a:pPr algn="ctr"/>
          </a:p>
        </p:txBody>
      </p:sp>
      <p:sp>
        <p:nvSpPr>
          <p:cNvPr id="27" name="TextBox 26"/>
          <p:cNvSpPr txBox="1"/>
          <p:nvPr/>
        </p:nvSpPr>
        <p:spPr>
          <a:xfrm>
            <a:off x="594360" y="1078992"/>
            <a:ext cx="2148840" cy="256032"/>
          </a:xfrm>
          <a:prstGeom prst="rect">
            <a:avLst/>
          </a:prstGeom>
          <a:noFill/>
        </p:spPr>
        <p:txBody>
          <a:bodyPr wrap="square" lIns="0" rIns="0" tIns="0" bIns="0" anchor="t">
            <a:spAutoFit/>
          </a:bodyPr>
          <a:lstStyle/>
          <a:p>
            <a:pPr algn="l"/>
            <a:r>
              <a:rPr sz="1300" b="1">
                <a:solidFill>
                  <a:srgbClr val="1B2432"/>
                </a:solidFill>
              </a:rPr>
              <a:t>order-service</a:t>
            </a:r>
          </a:p>
        </p:txBody>
      </p:sp>
      <p:sp>
        <p:nvSpPr>
          <p:cNvPr id="28" name="TextBox 27"/>
          <p:cNvSpPr txBox="1"/>
          <p:nvPr/>
        </p:nvSpPr>
        <p:spPr>
          <a:xfrm>
            <a:off x="594360" y="1325880"/>
            <a:ext cx="2148840" cy="228600"/>
          </a:xfrm>
          <a:prstGeom prst="rect">
            <a:avLst/>
          </a:prstGeom>
          <a:noFill/>
        </p:spPr>
        <p:txBody>
          <a:bodyPr wrap="square" lIns="0" rIns="0" tIns="0" bIns="0" anchor="t">
            <a:spAutoFit/>
          </a:bodyPr>
          <a:lstStyle/>
          <a:p>
            <a:pPr algn="l"/>
            <a:r>
              <a:rPr sz="1000" b="1">
                <a:solidFill>
                  <a:srgbClr val="0E7C7B"/>
                </a:solidFill>
              </a:rPr>
              <a:t>INITIATOR (TM)</a:t>
            </a:r>
          </a:p>
        </p:txBody>
      </p:sp>
      <p:sp>
        <p:nvSpPr>
          <p:cNvPr id="29" name="Annotation @GlobalTransactional"/>
          <p:cNvSpPr/>
          <p:nvPr/>
        </p:nvSpPr>
        <p:spPr>
          <a:xfrm>
            <a:off x="594360" y="1609344"/>
            <a:ext cx="2011680" cy="246888"/>
          </a:xfrm>
          <a:prstGeom prst="roundRect">
            <a:avLst>
              <a:gd name="adj" fmla="val 30000"/>
            </a:avLst>
          </a:prstGeom>
          <a:solidFill>
            <a:srgbClr val="1B2432"/>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a:lstStyle/>
          <a:p>
            <a:pPr algn="ctr"/>
            <a:r>
              <a:rPr sz="1000" b="1">
                <a:solidFill>
                  <a:srgbClr val="FFFFFF"/>
                </a:solidFill>
                <a:latin typeface="Courier New"/>
              </a:rPr>
              <a:t>@GlobalTransactional</a:t>
            </a:r>
          </a:p>
        </p:txBody>
      </p:sp>
      <p:sp>
        <p:nvSpPr>
          <p:cNvPr id="30" name="Annotation FeignXidConfig"/>
          <p:cNvSpPr/>
          <p:nvPr/>
        </p:nvSpPr>
        <p:spPr>
          <a:xfrm>
            <a:off x="594360" y="1911095"/>
            <a:ext cx="2011680" cy="246888"/>
          </a:xfrm>
          <a:prstGeom prst="roundRect">
            <a:avLst>
              <a:gd name="adj" fmla="val 30000"/>
            </a:avLst>
          </a:prstGeom>
          <a:solidFill>
            <a:srgbClr val="1B2432"/>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a:lstStyle/>
          <a:p>
            <a:pPr algn="ctr"/>
            <a:r>
              <a:rPr sz="1000" b="1">
                <a:solidFill>
                  <a:srgbClr val="FFFFFF"/>
                </a:solidFill>
                <a:latin typeface="Courier New"/>
              </a:rPr>
              <a:t>FeignXidConfig</a:t>
            </a:r>
          </a:p>
        </p:txBody>
      </p:sp>
      <p:sp>
        <p:nvSpPr>
          <p:cNvPr id="31" name="Rounded Rectangle 30"/>
          <p:cNvSpPr/>
          <p:nvPr/>
        </p:nvSpPr>
        <p:spPr>
          <a:xfrm>
            <a:off x="3383280" y="1005840"/>
            <a:ext cx="2377440" cy="1572768"/>
          </a:xfrm>
          <a:prstGeom prst="roundRect">
            <a:avLst>
              <a:gd name="adj" fmla="val 6000"/>
            </a:avLst>
          </a:prstGeom>
          <a:solidFill>
            <a:srgbClr val="FDF3E2"/>
          </a:solidFill>
          <a:ln w="9525">
            <a:solidFill>
              <a:srgbClr val="D98E1F"/>
            </a:solidFill>
          </a:ln>
          <a:effectLst/>
        </p:spPr>
        <p:style>
          <a:lnRef idx="1">
            <a:schemeClr val="accent1"/>
          </a:lnRef>
          <a:fillRef idx="3">
            <a:schemeClr val="accent1"/>
          </a:fillRef>
          <a:effectRef idx="2">
            <a:schemeClr val="accent1"/>
          </a:effectRef>
          <a:fontRef idx="minor">
            <a:schemeClr val="lt1"/>
          </a:fontRef>
        </p:style>
        <p:txBody>
          <a:bodyPr rtlCol="0" anchor="t"/>
          <a:lstStyle/>
          <a:p>
            <a:pPr algn="ctr"/>
          </a:p>
        </p:txBody>
      </p:sp>
      <p:sp>
        <p:nvSpPr>
          <p:cNvPr id="32" name="TextBox 31"/>
          <p:cNvSpPr txBox="1"/>
          <p:nvPr/>
        </p:nvSpPr>
        <p:spPr>
          <a:xfrm>
            <a:off x="3520440" y="1078992"/>
            <a:ext cx="2148840" cy="256032"/>
          </a:xfrm>
          <a:prstGeom prst="rect">
            <a:avLst/>
          </a:prstGeom>
          <a:noFill/>
        </p:spPr>
        <p:txBody>
          <a:bodyPr wrap="square" lIns="0" rIns="0" tIns="0" bIns="0" anchor="t">
            <a:spAutoFit/>
          </a:bodyPr>
          <a:lstStyle/>
          <a:p>
            <a:pPr algn="l"/>
            <a:r>
              <a:rPr sz="1300" b="1">
                <a:solidFill>
                  <a:srgbClr val="1B2432"/>
                </a:solidFill>
              </a:rPr>
              <a:t>inventory-service</a:t>
            </a:r>
          </a:p>
        </p:txBody>
      </p:sp>
      <p:sp>
        <p:nvSpPr>
          <p:cNvPr id="33" name="TextBox 32"/>
          <p:cNvSpPr txBox="1"/>
          <p:nvPr/>
        </p:nvSpPr>
        <p:spPr>
          <a:xfrm>
            <a:off x="3520440" y="1325880"/>
            <a:ext cx="2148840" cy="228600"/>
          </a:xfrm>
          <a:prstGeom prst="rect">
            <a:avLst/>
          </a:prstGeom>
          <a:noFill/>
        </p:spPr>
        <p:txBody>
          <a:bodyPr wrap="square" lIns="0" rIns="0" tIns="0" bIns="0" anchor="t">
            <a:spAutoFit/>
          </a:bodyPr>
          <a:lstStyle/>
          <a:p>
            <a:pPr algn="l"/>
            <a:r>
              <a:rPr sz="1000" b="1">
                <a:solidFill>
                  <a:srgbClr val="D98E1F"/>
                </a:solidFill>
              </a:rPr>
              <a:t>MIDDLE: RM, receives + sends</a:t>
            </a:r>
          </a:p>
        </p:txBody>
      </p:sp>
      <p:sp>
        <p:nvSpPr>
          <p:cNvPr id="34" name="Annotation @Transactional"/>
          <p:cNvSpPr/>
          <p:nvPr/>
        </p:nvSpPr>
        <p:spPr>
          <a:xfrm>
            <a:off x="3520440" y="1609344"/>
            <a:ext cx="2011680" cy="246888"/>
          </a:xfrm>
          <a:prstGeom prst="roundRect">
            <a:avLst>
              <a:gd name="adj" fmla="val 30000"/>
            </a:avLst>
          </a:prstGeom>
          <a:solidFill>
            <a:srgbClr val="1B2432"/>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a:lstStyle/>
          <a:p>
            <a:pPr algn="ctr"/>
            <a:r>
              <a:rPr sz="1000" b="1">
                <a:solidFill>
                  <a:srgbClr val="FFFFFF"/>
                </a:solidFill>
                <a:latin typeface="Courier New"/>
              </a:rPr>
              <a:t>@Transactional</a:t>
            </a:r>
          </a:p>
        </p:txBody>
      </p:sp>
      <p:sp>
        <p:nvSpPr>
          <p:cNvPr id="35" name="Annotation SeataXidConfig"/>
          <p:cNvSpPr/>
          <p:nvPr/>
        </p:nvSpPr>
        <p:spPr>
          <a:xfrm>
            <a:off x="3520440" y="1911095"/>
            <a:ext cx="2011680" cy="246888"/>
          </a:xfrm>
          <a:prstGeom prst="roundRect">
            <a:avLst>
              <a:gd name="adj" fmla="val 30000"/>
            </a:avLst>
          </a:prstGeom>
          <a:solidFill>
            <a:srgbClr val="1B2432"/>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a:lstStyle/>
          <a:p>
            <a:pPr algn="ctr"/>
            <a:r>
              <a:rPr sz="1000" b="1">
                <a:solidFill>
                  <a:srgbClr val="FFFFFF"/>
                </a:solidFill>
                <a:latin typeface="Courier New"/>
              </a:rPr>
              <a:t>SeataXidConfig</a:t>
            </a:r>
          </a:p>
        </p:txBody>
      </p:sp>
      <p:sp>
        <p:nvSpPr>
          <p:cNvPr id="36" name="Annotation FeignXidConfig"/>
          <p:cNvSpPr/>
          <p:nvPr/>
        </p:nvSpPr>
        <p:spPr>
          <a:xfrm>
            <a:off x="3520440" y="2212848"/>
            <a:ext cx="2011680" cy="246888"/>
          </a:xfrm>
          <a:prstGeom prst="roundRect">
            <a:avLst>
              <a:gd name="adj" fmla="val 30000"/>
            </a:avLst>
          </a:prstGeom>
          <a:solidFill>
            <a:srgbClr val="1B2432"/>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a:lstStyle/>
          <a:p>
            <a:pPr algn="ctr"/>
            <a:r>
              <a:rPr sz="1000" b="1">
                <a:solidFill>
                  <a:srgbClr val="FFFFFF"/>
                </a:solidFill>
                <a:latin typeface="Courier New"/>
              </a:rPr>
              <a:t>FeignXidConfig</a:t>
            </a:r>
          </a:p>
        </p:txBody>
      </p:sp>
      <p:sp>
        <p:nvSpPr>
          <p:cNvPr id="37" name="Rounded Rectangle 36"/>
          <p:cNvSpPr/>
          <p:nvPr/>
        </p:nvSpPr>
        <p:spPr>
          <a:xfrm>
            <a:off x="6309360" y="1005840"/>
            <a:ext cx="2377440" cy="1572768"/>
          </a:xfrm>
          <a:prstGeom prst="roundRect">
            <a:avLst>
              <a:gd name="adj" fmla="val 6000"/>
            </a:avLst>
          </a:prstGeom>
          <a:solidFill>
            <a:srgbClr val="FDF3E2"/>
          </a:solidFill>
          <a:ln w="9525">
            <a:solidFill>
              <a:srgbClr val="D98E1F"/>
            </a:solidFill>
          </a:ln>
          <a:effectLst/>
        </p:spPr>
        <p:style>
          <a:lnRef idx="1">
            <a:schemeClr val="accent1"/>
          </a:lnRef>
          <a:fillRef idx="3">
            <a:schemeClr val="accent1"/>
          </a:fillRef>
          <a:effectRef idx="2">
            <a:schemeClr val="accent1"/>
          </a:effectRef>
          <a:fontRef idx="minor">
            <a:schemeClr val="lt1"/>
          </a:fontRef>
        </p:style>
        <p:txBody>
          <a:bodyPr rtlCol="0" anchor="t"/>
          <a:lstStyle/>
          <a:p>
            <a:pPr algn="ctr"/>
          </a:p>
        </p:txBody>
      </p:sp>
      <p:sp>
        <p:nvSpPr>
          <p:cNvPr id="38" name="TextBox 37"/>
          <p:cNvSpPr txBox="1"/>
          <p:nvPr/>
        </p:nvSpPr>
        <p:spPr>
          <a:xfrm>
            <a:off x="6446520" y="1078992"/>
            <a:ext cx="2148840" cy="256032"/>
          </a:xfrm>
          <a:prstGeom prst="rect">
            <a:avLst/>
          </a:prstGeom>
          <a:noFill/>
        </p:spPr>
        <p:txBody>
          <a:bodyPr wrap="square" lIns="0" rIns="0" tIns="0" bIns="0" anchor="t">
            <a:spAutoFit/>
          </a:bodyPr>
          <a:lstStyle/>
          <a:p>
            <a:pPr algn="l"/>
            <a:r>
              <a:rPr sz="1300" b="1">
                <a:solidFill>
                  <a:srgbClr val="1B2432"/>
                </a:solidFill>
              </a:rPr>
              <a:t>payment-service</a:t>
            </a:r>
          </a:p>
        </p:txBody>
      </p:sp>
      <p:sp>
        <p:nvSpPr>
          <p:cNvPr id="39" name="TextBox 38"/>
          <p:cNvSpPr txBox="1"/>
          <p:nvPr/>
        </p:nvSpPr>
        <p:spPr>
          <a:xfrm>
            <a:off x="6446520" y="1325880"/>
            <a:ext cx="2148840" cy="228600"/>
          </a:xfrm>
          <a:prstGeom prst="rect">
            <a:avLst/>
          </a:prstGeom>
          <a:noFill/>
        </p:spPr>
        <p:txBody>
          <a:bodyPr wrap="square" lIns="0" rIns="0" tIns="0" bIns="0" anchor="t">
            <a:spAutoFit/>
          </a:bodyPr>
          <a:lstStyle/>
          <a:p>
            <a:pPr algn="l"/>
            <a:r>
              <a:rPr sz="1000" b="1">
                <a:solidFill>
                  <a:srgbClr val="D98E1F"/>
                </a:solidFill>
              </a:rPr>
              <a:t>RM: participant</a:t>
            </a:r>
          </a:p>
        </p:txBody>
      </p:sp>
      <p:sp>
        <p:nvSpPr>
          <p:cNvPr id="40" name="Annotation @Transactional"/>
          <p:cNvSpPr/>
          <p:nvPr/>
        </p:nvSpPr>
        <p:spPr>
          <a:xfrm>
            <a:off x="6446520" y="1609344"/>
            <a:ext cx="2011680" cy="246888"/>
          </a:xfrm>
          <a:prstGeom prst="roundRect">
            <a:avLst>
              <a:gd name="adj" fmla="val 30000"/>
            </a:avLst>
          </a:prstGeom>
          <a:solidFill>
            <a:srgbClr val="1B2432"/>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a:lstStyle/>
          <a:p>
            <a:pPr algn="ctr"/>
            <a:r>
              <a:rPr sz="1000" b="1">
                <a:solidFill>
                  <a:srgbClr val="FFFFFF"/>
                </a:solidFill>
                <a:latin typeface="Courier New"/>
              </a:rPr>
              <a:t>@Transactional</a:t>
            </a:r>
          </a:p>
        </p:txBody>
      </p:sp>
      <p:sp>
        <p:nvSpPr>
          <p:cNvPr id="41" name="Annotation SeataXidConfig"/>
          <p:cNvSpPr/>
          <p:nvPr/>
        </p:nvSpPr>
        <p:spPr>
          <a:xfrm>
            <a:off x="6446520" y="1911095"/>
            <a:ext cx="2011680" cy="246888"/>
          </a:xfrm>
          <a:prstGeom prst="roundRect">
            <a:avLst>
              <a:gd name="adj" fmla="val 30000"/>
            </a:avLst>
          </a:prstGeom>
          <a:solidFill>
            <a:srgbClr val="1B2432"/>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a:lstStyle/>
          <a:p>
            <a:pPr algn="ctr"/>
            <a:r>
              <a:rPr sz="1000" b="1">
                <a:solidFill>
                  <a:srgbClr val="FFFFFF"/>
                </a:solidFill>
                <a:latin typeface="Courier New"/>
              </a:rPr>
              <a:t>SeataXidConfig</a:t>
            </a:r>
          </a:p>
        </p:txBody>
      </p:sp>
      <p:cxnSp>
        <p:nvCxnSpPr>
          <p:cNvPr id="42" name="Connector 41"/>
          <p:cNvCxnSpPr/>
          <p:nvPr/>
        </p:nvCxnSpPr>
        <p:spPr>
          <a:xfrm>
            <a:off x="2852928" y="1792224"/>
            <a:ext cx="512064" cy="0"/>
          </a:xfrm>
          <a:prstGeom prst="line">
            <a:avLst/>
          </a:prstGeom>
          <a:ln w="15875">
            <a:solidFill>
              <a:srgbClr val="3D4A5C"/>
            </a:solidFill>
            <a:tailEnd type="triangle"/>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2834640" y="1481328"/>
            <a:ext cx="548640" cy="274320"/>
          </a:xfrm>
          <a:prstGeom prst="rect">
            <a:avLst/>
          </a:prstGeom>
          <a:noFill/>
        </p:spPr>
        <p:txBody>
          <a:bodyPr wrap="square" lIns="0" rIns="0" tIns="0" bIns="0" anchor="t">
            <a:spAutoFit/>
          </a:bodyPr>
          <a:lstStyle/>
          <a:p>
            <a:pPr algn="ctr"/>
            <a:r>
              <a:rPr sz="1000" b="1">
                <a:solidFill>
                  <a:srgbClr val="4F4FC4"/>
                </a:solidFill>
              </a:rPr>
              <a:t>XID</a:t>
            </a:r>
          </a:p>
        </p:txBody>
      </p:sp>
      <p:cxnSp>
        <p:nvCxnSpPr>
          <p:cNvPr id="44" name="Connector 43"/>
          <p:cNvCxnSpPr/>
          <p:nvPr/>
        </p:nvCxnSpPr>
        <p:spPr>
          <a:xfrm>
            <a:off x="5779007" y="1792224"/>
            <a:ext cx="512065" cy="0"/>
          </a:xfrm>
          <a:prstGeom prst="line">
            <a:avLst/>
          </a:prstGeom>
          <a:ln w="15875">
            <a:solidFill>
              <a:srgbClr val="3D4A5C"/>
            </a:solidFill>
            <a:tailEnd type="triangle"/>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760720" y="1481328"/>
            <a:ext cx="548640" cy="274320"/>
          </a:xfrm>
          <a:prstGeom prst="rect">
            <a:avLst/>
          </a:prstGeom>
          <a:noFill/>
        </p:spPr>
        <p:txBody>
          <a:bodyPr wrap="square" lIns="0" rIns="0" tIns="0" bIns="0" anchor="t">
            <a:spAutoFit/>
          </a:bodyPr>
          <a:lstStyle/>
          <a:p>
            <a:pPr algn="ctr"/>
            <a:r>
              <a:rPr sz="1000" b="1">
                <a:solidFill>
                  <a:srgbClr val="4F4FC4"/>
                </a:solidFill>
              </a:rPr>
              <a:t>XID</a:t>
            </a:r>
          </a:p>
        </p:txBody>
      </p:sp>
      <p:sp>
        <p:nvSpPr>
          <p:cNvPr id="46" name="Rounded Rectangle 45"/>
          <p:cNvSpPr/>
          <p:nvPr/>
        </p:nvSpPr>
        <p:spPr>
          <a:xfrm>
            <a:off x="457200" y="2743200"/>
            <a:ext cx="8229600" cy="365760"/>
          </a:xfrm>
          <a:prstGeom prst="roundRect">
            <a:avLst>
              <a:gd name="adj" fmla="val 6000"/>
            </a:avLst>
          </a:prstGeom>
          <a:solidFill>
            <a:srgbClr val="ECEC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4F4FC4"/>
                </a:solidFill>
              </a:rPr>
              <a:t>Same XID at every hop:  </a:t>
            </a:r>
            <a:r>
              <a:rPr sz="1200" b="0">
                <a:solidFill>
                  <a:srgbClr val="1B2432"/>
                </a:solidFill>
                <a:latin typeface="Courier New"/>
              </a:rPr>
              <a:t>Order (XID-123)  &gt;  Inventory (XID-123)  &gt;  Payment (XID-123)</a:t>
            </a:r>
          </a:p>
        </p:txBody>
      </p:sp>
      <p:sp>
        <p:nvSpPr>
          <p:cNvPr id="47" name="Rounded Rectangle 46"/>
          <p:cNvSpPr/>
          <p:nvPr/>
        </p:nvSpPr>
        <p:spPr>
          <a:xfrm>
            <a:off x="457200" y="3291840"/>
            <a:ext cx="2606040" cy="1298448"/>
          </a:xfrm>
          <a:prstGeom prst="roundRect">
            <a:avLst>
              <a:gd name="adj" fmla="val 6000"/>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400" b="1">
                <a:solidFill>
                  <a:srgbClr val="0E7C7B"/>
                </a:solidFill>
              </a:rPr>
              <a:t>Annotations do not move</a:t>
            </a:r>
          </a:p>
          <a:p>
            <a:pPr algn="l"/>
            <a:r>
              <a:rPr sz="1250" b="0">
                <a:solidFill>
                  <a:srgbClr val="3D4A5C"/>
                </a:solidFill>
              </a:rPr>
              <a:t>Order still starts. Inventory and Payment still only join. No @GlobalTransactional in Inventory.</a:t>
            </a:r>
          </a:p>
        </p:txBody>
      </p:sp>
      <p:sp>
        <p:nvSpPr>
          <p:cNvPr id="48" name="Rounded Rectangle 47"/>
          <p:cNvSpPr/>
          <p:nvPr/>
        </p:nvSpPr>
        <p:spPr>
          <a:xfrm>
            <a:off x="3273552" y="3291840"/>
            <a:ext cx="2606040" cy="1298448"/>
          </a:xfrm>
          <a:prstGeom prst="roundRect">
            <a:avLst>
              <a:gd name="adj" fmla="val 6000"/>
            </a:avLst>
          </a:prstGeom>
          <a:solidFill>
            <a:srgbClr val="FBE9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400" b="1">
                <a:solidFill>
                  <a:srgbClr val="D1495B"/>
                </a:solidFill>
              </a:rPr>
              <a:t>Inventory forgets FeignXidConfig?</a:t>
            </a:r>
          </a:p>
          <a:p>
            <a:pPr algn="l"/>
            <a:r>
              <a:rPr sz="1250" b="0">
                <a:solidFill>
                  <a:srgbClr val="3D4A5C"/>
                </a:solidFill>
              </a:rPr>
              <a:t>Payment gets XID = null, runs a normal local transaction and is NOT rolled back.</a:t>
            </a:r>
          </a:p>
        </p:txBody>
      </p:sp>
      <p:sp>
        <p:nvSpPr>
          <p:cNvPr id="49" name="Rounded Rectangle 48"/>
          <p:cNvSpPr/>
          <p:nvPr/>
        </p:nvSpPr>
        <p:spPr>
          <a:xfrm>
            <a:off x="6080760" y="3291840"/>
            <a:ext cx="2606040" cy="1298448"/>
          </a:xfrm>
          <a:prstGeom prst="roundRect">
            <a:avLst>
              <a:gd name="adj" fmla="val 6000"/>
            </a:avLst>
          </a:prstGeom>
          <a:solidFill>
            <a:srgbClr val="FDF3E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400" b="1">
                <a:solidFill>
                  <a:srgbClr val="D98E1F"/>
                </a:solidFill>
              </a:rPr>
              <a:t>Call Payment after local work</a:t>
            </a:r>
          </a:p>
          <a:p>
            <a:pPr algn="l"/>
            <a:r>
              <a:rPr sz="1250" b="0">
                <a:solidFill>
                  <a:srgbClr val="3D4A5C"/>
                </a:solidFill>
              </a:rPr>
              <a:t>Not inside Inventory's @Transactional, so locks are not held. Never catch and hide the error.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a:xfrm>
            <a:off x="457200" y="256032"/>
            <a:ext cx="6903720" cy="640080"/>
          </a:xfrm>
        </p:spPr>
        <p:txBody>
          <a:bodyPr wrap="square" lIns="0" tIns="0" rIns="0" bIns="0" rtlCol="0" anchor="ctr"/>
          <a:lstStyle/>
          <a:p>
            <a:pPr algn="l" indent="0" marL="0">
              <a:buNone/>
            </a:pPr>
            <a:r>
              <a:rPr lang="en-US" sz="2400" b="1" dirty="0">
                <a:solidFill>
                  <a:schemeClr val="tx1"/>
                </a:solidFill>
              </a:rPr>
              <a:t>Rollback undoes the initiator's DB too</a:t>
            </a:r>
            <a:endParaRPr lang="en-US" sz="2400" dirty="0"/>
          </a:p>
        </p:txBody>
      </p:sp>
      <p:sp>
        <p:nvSpPr>
          <p:cNvPr id="3" name="AT mode badge"/>
          <p:cNvSpPr/>
          <p:nvPr/>
        </p:nvSpPr>
        <p:spPr>
          <a:xfrm>
            <a:off x="7498079" y="402336"/>
            <a:ext cx="1188720" cy="347472"/>
          </a:xfrm>
          <a:prstGeom prst="roundRect">
            <a:avLst>
              <a:gd name="adj" fmla="val 50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200" b="1">
                <a:solidFill>
                  <a:srgbClr val="FFFFFF"/>
                </a:solidFill>
              </a:rPr>
              <a:t>AT MODE</a:t>
            </a:r>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12</a:t>
            </a:fld>
            <a:endParaRPr lang="en-US"/>
          </a:p>
        </p:txBody>
      </p:sp>
      <p:sp>
        <p:nvSpPr>
          <p:cNvPr id="26" name="Rounded Rectangle 25"/>
          <p:cNvSpPr/>
          <p:nvPr/>
        </p:nvSpPr>
        <p:spPr>
          <a:xfrm>
            <a:off x="457200" y="1024128"/>
            <a:ext cx="1783080" cy="1143000"/>
          </a:xfrm>
          <a:prstGeom prst="roundRect">
            <a:avLst>
              <a:gd name="adj" fmla="val 6000"/>
            </a:avLst>
          </a:prstGeom>
          <a:solidFill>
            <a:srgbClr val="E3F2F1"/>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algn="ctr"/>
          </a:p>
        </p:txBody>
      </p:sp>
      <p:sp>
        <p:nvSpPr>
          <p:cNvPr id="27" name="Oval 26"/>
          <p:cNvSpPr/>
          <p:nvPr/>
        </p:nvSpPr>
        <p:spPr>
          <a:xfrm>
            <a:off x="566928" y="1133856"/>
            <a:ext cx="347472" cy="347472"/>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200" b="1">
                <a:solidFill>
                  <a:srgbClr val="FFFFFF"/>
                </a:solidFill>
              </a:rPr>
              <a:t>1</a:t>
            </a:r>
          </a:p>
        </p:txBody>
      </p:sp>
      <p:sp>
        <p:nvSpPr>
          <p:cNvPr id="28" name="TextBox 27"/>
          <p:cNvSpPr txBox="1"/>
          <p:nvPr/>
        </p:nvSpPr>
        <p:spPr>
          <a:xfrm>
            <a:off x="987552" y="1179576"/>
            <a:ext cx="1234440" cy="274320"/>
          </a:xfrm>
          <a:prstGeom prst="rect">
            <a:avLst/>
          </a:prstGeom>
          <a:noFill/>
        </p:spPr>
        <p:txBody>
          <a:bodyPr wrap="square" lIns="0" rIns="0" tIns="0" bIns="0" anchor="t">
            <a:spAutoFit/>
          </a:bodyPr>
          <a:lstStyle/>
          <a:p>
            <a:pPr algn="l"/>
            <a:r>
              <a:rPr sz="1300" b="1">
                <a:solidFill>
                  <a:srgbClr val="1B2432"/>
                </a:solidFill>
              </a:rPr>
              <a:t>Begin</a:t>
            </a:r>
          </a:p>
        </p:txBody>
      </p:sp>
      <p:sp>
        <p:nvSpPr>
          <p:cNvPr id="29" name="TextBox 28"/>
          <p:cNvSpPr txBox="1"/>
          <p:nvPr/>
        </p:nvSpPr>
        <p:spPr>
          <a:xfrm>
            <a:off x="566928" y="1554480"/>
            <a:ext cx="1600200" cy="594360"/>
          </a:xfrm>
          <a:prstGeom prst="rect">
            <a:avLst/>
          </a:prstGeom>
          <a:noFill/>
        </p:spPr>
        <p:txBody>
          <a:bodyPr wrap="square" lIns="0" rIns="0" tIns="0" bIns="0" anchor="t">
            <a:spAutoFit/>
          </a:bodyPr>
          <a:lstStyle/>
          <a:p>
            <a:pPr algn="l"/>
            <a:r>
              <a:rPr sz="1150" b="0">
                <a:solidFill>
                  <a:srgbClr val="3D4A5C"/>
                </a:solidFill>
              </a:rPr>
              <a:t>TM gets XID 7001 from TC</a:t>
            </a:r>
          </a:p>
        </p:txBody>
      </p:sp>
      <p:sp>
        <p:nvSpPr>
          <p:cNvPr id="30" name="Rounded Rectangle 29"/>
          <p:cNvSpPr/>
          <p:nvPr/>
        </p:nvSpPr>
        <p:spPr>
          <a:xfrm>
            <a:off x="2606040" y="1024128"/>
            <a:ext cx="1783080" cy="1143000"/>
          </a:xfrm>
          <a:prstGeom prst="roundRect">
            <a:avLst>
              <a:gd name="adj" fmla="val 6000"/>
            </a:avLst>
          </a:prstGeom>
          <a:solidFill>
            <a:srgbClr val="E3F2F1"/>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algn="ctr"/>
          </a:p>
        </p:txBody>
      </p:sp>
      <p:sp>
        <p:nvSpPr>
          <p:cNvPr id="31" name="Oval 30"/>
          <p:cNvSpPr/>
          <p:nvPr/>
        </p:nvSpPr>
        <p:spPr>
          <a:xfrm>
            <a:off x="2715768" y="1133856"/>
            <a:ext cx="347472" cy="347472"/>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200" b="1">
                <a:solidFill>
                  <a:srgbClr val="FFFFFF"/>
                </a:solidFill>
              </a:rPr>
              <a:t>2</a:t>
            </a:r>
          </a:p>
        </p:txBody>
      </p:sp>
      <p:sp>
        <p:nvSpPr>
          <p:cNvPr id="32" name="TextBox 31"/>
          <p:cNvSpPr txBox="1"/>
          <p:nvPr/>
        </p:nvSpPr>
        <p:spPr>
          <a:xfrm>
            <a:off x="3136392" y="1179576"/>
            <a:ext cx="1234440" cy="274320"/>
          </a:xfrm>
          <a:prstGeom prst="rect">
            <a:avLst/>
          </a:prstGeom>
          <a:noFill/>
        </p:spPr>
        <p:txBody>
          <a:bodyPr wrap="square" lIns="0" rIns="0" tIns="0" bIns="0" anchor="t">
            <a:spAutoFit/>
          </a:bodyPr>
          <a:lstStyle/>
          <a:p>
            <a:pPr algn="l"/>
            <a:r>
              <a:rPr sz="1300" b="1">
                <a:solidFill>
                  <a:srgbClr val="1B2432"/>
                </a:solidFill>
              </a:rPr>
              <a:t>Save order</a:t>
            </a:r>
          </a:p>
        </p:txBody>
      </p:sp>
      <p:sp>
        <p:nvSpPr>
          <p:cNvPr id="33" name="TextBox 32"/>
          <p:cNvSpPr txBox="1"/>
          <p:nvPr/>
        </p:nvSpPr>
        <p:spPr>
          <a:xfrm>
            <a:off x="2715768" y="1554480"/>
            <a:ext cx="1600200" cy="594360"/>
          </a:xfrm>
          <a:prstGeom prst="rect">
            <a:avLst/>
          </a:prstGeom>
          <a:noFill/>
        </p:spPr>
        <p:txBody>
          <a:bodyPr wrap="square" lIns="0" rIns="0" tIns="0" bIns="0" anchor="t">
            <a:spAutoFit/>
          </a:bodyPr>
          <a:lstStyle/>
          <a:p>
            <a:pPr algn="l"/>
            <a:r>
              <a:rPr sz="1150" b="0">
                <a:solidFill>
                  <a:srgbClr val="3D4A5C"/>
                </a:solidFill>
              </a:rPr>
              <a:t>order_db: INSERT order 51. Undo: no row before</a:t>
            </a:r>
          </a:p>
        </p:txBody>
      </p:sp>
      <p:sp>
        <p:nvSpPr>
          <p:cNvPr id="34" name="Rounded Rectangle 33"/>
          <p:cNvSpPr/>
          <p:nvPr/>
        </p:nvSpPr>
        <p:spPr>
          <a:xfrm>
            <a:off x="4754880" y="1024128"/>
            <a:ext cx="1783080" cy="1143000"/>
          </a:xfrm>
          <a:prstGeom prst="roundRect">
            <a:avLst>
              <a:gd name="adj" fmla="val 6000"/>
            </a:avLst>
          </a:prstGeom>
          <a:solidFill>
            <a:srgbClr val="E3F2F1"/>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algn="ctr"/>
          </a:p>
        </p:txBody>
      </p:sp>
      <p:sp>
        <p:nvSpPr>
          <p:cNvPr id="35" name="Oval 34"/>
          <p:cNvSpPr/>
          <p:nvPr/>
        </p:nvSpPr>
        <p:spPr>
          <a:xfrm>
            <a:off x="4864608" y="1133856"/>
            <a:ext cx="347472" cy="347472"/>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200" b="1">
                <a:solidFill>
                  <a:srgbClr val="FFFFFF"/>
                </a:solidFill>
              </a:rPr>
              <a:t>3</a:t>
            </a:r>
          </a:p>
        </p:txBody>
      </p:sp>
      <p:sp>
        <p:nvSpPr>
          <p:cNvPr id="36" name="TextBox 35"/>
          <p:cNvSpPr txBox="1"/>
          <p:nvPr/>
        </p:nvSpPr>
        <p:spPr>
          <a:xfrm>
            <a:off x="5285232" y="1179576"/>
            <a:ext cx="1234440" cy="274320"/>
          </a:xfrm>
          <a:prstGeom prst="rect">
            <a:avLst/>
          </a:prstGeom>
          <a:noFill/>
        </p:spPr>
        <p:txBody>
          <a:bodyPr wrap="square" lIns="0" rIns="0" tIns="0" bIns="0" anchor="t">
            <a:spAutoFit/>
          </a:bodyPr>
          <a:lstStyle/>
          <a:p>
            <a:pPr algn="l"/>
            <a:r>
              <a:rPr sz="1300" b="1">
                <a:solidFill>
                  <a:srgbClr val="1B2432"/>
                </a:solidFill>
              </a:rPr>
              <a:t>Reduce stock</a:t>
            </a:r>
          </a:p>
        </p:txBody>
      </p:sp>
      <p:sp>
        <p:nvSpPr>
          <p:cNvPr id="37" name="TextBox 36"/>
          <p:cNvSpPr txBox="1"/>
          <p:nvPr/>
        </p:nvSpPr>
        <p:spPr>
          <a:xfrm>
            <a:off x="4864608" y="1554480"/>
            <a:ext cx="1600200" cy="594360"/>
          </a:xfrm>
          <a:prstGeom prst="rect">
            <a:avLst/>
          </a:prstGeom>
          <a:noFill/>
        </p:spPr>
        <p:txBody>
          <a:bodyPr wrap="square" lIns="0" rIns="0" tIns="0" bIns="0" anchor="t">
            <a:spAutoFit/>
          </a:bodyPr>
          <a:lstStyle/>
          <a:p>
            <a:pPr algn="l"/>
            <a:r>
              <a:rPr sz="1150" b="0">
                <a:solidFill>
                  <a:srgbClr val="3D4A5C"/>
                </a:solidFill>
              </a:rPr>
              <a:t>inventory_db: P-200 10 to 9. Undo: before = 10</a:t>
            </a:r>
          </a:p>
        </p:txBody>
      </p:sp>
      <p:sp>
        <p:nvSpPr>
          <p:cNvPr id="38" name="Rounded Rectangle 37"/>
          <p:cNvSpPr/>
          <p:nvPr/>
        </p:nvSpPr>
        <p:spPr>
          <a:xfrm>
            <a:off x="6903720" y="1024128"/>
            <a:ext cx="1783080" cy="1143000"/>
          </a:xfrm>
          <a:prstGeom prst="roundRect">
            <a:avLst>
              <a:gd name="adj" fmla="val 6000"/>
            </a:avLst>
          </a:prstGeom>
          <a:solidFill>
            <a:srgbClr val="FBE9EC"/>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algn="ctr"/>
          </a:p>
        </p:txBody>
      </p:sp>
      <p:sp>
        <p:nvSpPr>
          <p:cNvPr id="39" name="Oval 38"/>
          <p:cNvSpPr/>
          <p:nvPr/>
        </p:nvSpPr>
        <p:spPr>
          <a:xfrm>
            <a:off x="7013448" y="1133856"/>
            <a:ext cx="347472" cy="347472"/>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200" b="1">
                <a:solidFill>
                  <a:srgbClr val="FFFFFF"/>
                </a:solidFill>
              </a:rPr>
              <a:t>4</a:t>
            </a:r>
          </a:p>
        </p:txBody>
      </p:sp>
      <p:sp>
        <p:nvSpPr>
          <p:cNvPr id="40" name="TextBox 39"/>
          <p:cNvSpPr txBox="1"/>
          <p:nvPr/>
        </p:nvSpPr>
        <p:spPr>
          <a:xfrm>
            <a:off x="7434071" y="1179576"/>
            <a:ext cx="1234440" cy="274320"/>
          </a:xfrm>
          <a:prstGeom prst="rect">
            <a:avLst/>
          </a:prstGeom>
          <a:noFill/>
        </p:spPr>
        <p:txBody>
          <a:bodyPr wrap="square" lIns="0" rIns="0" tIns="0" bIns="0" anchor="t">
            <a:spAutoFit/>
          </a:bodyPr>
          <a:lstStyle/>
          <a:p>
            <a:pPr algn="l"/>
            <a:r>
              <a:rPr sz="1300" b="1">
                <a:solidFill>
                  <a:srgbClr val="1B2432"/>
                </a:solidFill>
              </a:rPr>
              <a:t>Charge fails</a:t>
            </a:r>
          </a:p>
        </p:txBody>
      </p:sp>
      <p:sp>
        <p:nvSpPr>
          <p:cNvPr id="41" name="TextBox 40"/>
          <p:cNvSpPr txBox="1"/>
          <p:nvPr/>
        </p:nvSpPr>
        <p:spPr>
          <a:xfrm>
            <a:off x="7013448" y="1554480"/>
            <a:ext cx="1600200" cy="594360"/>
          </a:xfrm>
          <a:prstGeom prst="rect">
            <a:avLst/>
          </a:prstGeom>
          <a:noFill/>
        </p:spPr>
        <p:txBody>
          <a:bodyPr wrap="square" lIns="0" rIns="0" tIns="0" bIns="0" anchor="t">
            <a:spAutoFit/>
          </a:bodyPr>
          <a:lstStyle/>
          <a:p>
            <a:pPr algn="l"/>
            <a:r>
              <a:rPr sz="1150" b="0">
                <a:solidFill>
                  <a:srgbClr val="3D4A5C"/>
                </a:solidFill>
              </a:rPr>
              <a:t>payment_db: 4,000 &lt; 10,000. Nothing changed</a:t>
            </a:r>
          </a:p>
        </p:txBody>
      </p:sp>
      <p:sp>
        <p:nvSpPr>
          <p:cNvPr id="42" name="Rounded Rectangle 41"/>
          <p:cNvSpPr/>
          <p:nvPr/>
        </p:nvSpPr>
        <p:spPr>
          <a:xfrm>
            <a:off x="457200" y="2395728"/>
            <a:ext cx="1783080" cy="1143000"/>
          </a:xfrm>
          <a:prstGeom prst="roundRect">
            <a:avLst>
              <a:gd name="adj" fmla="val 6000"/>
            </a:avLst>
          </a:prstGeom>
          <a:solidFill>
            <a:srgbClr val="FBE9EC"/>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algn="ctr"/>
          </a:p>
        </p:txBody>
      </p:sp>
      <p:sp>
        <p:nvSpPr>
          <p:cNvPr id="43" name="Oval 42"/>
          <p:cNvSpPr/>
          <p:nvPr/>
        </p:nvSpPr>
        <p:spPr>
          <a:xfrm>
            <a:off x="566928" y="2505456"/>
            <a:ext cx="347472" cy="347472"/>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200" b="1">
                <a:solidFill>
                  <a:srgbClr val="FFFFFF"/>
                </a:solidFill>
              </a:rPr>
              <a:t>5</a:t>
            </a:r>
          </a:p>
        </p:txBody>
      </p:sp>
      <p:sp>
        <p:nvSpPr>
          <p:cNvPr id="44" name="TextBox 43"/>
          <p:cNvSpPr txBox="1"/>
          <p:nvPr/>
        </p:nvSpPr>
        <p:spPr>
          <a:xfrm>
            <a:off x="987552" y="2551176"/>
            <a:ext cx="1234440" cy="274320"/>
          </a:xfrm>
          <a:prstGeom prst="rect">
            <a:avLst/>
          </a:prstGeom>
          <a:noFill/>
        </p:spPr>
        <p:txBody>
          <a:bodyPr wrap="square" lIns="0" rIns="0" tIns="0" bIns="0" anchor="t">
            <a:spAutoFit/>
          </a:bodyPr>
          <a:lstStyle/>
          <a:p>
            <a:pPr algn="l"/>
            <a:r>
              <a:rPr sz="1300" b="1">
                <a:solidFill>
                  <a:srgbClr val="1B2432"/>
                </a:solidFill>
              </a:rPr>
              <a:t>Error</a:t>
            </a:r>
          </a:p>
        </p:txBody>
      </p:sp>
      <p:sp>
        <p:nvSpPr>
          <p:cNvPr id="45" name="TextBox 44"/>
          <p:cNvSpPr txBox="1"/>
          <p:nvPr/>
        </p:nvSpPr>
        <p:spPr>
          <a:xfrm>
            <a:off x="566928" y="2926080"/>
            <a:ext cx="1600200" cy="594360"/>
          </a:xfrm>
          <a:prstGeom prst="rect">
            <a:avLst/>
          </a:prstGeom>
          <a:noFill/>
        </p:spPr>
        <p:txBody>
          <a:bodyPr wrap="square" lIns="0" rIns="0" tIns="0" bIns="0" anchor="t">
            <a:spAutoFit/>
          </a:bodyPr>
          <a:lstStyle/>
          <a:p>
            <a:pPr algn="l"/>
            <a:r>
              <a:rPr sz="1150" b="0">
                <a:solidFill>
                  <a:srgbClr val="3D4A5C"/>
                </a:solidFill>
              </a:rPr>
              <a:t>Exception leaves @GlobalTransactional</a:t>
            </a:r>
          </a:p>
        </p:txBody>
      </p:sp>
      <p:sp>
        <p:nvSpPr>
          <p:cNvPr id="46" name="Rounded Rectangle 45"/>
          <p:cNvSpPr/>
          <p:nvPr/>
        </p:nvSpPr>
        <p:spPr>
          <a:xfrm>
            <a:off x="2606040" y="2395728"/>
            <a:ext cx="1783080" cy="1143000"/>
          </a:xfrm>
          <a:prstGeom prst="roundRect">
            <a:avLst>
              <a:gd name="adj" fmla="val 6000"/>
            </a:avLst>
          </a:prstGeom>
          <a:solidFill>
            <a:srgbClr val="ECECFB"/>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algn="ctr"/>
          </a:p>
        </p:txBody>
      </p:sp>
      <p:sp>
        <p:nvSpPr>
          <p:cNvPr id="47" name="Oval 46"/>
          <p:cNvSpPr/>
          <p:nvPr/>
        </p:nvSpPr>
        <p:spPr>
          <a:xfrm>
            <a:off x="2715768" y="2505456"/>
            <a:ext cx="347472" cy="347472"/>
          </a:xfrm>
          <a:prstGeom prst="ellipse">
            <a:avLst/>
          </a:prstGeom>
          <a:solidFill>
            <a:srgbClr val="4F4FC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200" b="1">
                <a:solidFill>
                  <a:srgbClr val="FFFFFF"/>
                </a:solidFill>
              </a:rPr>
              <a:t>6</a:t>
            </a:r>
          </a:p>
        </p:txBody>
      </p:sp>
      <p:sp>
        <p:nvSpPr>
          <p:cNvPr id="48" name="TextBox 47"/>
          <p:cNvSpPr txBox="1"/>
          <p:nvPr/>
        </p:nvSpPr>
        <p:spPr>
          <a:xfrm>
            <a:off x="3136392" y="2551176"/>
            <a:ext cx="1234440" cy="274320"/>
          </a:xfrm>
          <a:prstGeom prst="rect">
            <a:avLst/>
          </a:prstGeom>
          <a:noFill/>
        </p:spPr>
        <p:txBody>
          <a:bodyPr wrap="square" lIns="0" rIns="0" tIns="0" bIns="0" anchor="t">
            <a:spAutoFit/>
          </a:bodyPr>
          <a:lstStyle/>
          <a:p>
            <a:pPr algn="l"/>
            <a:r>
              <a:rPr sz="1300" b="1">
                <a:solidFill>
                  <a:srgbClr val="1B2432"/>
                </a:solidFill>
              </a:rPr>
              <a:t>Rollback</a:t>
            </a:r>
          </a:p>
        </p:txBody>
      </p:sp>
      <p:sp>
        <p:nvSpPr>
          <p:cNvPr id="49" name="TextBox 48"/>
          <p:cNvSpPr txBox="1"/>
          <p:nvPr/>
        </p:nvSpPr>
        <p:spPr>
          <a:xfrm>
            <a:off x="2715768" y="2926080"/>
            <a:ext cx="1600200" cy="594360"/>
          </a:xfrm>
          <a:prstGeom prst="rect">
            <a:avLst/>
          </a:prstGeom>
          <a:noFill/>
        </p:spPr>
        <p:txBody>
          <a:bodyPr wrap="square" lIns="0" rIns="0" tIns="0" bIns="0" anchor="t">
            <a:spAutoFit/>
          </a:bodyPr>
          <a:lstStyle/>
          <a:p>
            <a:pPr algn="l"/>
            <a:r>
              <a:rPr sz="1150" b="0">
                <a:solidFill>
                  <a:srgbClr val="3D4A5C"/>
                </a:solidFill>
              </a:rPr>
              <a:t>TM asks TC to roll back XID 7001</a:t>
            </a:r>
          </a:p>
        </p:txBody>
      </p:sp>
      <p:sp>
        <p:nvSpPr>
          <p:cNvPr id="50" name="Rounded Rectangle 49"/>
          <p:cNvSpPr/>
          <p:nvPr/>
        </p:nvSpPr>
        <p:spPr>
          <a:xfrm>
            <a:off x="4754880" y="2395728"/>
            <a:ext cx="1783080" cy="1143000"/>
          </a:xfrm>
          <a:prstGeom prst="roundRect">
            <a:avLst>
              <a:gd name="adj" fmla="val 6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algn="ctr"/>
          </a:p>
        </p:txBody>
      </p:sp>
      <p:sp>
        <p:nvSpPr>
          <p:cNvPr id="51" name="Oval 50"/>
          <p:cNvSpPr/>
          <p:nvPr/>
        </p:nvSpPr>
        <p:spPr>
          <a:xfrm>
            <a:off x="4864608" y="2505456"/>
            <a:ext cx="347472" cy="347472"/>
          </a:xfrm>
          <a:prstGeom prst="ellips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200" b="1">
                <a:solidFill>
                  <a:srgbClr val="FFFFFF"/>
                </a:solidFill>
              </a:rPr>
              <a:t>7</a:t>
            </a:r>
          </a:p>
        </p:txBody>
      </p:sp>
      <p:sp>
        <p:nvSpPr>
          <p:cNvPr id="52" name="TextBox 51"/>
          <p:cNvSpPr txBox="1"/>
          <p:nvPr/>
        </p:nvSpPr>
        <p:spPr>
          <a:xfrm>
            <a:off x="5285232" y="2551176"/>
            <a:ext cx="1234440" cy="274320"/>
          </a:xfrm>
          <a:prstGeom prst="rect">
            <a:avLst/>
          </a:prstGeom>
          <a:noFill/>
        </p:spPr>
        <p:txBody>
          <a:bodyPr wrap="square" lIns="0" rIns="0" tIns="0" bIns="0" anchor="t">
            <a:spAutoFit/>
          </a:bodyPr>
          <a:lstStyle/>
          <a:p>
            <a:pPr algn="l"/>
            <a:r>
              <a:rPr sz="1300" b="1">
                <a:solidFill>
                  <a:srgbClr val="1B2432"/>
                </a:solidFill>
              </a:rPr>
              <a:t>Undo branches</a:t>
            </a:r>
          </a:p>
        </p:txBody>
      </p:sp>
      <p:sp>
        <p:nvSpPr>
          <p:cNvPr id="53" name="TextBox 52"/>
          <p:cNvSpPr txBox="1"/>
          <p:nvPr/>
        </p:nvSpPr>
        <p:spPr>
          <a:xfrm>
            <a:off x="4864608" y="2926080"/>
            <a:ext cx="1600200" cy="594360"/>
          </a:xfrm>
          <a:prstGeom prst="rect">
            <a:avLst/>
          </a:prstGeom>
          <a:noFill/>
        </p:spPr>
        <p:txBody>
          <a:bodyPr wrap="square" lIns="0" rIns="0" tIns="0" bIns="0" anchor="t">
            <a:spAutoFit/>
          </a:bodyPr>
          <a:lstStyle/>
          <a:p>
            <a:pPr algn="l"/>
            <a:r>
              <a:rPr sz="1150" b="0">
                <a:solidFill>
                  <a:srgbClr val="3D4A5C"/>
                </a:solidFill>
              </a:rPr>
              <a:t>Stock 9 back to 10. Order 51 deleted</a:t>
            </a:r>
          </a:p>
        </p:txBody>
      </p:sp>
      <p:cxnSp>
        <p:nvCxnSpPr>
          <p:cNvPr id="54" name="Connector 53"/>
          <p:cNvCxnSpPr/>
          <p:nvPr/>
        </p:nvCxnSpPr>
        <p:spPr>
          <a:xfrm>
            <a:off x="2258568" y="1595628"/>
            <a:ext cx="329184" cy="0"/>
          </a:xfrm>
          <a:prstGeom prst="line">
            <a:avLst/>
          </a:prstGeom>
          <a:ln w="15875">
            <a:solidFill>
              <a:srgbClr val="3D4A5C"/>
            </a:solidFill>
            <a:tailEnd type="triangle"/>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4407407" y="1595628"/>
            <a:ext cx="329185" cy="0"/>
          </a:xfrm>
          <a:prstGeom prst="line">
            <a:avLst/>
          </a:prstGeom>
          <a:ln w="15875">
            <a:solidFill>
              <a:srgbClr val="3D4A5C"/>
            </a:solidFill>
            <a:tailEnd type="triangle"/>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6556248" y="1595628"/>
            <a:ext cx="329184" cy="0"/>
          </a:xfrm>
          <a:prstGeom prst="line">
            <a:avLst/>
          </a:prstGeom>
          <a:ln w="15875">
            <a:solidFill>
              <a:srgbClr val="3D4A5C"/>
            </a:solidFill>
            <a:tailEnd type="triangle"/>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2258568" y="2967228"/>
            <a:ext cx="329184" cy="0"/>
          </a:xfrm>
          <a:prstGeom prst="line">
            <a:avLst/>
          </a:prstGeom>
          <a:ln w="15875">
            <a:solidFill>
              <a:srgbClr val="3D4A5C"/>
            </a:solidFill>
            <a:tailEnd type="triangle"/>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4407407" y="2967228"/>
            <a:ext cx="329185" cy="0"/>
          </a:xfrm>
          <a:prstGeom prst="line">
            <a:avLst/>
          </a:prstGeom>
          <a:ln w="15875">
            <a:solidFill>
              <a:srgbClr val="3D4A5C"/>
            </a:solidFill>
            <a:tailEnd type="triangle"/>
          </a:ln>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6903720" y="2395728"/>
            <a:ext cx="1783080" cy="1143000"/>
          </a:xfrm>
          <a:prstGeom prst="roundRect">
            <a:avLst>
              <a:gd name="adj" fmla="val 6000"/>
            </a:avLst>
          </a:prstGeom>
          <a:solidFill>
            <a:srgbClr val="FFFFFF"/>
          </a:solidFill>
          <a:ln w="9525">
            <a:solidFill>
              <a:srgbClr val="D5DCE3"/>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300" b="1">
                <a:solidFill>
                  <a:srgbClr val="1B2432"/>
                </a:solidFill>
              </a:rPr>
              <a:t>Final state</a:t>
            </a:r>
          </a:p>
          <a:p>
            <a:pPr algn="l"/>
            <a:r>
              <a:rPr sz="1100" b="0">
                <a:solidFill>
                  <a:srgbClr val="3D4A5C"/>
                </a:solidFill>
              </a:rPr>
              <a:t>Stock P-200: 10</a:t>
            </a:r>
          </a:p>
          <a:p>
            <a:pPr algn="l"/>
            <a:r>
              <a:rPr sz="1100" b="0">
                <a:solidFill>
                  <a:srgbClr val="3D4A5C"/>
                </a:solidFill>
              </a:rPr>
              <a:t>Wallet: 4,000</a:t>
            </a:r>
          </a:p>
          <a:p>
            <a:pPr algn="l"/>
            <a:r>
              <a:rPr sz="1100" b="0">
                <a:solidFill>
                  <a:srgbClr val="3D4A5C"/>
                </a:solidFill>
              </a:rPr>
              <a:t>Order 51: gone</a:t>
            </a:r>
          </a:p>
          <a:p>
            <a:pPr algn="l"/>
            <a:r>
              <a:rPr sz="1100" b="0">
                <a:solidFill>
                  <a:srgbClr val="3D4A5C"/>
                </a:solidFill>
              </a:rPr>
              <a:t>undo_log: empty</a:t>
            </a:r>
          </a:p>
        </p:txBody>
      </p:sp>
      <p:cxnSp>
        <p:nvCxnSpPr>
          <p:cNvPr id="60" name="Connector 59"/>
          <p:cNvCxnSpPr/>
          <p:nvPr/>
        </p:nvCxnSpPr>
        <p:spPr>
          <a:xfrm>
            <a:off x="6556248" y="2967228"/>
            <a:ext cx="329184" cy="0"/>
          </a:xfrm>
          <a:prstGeom prst="line">
            <a:avLst/>
          </a:prstGeom>
          <a:ln w="15875">
            <a:solidFill>
              <a:srgbClr val="3D4A5C"/>
            </a:solidFill>
            <a:tailEnd type="triangle"/>
          </a:ln>
        </p:spPr>
        <p:style>
          <a:lnRef idx="2">
            <a:schemeClr val="accent1"/>
          </a:lnRef>
          <a:fillRef idx="0">
            <a:schemeClr val="accent1"/>
          </a:fillRef>
          <a:effectRef idx="1">
            <a:schemeClr val="accent1"/>
          </a:effectRef>
          <a:fontRef idx="minor">
            <a:schemeClr val="tx1"/>
          </a:fontRef>
        </p:style>
      </p:cxnSp>
      <p:sp>
        <p:nvSpPr>
          <p:cNvPr id="61" name="Rounded Rectangle 60"/>
          <p:cNvSpPr/>
          <p:nvPr/>
        </p:nvSpPr>
        <p:spPr>
          <a:xfrm>
            <a:off x="457200" y="3767328"/>
            <a:ext cx="8229600" cy="822960"/>
          </a:xfrm>
          <a:prstGeom prst="roundRect">
            <a:avLst>
              <a:gd name="adj" fmla="val 6000"/>
            </a:avLst>
          </a:prstGeom>
          <a:solidFill>
            <a:srgbClr val="FDF3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300" b="1">
                <a:solidFill>
                  <a:srgbClr val="D98E1F"/>
                </a:solidFill>
              </a:rPr>
              <a:t>AT mode: the initiator is also an RM. </a:t>
            </a:r>
            <a:r>
              <a:rPr sz="1250" b="0">
                <a:solidFill>
                  <a:srgbClr val="3D4A5C"/>
                </a:solidFill>
              </a:rPr>
              <a:t>Order's own save goes through the Seata DataSource proxy, so order_db needs undo_log too. OrderExceptionHandler then returns ROLLED_BACK to the caller.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a:xfrm>
            <a:off x="457200" y="256032"/>
            <a:ext cx="6903720" cy="640080"/>
          </a:xfrm>
        </p:spPr>
        <p:txBody>
          <a:bodyPr wrap="square" lIns="0" tIns="0" rIns="0" bIns="0" rtlCol="0" anchor="ctr"/>
          <a:lstStyle/>
          <a:p>
            <a:pPr algn="l" indent="0" marL="0">
              <a:buNone/>
            </a:pPr>
            <a:r>
              <a:rPr lang="en-US" sz="2400" b="1" dirty="0">
                <a:solidFill>
                  <a:schemeClr val="tx1"/>
                </a:solidFill>
              </a:rPr>
              <a:t>Annotation rules to remember</a:t>
            </a:r>
            <a:endParaRPr lang="en-US" sz="2400" dirty="0"/>
          </a:p>
        </p:txBody>
      </p:sp>
      <p:sp>
        <p:nvSpPr>
          <p:cNvPr id="3" name="AT mode badge"/>
          <p:cNvSpPr/>
          <p:nvPr/>
        </p:nvSpPr>
        <p:spPr>
          <a:xfrm>
            <a:off x="7498079" y="402336"/>
            <a:ext cx="1188720" cy="347472"/>
          </a:xfrm>
          <a:prstGeom prst="roundRect">
            <a:avLst>
              <a:gd name="adj" fmla="val 50000"/>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lstStyle/>
          <a:p>
            <a:pPr algn="ctr"/>
            <a:r>
              <a:rPr sz="1200" b="1">
                <a:solidFill>
                  <a:srgbClr val="FFFFFF"/>
                </a:solidFill>
              </a:rPr>
              <a:t>AT MODE</a:t>
            </a:r>
          </a:p>
        </p:txBody>
      </p:sp>
      <p:sp>
        <p:nvSpPr>
          <p:cNvPr id="25" name="Slide Number Placeholder 0"/>
          <p:cNvSpPr>
            <a:spLocks noGrp="1"/>
          </p:cNvSpPr>
          <p:nvPr>
            <p:ph type="sldNum" sz="quarter" idx="4294967295"/>
          </p:nvPr>
        </p:nvSpPr>
        <p:spPr>
          <a:xfrm>
            <a:off x="8229600" y="4773168"/>
            <a:ext cx="457200" cy="256032"/>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12</a:t>
            </a:fld>
            <a:endParaRPr lang="en-US"/>
          </a:p>
        </p:txBody>
      </p:sp>
      <p:sp>
        <p:nvSpPr>
          <p:cNvPr id="26" name="Rounded Rectangle 25"/>
          <p:cNvSpPr/>
          <p:nvPr/>
        </p:nvSpPr>
        <p:spPr>
          <a:xfrm>
            <a:off x="457200" y="1005840"/>
            <a:ext cx="4023360" cy="1143000"/>
          </a:xfrm>
          <a:prstGeom prst="roundRect">
            <a:avLst>
              <a:gd name="adj" fmla="val 6000"/>
            </a:avLst>
          </a:prstGeom>
          <a:solidFill>
            <a:srgbClr val="E3F2F1"/>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algn="ctr"/>
          </a:p>
        </p:txBody>
      </p:sp>
      <p:sp>
        <p:nvSpPr>
          <p:cNvPr id="27" name="Oval 26"/>
          <p:cNvSpPr/>
          <p:nvPr/>
        </p:nvSpPr>
        <p:spPr>
          <a:xfrm>
            <a:off x="594360" y="1143000"/>
            <a:ext cx="347472" cy="347472"/>
          </a:xfrm>
          <a:prstGeom prst="ellipse">
            <a:avLst/>
          </a:prstGeom>
          <a:solidFill>
            <a:srgbClr val="0E7C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200" b="1">
                <a:solidFill>
                  <a:srgbClr val="FFFFFF"/>
                </a:solidFill>
              </a:rPr>
              <a:t>1</a:t>
            </a:r>
          </a:p>
        </p:txBody>
      </p:sp>
      <p:sp>
        <p:nvSpPr>
          <p:cNvPr id="28" name="TextBox 27"/>
          <p:cNvSpPr txBox="1"/>
          <p:nvPr/>
        </p:nvSpPr>
        <p:spPr>
          <a:xfrm>
            <a:off x="1051560" y="1170432"/>
            <a:ext cx="3291840" cy="274320"/>
          </a:xfrm>
          <a:prstGeom prst="rect">
            <a:avLst/>
          </a:prstGeom>
          <a:noFill/>
        </p:spPr>
        <p:txBody>
          <a:bodyPr wrap="square" lIns="0" rIns="0" tIns="0" bIns="0" anchor="t">
            <a:spAutoFit/>
          </a:bodyPr>
          <a:lstStyle/>
          <a:p>
            <a:pPr algn="l"/>
            <a:r>
              <a:rPr sz="1400" b="1">
                <a:solidFill>
                  <a:srgbClr val="1B2432"/>
                </a:solidFill>
              </a:rPr>
              <a:t>One @GlobalTransactional per action</a:t>
            </a:r>
          </a:p>
        </p:txBody>
      </p:sp>
      <p:sp>
        <p:nvSpPr>
          <p:cNvPr id="29" name="TextBox 28"/>
          <p:cNvSpPr txBox="1"/>
          <p:nvPr/>
        </p:nvSpPr>
        <p:spPr>
          <a:xfrm>
            <a:off x="1051560" y="1463040"/>
            <a:ext cx="3291840" cy="658368"/>
          </a:xfrm>
          <a:prstGeom prst="rect">
            <a:avLst/>
          </a:prstGeom>
          <a:noFill/>
        </p:spPr>
        <p:txBody>
          <a:bodyPr wrap="square" lIns="0" rIns="0" tIns="0" bIns="0" anchor="t">
            <a:spAutoFit/>
          </a:bodyPr>
          <a:lstStyle/>
          <a:p>
            <a:pPr algn="l"/>
            <a:r>
              <a:rPr sz="1200" b="0">
                <a:solidFill>
                  <a:srgbClr val="3D4A5C"/>
                </a:solidFill>
              </a:rPr>
              <a:t>Only at the entry point. A second one downstream just joins the same XID, so leave it out.</a:t>
            </a:r>
          </a:p>
        </p:txBody>
      </p:sp>
      <p:sp>
        <p:nvSpPr>
          <p:cNvPr id="30" name="Rounded Rectangle 29"/>
          <p:cNvSpPr/>
          <p:nvPr/>
        </p:nvSpPr>
        <p:spPr>
          <a:xfrm>
            <a:off x="4663440" y="1005840"/>
            <a:ext cx="4023360" cy="1143000"/>
          </a:xfrm>
          <a:prstGeom prst="roundRect">
            <a:avLst>
              <a:gd name="adj" fmla="val 6000"/>
            </a:avLst>
          </a:prstGeom>
          <a:solidFill>
            <a:srgbClr val="ECECFB"/>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algn="ctr"/>
          </a:p>
        </p:txBody>
      </p:sp>
      <p:sp>
        <p:nvSpPr>
          <p:cNvPr id="31" name="Oval 30"/>
          <p:cNvSpPr/>
          <p:nvPr/>
        </p:nvSpPr>
        <p:spPr>
          <a:xfrm>
            <a:off x="4800600" y="1143000"/>
            <a:ext cx="347472" cy="347472"/>
          </a:xfrm>
          <a:prstGeom prst="ellipse">
            <a:avLst/>
          </a:prstGeom>
          <a:solidFill>
            <a:srgbClr val="4F4FC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200" b="1">
                <a:solidFill>
                  <a:srgbClr val="FFFFFF"/>
                </a:solidFill>
              </a:rPr>
              <a:t>2</a:t>
            </a:r>
          </a:p>
        </p:txBody>
      </p:sp>
      <p:sp>
        <p:nvSpPr>
          <p:cNvPr id="32" name="TextBox 31"/>
          <p:cNvSpPr txBox="1"/>
          <p:nvPr/>
        </p:nvSpPr>
        <p:spPr>
          <a:xfrm>
            <a:off x="5257800" y="1170432"/>
            <a:ext cx="3291840" cy="274320"/>
          </a:xfrm>
          <a:prstGeom prst="rect">
            <a:avLst/>
          </a:prstGeom>
          <a:noFill/>
        </p:spPr>
        <p:txBody>
          <a:bodyPr wrap="square" lIns="0" rIns="0" tIns="0" bIns="0" anchor="t">
            <a:spAutoFit/>
          </a:bodyPr>
          <a:lstStyle/>
          <a:p>
            <a:pPr algn="l"/>
            <a:r>
              <a:rPr sz="1400" b="1">
                <a:solidFill>
                  <a:srgbClr val="1B2432"/>
                </a:solidFill>
              </a:rPr>
              <a:t>@Transactional = one local branch</a:t>
            </a:r>
          </a:p>
        </p:txBody>
      </p:sp>
      <p:sp>
        <p:nvSpPr>
          <p:cNvPr id="33" name="TextBox 32"/>
          <p:cNvSpPr txBox="1"/>
          <p:nvPr/>
        </p:nvSpPr>
        <p:spPr>
          <a:xfrm>
            <a:off x="5257800" y="1463040"/>
            <a:ext cx="3291840" cy="658368"/>
          </a:xfrm>
          <a:prstGeom prst="rect">
            <a:avLst/>
          </a:prstGeom>
          <a:noFill/>
        </p:spPr>
        <p:txBody>
          <a:bodyPr wrap="square" lIns="0" rIns="0" tIns="0" bIns="0" anchor="t">
            <a:spAutoFit/>
          </a:bodyPr>
          <a:lstStyle/>
          <a:p>
            <a:pPr algn="l"/>
            <a:r>
              <a:rPr sz="1200" b="0">
                <a:solidFill>
                  <a:srgbClr val="3D4A5C"/>
                </a:solidFill>
              </a:rPr>
              <a:t>Joining comes from the XID plus Seata's DataSource proxy. Without it, each SQL is its own small branch.</a:t>
            </a:r>
          </a:p>
        </p:txBody>
      </p:sp>
      <p:sp>
        <p:nvSpPr>
          <p:cNvPr id="34" name="Rounded Rectangle 33"/>
          <p:cNvSpPr/>
          <p:nvPr/>
        </p:nvSpPr>
        <p:spPr>
          <a:xfrm>
            <a:off x="457200" y="2331720"/>
            <a:ext cx="4023360" cy="1143000"/>
          </a:xfrm>
          <a:prstGeom prst="roundRect">
            <a:avLst>
              <a:gd name="adj" fmla="val 6000"/>
            </a:avLst>
          </a:prstGeom>
          <a:solidFill>
            <a:srgbClr val="FBE9EC"/>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algn="ctr"/>
          </a:p>
        </p:txBody>
      </p:sp>
      <p:sp>
        <p:nvSpPr>
          <p:cNvPr id="35" name="Oval 34"/>
          <p:cNvSpPr/>
          <p:nvPr/>
        </p:nvSpPr>
        <p:spPr>
          <a:xfrm>
            <a:off x="594360" y="2468879"/>
            <a:ext cx="347472" cy="347472"/>
          </a:xfrm>
          <a:prstGeom prst="ellipse">
            <a:avLst/>
          </a:prstGeom>
          <a:solidFill>
            <a:srgbClr val="D1495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200" b="1">
                <a:solidFill>
                  <a:srgbClr val="FFFFFF"/>
                </a:solidFill>
              </a:rPr>
              <a:t>3</a:t>
            </a:r>
          </a:p>
        </p:txBody>
      </p:sp>
      <p:sp>
        <p:nvSpPr>
          <p:cNvPr id="36" name="TextBox 35"/>
          <p:cNvSpPr txBox="1"/>
          <p:nvPr/>
        </p:nvSpPr>
        <p:spPr>
          <a:xfrm>
            <a:off x="1051560" y="2496312"/>
            <a:ext cx="3291840" cy="274320"/>
          </a:xfrm>
          <a:prstGeom prst="rect">
            <a:avLst/>
          </a:prstGeom>
          <a:noFill/>
        </p:spPr>
        <p:txBody>
          <a:bodyPr wrap="square" lIns="0" rIns="0" tIns="0" bIns="0" anchor="t">
            <a:spAutoFit/>
          </a:bodyPr>
          <a:lstStyle/>
          <a:p>
            <a:pPr algn="l"/>
            <a:r>
              <a:rPr sz="1400" b="1">
                <a:solidFill>
                  <a:srgbClr val="1B2432"/>
                </a:solidFill>
              </a:rPr>
              <a:t>Throw, never swallow</a:t>
            </a:r>
          </a:p>
        </p:txBody>
      </p:sp>
      <p:sp>
        <p:nvSpPr>
          <p:cNvPr id="37" name="TextBox 36"/>
          <p:cNvSpPr txBox="1"/>
          <p:nvPr/>
        </p:nvSpPr>
        <p:spPr>
          <a:xfrm>
            <a:off x="1051560" y="2788920"/>
            <a:ext cx="3291840" cy="658368"/>
          </a:xfrm>
          <a:prstGeom prst="rect">
            <a:avLst/>
          </a:prstGeom>
          <a:noFill/>
        </p:spPr>
        <p:txBody>
          <a:bodyPr wrap="square" lIns="0" rIns="0" tIns="0" bIns="0" anchor="t">
            <a:spAutoFit/>
          </a:bodyPr>
          <a:lstStyle/>
          <a:p>
            <a:pPr algn="l"/>
            <a:r>
              <a:rPr sz="1200" b="0">
                <a:solidFill>
                  <a:srgbClr val="3D4A5C"/>
                </a:solidFill>
              </a:rPr>
              <a:t>Use rollbackFor = Exception.class. A caught and hidden error inside the global method means no rollback.</a:t>
            </a:r>
          </a:p>
        </p:txBody>
      </p:sp>
      <p:sp>
        <p:nvSpPr>
          <p:cNvPr id="38" name="Rounded Rectangle 37"/>
          <p:cNvSpPr/>
          <p:nvPr/>
        </p:nvSpPr>
        <p:spPr>
          <a:xfrm>
            <a:off x="4663440" y="2331720"/>
            <a:ext cx="4023360" cy="1143000"/>
          </a:xfrm>
          <a:prstGeom prst="roundRect">
            <a:avLst>
              <a:gd name="adj" fmla="val 6000"/>
            </a:avLst>
          </a:prstGeom>
          <a:solidFill>
            <a:srgbClr val="FDF3E2"/>
          </a:solidFill>
          <a:ln>
            <a:noFill/>
          </a:ln>
          <a:effectLst/>
        </p:spPr>
        <p:style>
          <a:lnRef idx="1">
            <a:schemeClr val="accent1"/>
          </a:lnRef>
          <a:fillRef idx="3">
            <a:schemeClr val="accent1"/>
          </a:fillRef>
          <a:effectRef idx="2">
            <a:schemeClr val="accent1"/>
          </a:effectRef>
          <a:fontRef idx="minor">
            <a:schemeClr val="lt1"/>
          </a:fontRef>
        </p:style>
        <p:txBody>
          <a:bodyPr rtlCol="0" anchor="t"/>
          <a:lstStyle/>
          <a:p>
            <a:pPr algn="ctr"/>
          </a:p>
        </p:txBody>
      </p:sp>
      <p:sp>
        <p:nvSpPr>
          <p:cNvPr id="39" name="Oval 38"/>
          <p:cNvSpPr/>
          <p:nvPr/>
        </p:nvSpPr>
        <p:spPr>
          <a:xfrm>
            <a:off x="4800600" y="2468879"/>
            <a:ext cx="347472" cy="347472"/>
          </a:xfrm>
          <a:prstGeom prst="ellipse">
            <a:avLst/>
          </a:prstGeom>
          <a:solidFill>
            <a:srgbClr val="D98E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200" b="1">
                <a:solidFill>
                  <a:srgbClr val="FFFFFF"/>
                </a:solidFill>
              </a:rPr>
              <a:t>4</a:t>
            </a:r>
          </a:p>
        </p:txBody>
      </p:sp>
      <p:sp>
        <p:nvSpPr>
          <p:cNvPr id="40" name="TextBox 39"/>
          <p:cNvSpPr txBox="1"/>
          <p:nvPr/>
        </p:nvSpPr>
        <p:spPr>
          <a:xfrm>
            <a:off x="5257800" y="2496312"/>
            <a:ext cx="3291840" cy="274320"/>
          </a:xfrm>
          <a:prstGeom prst="rect">
            <a:avLst/>
          </a:prstGeom>
          <a:noFill/>
        </p:spPr>
        <p:txBody>
          <a:bodyPr wrap="square" lIns="0" rIns="0" tIns="0" bIns="0" anchor="t">
            <a:spAutoFit/>
          </a:bodyPr>
          <a:lstStyle/>
          <a:p>
            <a:pPr algn="l"/>
            <a:r>
              <a:rPr sz="1400" b="1">
                <a:solidFill>
                  <a:srgbClr val="1B2432"/>
                </a:solidFill>
              </a:rPr>
              <a:t>Go through the Spring proxy</a:t>
            </a:r>
          </a:p>
        </p:txBody>
      </p:sp>
      <p:sp>
        <p:nvSpPr>
          <p:cNvPr id="41" name="TextBox 40"/>
          <p:cNvSpPr txBox="1"/>
          <p:nvPr/>
        </p:nvSpPr>
        <p:spPr>
          <a:xfrm>
            <a:off x="5257800" y="2788920"/>
            <a:ext cx="3291840" cy="658368"/>
          </a:xfrm>
          <a:prstGeom prst="rect">
            <a:avLst/>
          </a:prstGeom>
          <a:noFill/>
        </p:spPr>
        <p:txBody>
          <a:bodyPr wrap="square" lIns="0" rIns="0" tIns="0" bIns="0" anchor="t">
            <a:spAutoFit/>
          </a:bodyPr>
          <a:lstStyle/>
          <a:p>
            <a:pPr algn="l"/>
            <a:r>
              <a:rPr sz="1200" b="0">
                <a:solidFill>
                  <a:srgbClr val="3D4A5C"/>
                </a:solidFill>
              </a:rPr>
              <a:t>Controller calls the service bean. Calling placeOrder() from the same class skips the proxy: no global transaction.</a:t>
            </a:r>
          </a:p>
        </p:txBody>
      </p:sp>
      <p:sp>
        <p:nvSpPr>
          <p:cNvPr id="42" name="Rounded Rectangle 41"/>
          <p:cNvSpPr/>
          <p:nvPr/>
        </p:nvSpPr>
        <p:spPr>
          <a:xfrm>
            <a:off x="457200" y="3657600"/>
            <a:ext cx="8229600" cy="932688"/>
          </a:xfrm>
          <a:prstGeom prst="roundRect">
            <a:avLst>
              <a:gd name="adj" fmla="val 6000"/>
            </a:avLst>
          </a:prstGeom>
          <a:solidFill>
            <a:srgbClr val="F3F6F8"/>
          </a:solidFill>
          <a:ln w="9525">
            <a:solidFill>
              <a:srgbClr val="D5DCE3"/>
            </a:solidFill>
          </a:ln>
          <a:effectLst/>
        </p:spPr>
        <p:style>
          <a:lnRef idx="1">
            <a:schemeClr val="accent1"/>
          </a:lnRef>
          <a:fillRef idx="3">
            <a:schemeClr val="accent1"/>
          </a:fillRef>
          <a:effectRef idx="2">
            <a:schemeClr val="accent1"/>
          </a:effectRef>
          <a:fontRef idx="minor">
            <a:schemeClr val="lt1"/>
          </a:fontRef>
        </p:style>
        <p:txBody>
          <a:bodyPr rtlCol="0" anchor="t" wrap="square"/>
          <a:lstStyle/>
          <a:p>
            <a:pPr algn="l"/>
            <a:r>
              <a:rPr sz="1400" b="1">
                <a:solidFill>
                  <a:srgbClr val="1B2432"/>
                </a:solidFill>
              </a:rPr>
              <a:t>New service joining in AT mode: checklist</a:t>
            </a:r>
          </a:p>
          <a:p>
            <a:pPr algn="l"/>
            <a:r>
              <a:rPr sz="1200" b="0">
                <a:solidFill>
                  <a:srgbClr val="3D4A5C"/>
                </a:solidFill>
              </a:rPr>
              <a:t>Seata starter + seata: block  ·  undo_log in its DB  ·  SeataXidConfig if called  ·  FeignXidConfig if it calls others  ·  @Transactional on its DB method</a:t>
            </a:r>
          </a:p>
        </p:txBody>
      </p:sp>
    </p:spTree>
  </p:cSld>
  <p:clrMapOvr>
    <a:masterClrMapping/>
  </p:clrMapOvr>
</p:sld>
</file>

<file path=ppt/theme/theme1.xml><?xml version="1.0" encoding="utf-8"?>
<a:theme xmlns:a="http://schemas.openxmlformats.org/drawingml/2006/main" name="Seata Session">
  <a:themeElements>
    <a:clrScheme name="Seata Session">
      <a:dk1>
        <a:srgbClr val="1B2432"/>
      </a:dk1>
      <a:lt1>
        <a:srgbClr val="FFFFFF"/>
      </a:lt1>
      <a:dk2>
        <a:srgbClr val="3D4A5C"/>
      </a:dk2>
      <a:lt2>
        <a:srgbClr val="F3F6F8"/>
      </a:lt2>
      <a:accent1>
        <a:srgbClr val="0E7C7B"/>
      </a:accent1>
      <a:accent2>
        <a:srgbClr val="D1495B"/>
      </a:accent2>
      <a:accent3>
        <a:srgbClr val="2E8B57"/>
      </a:accent3>
      <a:accent4>
        <a:srgbClr val="D98E1F"/>
      </a:accent4>
      <a:accent5>
        <a:srgbClr val="4F4FC4"/>
      </a:accent5>
      <a:accent6>
        <a:srgbClr val="7A8699"/>
      </a:accent6>
      <a:hlink>
        <a:srgbClr val="0E7C7B"/>
      </a:hlink>
      <a:folHlink>
        <a:srgbClr val="4F4FC4"/>
      </a:folHlink>
    </a:clrScheme>
    <a:fontScheme name="Seata Sessio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Distributed transactions with Apache Seata</dc:title>
  <dc:subject>PptxGenJS Presentation</dc:subject>
  <dc:creator>PptxGenJS</dc:creator>
  <cp:lastModifiedBy>PptxGenJS</cp:lastModifiedBy>
  <cp:revision>1</cp:revision>
  <dcterms:created xsi:type="dcterms:W3CDTF">2026-10-25T07:41:56Z</dcterms:created>
  <dcterms:modified xsi:type="dcterms:W3CDTF">2026-10-25T07:41:56Z</dcterms:modified>
</cp:coreProperties>
</file>